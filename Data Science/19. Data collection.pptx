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9" r:id="rId4"/>
    <p:sldId id="260" r:id="rId5"/>
    <p:sldId id="265"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22844" autoAdjust="0"/>
  </p:normalViewPr>
  <p:slideViewPr>
    <p:cSldViewPr snapToGrid="0">
      <p:cViewPr>
        <p:scale>
          <a:sx n="80" d="100"/>
          <a:sy n="80" d="100"/>
        </p:scale>
        <p:origin x="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Definition of Data Collection:</a:t>
            </a:r>
            <a:r>
              <a:rPr lang="en-US" dirty="0"/>
              <a:t> Data collection is the methodical process of gathering, measuring, and analyzing data on various aspects of a business or research topic. It’s the foundation for making well-informed decisions and discovering patterns or issues that require attention. This process ensures that decisions are based on factual evidence, rather than assumptions.</a:t>
            </a:r>
          </a:p>
          <a:p>
            <a:pPr>
              <a:buNone/>
            </a:pPr>
            <a:r>
              <a:rPr lang="en-US" b="1" dirty="0"/>
              <a:t>Importance of Data Collection in Business:</a:t>
            </a:r>
            <a:endParaRPr lang="en-US" dirty="0"/>
          </a:p>
          <a:p>
            <a:pPr>
              <a:buFont typeface="+mj-lt"/>
              <a:buAutoNum type="arabicPeriod"/>
            </a:pPr>
            <a:r>
              <a:rPr lang="en-US" b="1" dirty="0"/>
              <a:t>Provides Evidence for Decision Making:</a:t>
            </a:r>
            <a:r>
              <a:rPr lang="en-US" dirty="0"/>
              <a:t> Data collection is crucial for businesses to make sound decisions. Instead of relying on guesswork, data provides concrete evidence that supports strategies and actions. For example, sales figures or customer feedback might inform decisions about product improvements or marketing campaigns.</a:t>
            </a:r>
          </a:p>
          <a:p>
            <a:pPr>
              <a:buFont typeface="+mj-lt"/>
              <a:buAutoNum type="arabicPeriod"/>
            </a:pPr>
            <a:r>
              <a:rPr lang="en-US" b="1" dirty="0"/>
              <a:t>Understanding the Problem:</a:t>
            </a:r>
            <a:r>
              <a:rPr lang="en-US" dirty="0"/>
              <a:t> After identifying a business problem, collecting data allows you to dig deeper into the root causes. This thorough understanding enables businesses to develop solutions that are more effective and tailored to the specific issue.</a:t>
            </a:r>
          </a:p>
          <a:p>
            <a:pPr>
              <a:buFont typeface="+mj-lt"/>
              <a:buAutoNum type="arabicPeriod"/>
            </a:pPr>
            <a:r>
              <a:rPr lang="en-US" b="1" dirty="0"/>
              <a:t>Analyzing Trends:</a:t>
            </a:r>
            <a:r>
              <a:rPr lang="en-US" dirty="0"/>
              <a:t> Data collection helps identify historical trends or predict future behaviors. For example, sales data collected over time might show seasonal patterns, helping a business plan marketing efforts or inventory purchases more effectively.</a:t>
            </a:r>
          </a:p>
          <a:p>
            <a:pPr>
              <a:buFont typeface="+mj-lt"/>
              <a:buAutoNum type="arabicPeriod"/>
            </a:pPr>
            <a:r>
              <a:rPr lang="en-US" b="1" dirty="0"/>
              <a:t>Monitoring Progress:</a:t>
            </a:r>
            <a:r>
              <a:rPr lang="en-US" dirty="0"/>
              <a:t> By regularly collecting data, businesses can track their progress toward achieving goals. This helps them adjust strategies as needed to stay on course and address any challenges that arise along the way.</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Relevance:</a:t>
            </a:r>
            <a:r>
              <a:rPr lang="en-US" dirty="0"/>
              <a:t> It’s vital to collect only data that is directly tied to your business problem or research question. Irrelevant data can waste time and resources, making it harder to identify valuable insights. For instance, if you're studying customer satisfaction, focusing on unrelated data, such as website traffic, won’t contribute to solving the issue.</a:t>
            </a:r>
          </a:p>
          <a:p>
            <a:pPr>
              <a:buNone/>
            </a:pPr>
            <a:r>
              <a:rPr lang="en-US" b="1" dirty="0"/>
              <a:t>Data Accuracy:</a:t>
            </a:r>
            <a:r>
              <a:rPr lang="en-US" dirty="0"/>
              <a:t> The accuracy of data ensures that your conclusions and decisions are based on reliable information. Inaccurate data can lead to wrong decisions, which can have significant business repercussions. Always use trusted sources and methods to collect data to maintain its integrity.</a:t>
            </a:r>
          </a:p>
          <a:p>
            <a:pPr>
              <a:buNone/>
            </a:pPr>
            <a:r>
              <a:rPr lang="en-US" b="1" dirty="0"/>
              <a:t>Data Reliability:</a:t>
            </a:r>
            <a:r>
              <a:rPr lang="en-US" dirty="0"/>
              <a:t> Reliable data is consistent and can be reproduced under similar conditions. This means if you were to collect the same data again at a later time, the results should be similar. High reliability increases the trustworthiness of your conclusions.</a:t>
            </a:r>
          </a:p>
          <a:p>
            <a:pPr>
              <a:buNone/>
            </a:pPr>
            <a:r>
              <a:rPr lang="en-US" b="1" dirty="0"/>
              <a:t>Data Validity:</a:t>
            </a:r>
            <a:r>
              <a:rPr lang="en-US" dirty="0"/>
              <a:t> Data validity ensures that the data measures what it is intended to measure. For example, if you are surveying customer satisfaction, your questions must focus on customer experiences, not unrelated topics like product features. This makes your data truly reflective of the area you’re trying to assess.</a:t>
            </a:r>
          </a:p>
          <a:p>
            <a:pPr>
              <a:buNone/>
            </a:pPr>
            <a:r>
              <a:rPr lang="en-US" b="1" dirty="0"/>
              <a:t>Ethical Considerations:</a:t>
            </a:r>
            <a:r>
              <a:rPr lang="en-US" dirty="0"/>
              <a:t> Data collection should adhere to ethical guidelines. Always inform participants about how their data will be used and obtain their consent. This builds trust and ensures the integrity of your study. Additionally, confidentiality must be maintained to protect participants' privacy.</a:t>
            </a:r>
          </a:p>
          <a:p>
            <a:pPr>
              <a:buNone/>
            </a:pPr>
            <a:r>
              <a:rPr lang="en-US" b="1" dirty="0"/>
              <a:t>Sampling Method:</a:t>
            </a:r>
            <a:r>
              <a:rPr lang="en-US" dirty="0"/>
              <a:t> The sampling method you choose affects the representativeness of your data. Random sampling ensures each participant has an equal chance of being selected, while stratified sampling targets specific subgroups. Choose a method that best suits your study’s needs.</a:t>
            </a:r>
          </a:p>
          <a:p>
            <a:r>
              <a:rPr lang="en-US" b="1" dirty="0"/>
              <a:t>Time and Cost:</a:t>
            </a:r>
            <a:r>
              <a:rPr lang="en-US" dirty="0"/>
              <a:t> Every data collection process comes with constraints such as time, money, and workforce. Make sure to plan accordingly, ensuring you have the resources to complete the collection effectively while staying within budget and time limits.</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Online Survey Tools:</a:t>
            </a:r>
            <a:endParaRPr lang="en-US" dirty="0"/>
          </a:p>
          <a:p>
            <a:pPr>
              <a:buFont typeface="+mj-lt"/>
              <a:buAutoNum type="arabicPeriod"/>
            </a:pPr>
            <a:r>
              <a:rPr lang="en-US" b="1" dirty="0"/>
              <a:t>Google Forms:</a:t>
            </a:r>
            <a:r>
              <a:rPr lang="en-US" dirty="0"/>
              <a:t> A free and user-friendly tool, ideal for collecting basic survey data. It integrates well with Google Sheets, making data analysis easy.</a:t>
            </a:r>
          </a:p>
          <a:p>
            <a:pPr>
              <a:buFont typeface="+mj-lt"/>
              <a:buAutoNum type="arabicPeriod"/>
            </a:pPr>
            <a:r>
              <a:rPr lang="en-US" b="1" dirty="0"/>
              <a:t>SurveyMonkey:</a:t>
            </a:r>
            <a:r>
              <a:rPr lang="en-US" dirty="0"/>
              <a:t> Offers more advanced features like branching logic and customizable designs, making it suitable for larger or more complex surveys.</a:t>
            </a:r>
          </a:p>
          <a:p>
            <a:pPr>
              <a:buFont typeface="+mj-lt"/>
              <a:buAutoNum type="arabicPeriod"/>
            </a:pPr>
            <a:r>
              <a:rPr lang="en-US" b="1" dirty="0"/>
              <a:t>Qualtrics:</a:t>
            </a:r>
            <a:r>
              <a:rPr lang="en-US" dirty="0"/>
              <a:t> A professional-grade survey tool used in academic or corporate research. It provides extensive customization and powerful analytics tools for in-depth survey analysis.</a:t>
            </a:r>
          </a:p>
          <a:p>
            <a:pPr>
              <a:buFont typeface="+mj-lt"/>
              <a:buAutoNum type="arabicPeriod"/>
            </a:pPr>
            <a:r>
              <a:rPr lang="en-US" b="1" dirty="0"/>
              <a:t>Microsoft Forms:</a:t>
            </a:r>
            <a:r>
              <a:rPr lang="en-US" dirty="0"/>
              <a:t> Similar to Google Forms but integrates seamlessly with Office 365, making it an excellent option for organizations using Microsoft tools.</a:t>
            </a:r>
          </a:p>
          <a:p>
            <a:pPr>
              <a:buNone/>
            </a:pPr>
            <a:r>
              <a:rPr lang="en-US" b="1" dirty="0"/>
              <a:t>Digital Data Collection Tools:</a:t>
            </a:r>
            <a:endParaRPr lang="en-US" dirty="0"/>
          </a:p>
          <a:p>
            <a:pPr>
              <a:buFont typeface="+mj-lt"/>
              <a:buAutoNum type="arabicPeriod"/>
            </a:pPr>
            <a:r>
              <a:rPr lang="en-US" b="1" dirty="0"/>
              <a:t>Google Analytics:</a:t>
            </a:r>
            <a:r>
              <a:rPr lang="en-US" dirty="0"/>
              <a:t> Tracks website traffic, user behavior, and other digital interactions, giving businesses insights into their online presence.</a:t>
            </a:r>
          </a:p>
          <a:p>
            <a:pPr>
              <a:buFont typeface="+mj-lt"/>
              <a:buAutoNum type="arabicPeriod"/>
            </a:pPr>
            <a:r>
              <a:rPr lang="en-US" b="1" dirty="0"/>
              <a:t>Hotjar:</a:t>
            </a:r>
            <a:r>
              <a:rPr lang="en-US" dirty="0"/>
              <a:t> Provides heatmaps and session recordings to help businesses understand how visitors interact with their website, optimizing user experience.</a:t>
            </a:r>
          </a:p>
          <a:p>
            <a:pPr>
              <a:buFont typeface="+mj-lt"/>
              <a:buAutoNum type="arabicPeriod"/>
            </a:pPr>
            <a:r>
              <a:rPr lang="en-US" b="1" dirty="0"/>
              <a:t>Facebook Insights/Instagram Analytics:</a:t>
            </a:r>
            <a:r>
              <a:rPr lang="en-US" dirty="0"/>
              <a:t> These tools offer valuable data on social media engagement, helping businesses understand their audience’s demographics and behavior.</a:t>
            </a:r>
          </a:p>
          <a:p>
            <a:pPr>
              <a:buFont typeface="+mj-lt"/>
              <a:buAutoNum type="arabicPeriod"/>
            </a:pPr>
            <a:r>
              <a:rPr lang="en-US" b="1" dirty="0"/>
              <a:t>HubSpot:</a:t>
            </a:r>
            <a:r>
              <a:rPr lang="en-US" dirty="0"/>
              <a:t> A CRM platform that tracks customer interactions, sales, and marketing data, providing a complete view of customer relationships and helping businesses optimize digital strategies.</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00753-8207-2186-97C9-305DA569ED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B1FFA-5910-9F0C-9B1B-96C54DACD6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163876-74FF-2B3F-1FFB-AC4D926C4F4E}"/>
              </a:ext>
            </a:extLst>
          </p:cNvPr>
          <p:cNvSpPr>
            <a:spLocks noGrp="1"/>
          </p:cNvSpPr>
          <p:nvPr>
            <p:ph type="body" idx="1"/>
          </p:nvPr>
        </p:nvSpPr>
        <p:spPr/>
        <p:txBody>
          <a:bodyPr/>
          <a:lstStyle/>
          <a:p>
            <a:pPr>
              <a:buNone/>
            </a:pPr>
            <a:r>
              <a:rPr lang="en-US" b="1" dirty="0"/>
              <a:t>Interviews and Focus Groups:</a:t>
            </a:r>
            <a:endParaRPr lang="en-US" dirty="0"/>
          </a:p>
          <a:p>
            <a:pPr>
              <a:buFont typeface="+mj-lt"/>
              <a:buAutoNum type="arabicPeriod"/>
            </a:pPr>
            <a:r>
              <a:rPr lang="en-US" b="1" dirty="0"/>
              <a:t>Face-to-face Interviews:</a:t>
            </a:r>
            <a:r>
              <a:rPr lang="en-US" dirty="0"/>
              <a:t> A direct method to gather in-depth, qualitative data. Respondents provide open-ended answers, allowing you to understand their perspectives more deeply.</a:t>
            </a:r>
          </a:p>
          <a:p>
            <a:pPr>
              <a:buFont typeface="+mj-lt"/>
              <a:buAutoNum type="arabicPeriod"/>
            </a:pPr>
            <a:r>
              <a:rPr lang="en-US" b="1" dirty="0"/>
              <a:t>Focus Groups:</a:t>
            </a:r>
            <a:r>
              <a:rPr lang="en-US" dirty="0"/>
              <a:t> These group discussions help gather qualitative insights, especially useful for exploring ideas, behaviors, and perceptions. A moderator guides the discussion to ensure all topics are covered.</a:t>
            </a:r>
          </a:p>
          <a:p>
            <a:pPr>
              <a:buNone/>
            </a:pPr>
            <a:r>
              <a:rPr lang="en-US" b="1" dirty="0"/>
              <a:t>Data Collection via Telephone:</a:t>
            </a:r>
            <a:r>
              <a:rPr lang="en-US" dirty="0"/>
              <a:t> Conducting interviews or surveys over the phone allows businesses to reach a broader demographic, especially when face-to-face meetings are not feasible. This method works well for remote or widespread populations.</a:t>
            </a:r>
          </a:p>
          <a:p>
            <a:pPr>
              <a:buNone/>
            </a:pPr>
            <a:r>
              <a:rPr lang="en-US" b="1" dirty="0"/>
              <a:t>Offline Survey Tools:</a:t>
            </a:r>
            <a:endParaRPr lang="en-US" dirty="0"/>
          </a:p>
          <a:p>
            <a:pPr>
              <a:buFont typeface="+mj-lt"/>
              <a:buAutoNum type="arabicPeriod"/>
            </a:pPr>
            <a:r>
              <a:rPr lang="en-US" b="1" dirty="0"/>
              <a:t>Survey Pocket (Offline Mode):</a:t>
            </a:r>
            <a:r>
              <a:rPr lang="en-US" dirty="0"/>
              <a:t> This mobile app lets you collect survey data even without an internet connection, making it suitable for field surveys in areas with limited connectivity.</a:t>
            </a:r>
          </a:p>
          <a:p>
            <a:r>
              <a:rPr lang="en-US" b="1" dirty="0"/>
              <a:t>Observational Data Collection:</a:t>
            </a:r>
            <a:r>
              <a:rPr lang="en-US" dirty="0"/>
              <a:t> Sometimes, data is best gathered by simply observing behaviors or events. This method is often used in qualitative research, where you study actions without interference. It’s particularly useful for understanding patterns or behaviors in natural settings.</a:t>
            </a:r>
          </a:p>
        </p:txBody>
      </p:sp>
      <p:sp>
        <p:nvSpPr>
          <p:cNvPr id="4" name="Slide Number Placeholder 3">
            <a:extLst>
              <a:ext uri="{FF2B5EF4-FFF2-40B4-BE49-F238E27FC236}">
                <a16:creationId xmlns:a16="http://schemas.microsoft.com/office/drawing/2014/main" id="{89C4FE2A-CE52-48E0-284D-A4F036B20482}"/>
              </a:ext>
            </a:extLst>
          </p:cNvPr>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528451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Collection is a Critical Step:</a:t>
            </a:r>
            <a:r>
              <a:rPr lang="en-US" dirty="0"/>
              <a:t> Once a business problem is defined, gathering the right data is essential to uncover solutions and inform decision-making. Without proper data, solutions can be misguided and ineffective.</a:t>
            </a:r>
          </a:p>
          <a:p>
            <a:pPr>
              <a:buNone/>
            </a:pPr>
            <a:r>
              <a:rPr lang="en-US" b="1" dirty="0"/>
              <a:t>Factors to Consider in Data Collection:</a:t>
            </a:r>
            <a:r>
              <a:rPr lang="en-US" dirty="0"/>
              <a:t> It’s crucial to ensure the data is relevant, reliable, and valid. Ethical concerns also play a significant role, as businesses must respect privacy and transparency.</a:t>
            </a:r>
          </a:p>
          <a:p>
            <a:pPr>
              <a:buNone/>
            </a:pPr>
            <a:r>
              <a:rPr lang="en-US" b="1" dirty="0"/>
              <a:t>Online Tools for Surveys and Digital Data:</a:t>
            </a:r>
            <a:r>
              <a:rPr lang="en-US" dirty="0"/>
              <a:t> Tools like Google Forms and SurveyMonkey help businesses collect survey data quickly and efficiently, while platforms like Google Analytics and Hotjar gather important digital interaction data.</a:t>
            </a:r>
          </a:p>
          <a:p>
            <a:pPr>
              <a:buNone/>
            </a:pPr>
            <a:r>
              <a:rPr lang="en-US" b="1" dirty="0"/>
              <a:t>Offline Data Collection Methods:</a:t>
            </a:r>
            <a:r>
              <a:rPr lang="en-US" dirty="0"/>
              <a:t> For regions or scenarios where internet access is limited, or when personal interactions are necessary, offline methods such as interviews and surveys with apps like Survey Pocket are effective.</a:t>
            </a:r>
          </a:p>
          <a:p>
            <a:r>
              <a:rPr lang="en-US" b="1" dirty="0"/>
              <a:t>Choosing the Right Data Collection Tool:</a:t>
            </a:r>
            <a:r>
              <a:rPr lang="en-US" dirty="0"/>
              <a:t> The choice of data collection tool should depend on factors like the type of data needed, the target audience, and available resources. </a:t>
            </a:r>
            <a:r>
              <a:rPr lang="en-US"/>
              <a:t>Selecting the right tool ensures accurate and meaningful results.</a:t>
            </a:r>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Data</a:t>
            </a:r>
          </a:p>
          <a:p>
            <a:pPr algn="ctr"/>
            <a:r>
              <a:rPr lang="en-US" sz="4400" b="1" dirty="0">
                <a:ln w="0"/>
                <a:solidFill>
                  <a:schemeClr val="accent1"/>
                </a:solidFill>
                <a:effectLst>
                  <a:outerShdw blurRad="38100" dist="25400" dir="5400000" algn="ctr" rotWithShape="0">
                    <a:srgbClr val="6E747A">
                      <a:alpha val="43000"/>
                    </a:srgbClr>
                  </a:outerShdw>
                </a:effectLst>
              </a:rPr>
              <a:t>Collection</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315576" y="2401400"/>
            <a:ext cx="4208716" cy="2308324"/>
          </a:xfrm>
          <a:prstGeom prst="rect">
            <a:avLst/>
          </a:prstGeom>
          <a:noFill/>
        </p:spPr>
        <p:txBody>
          <a:bodyPr wrap="square">
            <a:spAutoFit/>
          </a:bodyPr>
          <a:lstStyle/>
          <a:p>
            <a:pPr algn="ctr"/>
            <a:r>
              <a:rPr lang="en-US" dirty="0"/>
              <a:t>Data collection refers to </a:t>
            </a:r>
            <a:r>
              <a:rPr lang="en-US" b="1" dirty="0"/>
              <a:t>the process of gathering, measuring, and analyzing accurate insights about the variables of interest in a systematic and organized manner. </a:t>
            </a:r>
          </a:p>
          <a:p>
            <a:pPr algn="ctr"/>
            <a:endParaRPr lang="en-US" b="1" dirty="0"/>
          </a:p>
          <a:p>
            <a:pPr algn="ctr"/>
            <a:r>
              <a:rPr lang="en-US" dirty="0"/>
              <a:t>It forms the foundation for any research or business decision-making process.</a:t>
            </a:r>
            <a:endParaRPr lang="en-US" b="1" dirty="0"/>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Collection</a:t>
            </a:r>
          </a:p>
        </p:txBody>
      </p:sp>
      <p:pic>
        <p:nvPicPr>
          <p:cNvPr id="1030" name="Picture 6">
            <a:extLst>
              <a:ext uri="{FF2B5EF4-FFF2-40B4-BE49-F238E27FC236}">
                <a16:creationId xmlns:a16="http://schemas.microsoft.com/office/drawing/2014/main" id="{4997BABF-E458-EEC9-261B-A8E089A954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848"/>
          <a:stretch/>
        </p:blipFill>
        <p:spPr bwMode="auto">
          <a:xfrm>
            <a:off x="4643562" y="1075165"/>
            <a:ext cx="7305593" cy="5478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56C07-3300-4F45-E9A5-9BAAB88A33B8}"/>
              </a:ext>
            </a:extLst>
          </p:cNvPr>
          <p:cNvSpPr/>
          <p:nvPr/>
        </p:nvSpPr>
        <p:spPr>
          <a:xfrm>
            <a:off x="-1" y="0"/>
            <a:ext cx="3283889"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Key Factors to </a:t>
            </a:r>
          </a:p>
          <a:p>
            <a:pPr algn="ctr"/>
            <a:r>
              <a:rPr lang="en-US" b="1" dirty="0"/>
              <a:t>Consider </a:t>
            </a:r>
          </a:p>
        </p:txBody>
      </p:sp>
      <p:pic>
        <p:nvPicPr>
          <p:cNvPr id="2052" name="Picture 4">
            <a:extLst>
              <a:ext uri="{FF2B5EF4-FFF2-40B4-BE49-F238E27FC236}">
                <a16:creationId xmlns:a16="http://schemas.microsoft.com/office/drawing/2014/main" id="{D90401E1-D67E-C34B-6BE5-FA08A82FF1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t="10551" r="-2032"/>
          <a:stretch/>
        </p:blipFill>
        <p:spPr bwMode="auto">
          <a:xfrm>
            <a:off x="3753015" y="182749"/>
            <a:ext cx="7879743" cy="6762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12192000" cy="6291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Collection Tools – Online </a:t>
            </a:r>
          </a:p>
        </p:txBody>
      </p:sp>
      <p:pic>
        <p:nvPicPr>
          <p:cNvPr id="3078" name="Picture 6">
            <a:extLst>
              <a:ext uri="{FF2B5EF4-FFF2-40B4-BE49-F238E27FC236}">
                <a16:creationId xmlns:a16="http://schemas.microsoft.com/office/drawing/2014/main" id="{60366F51-92FA-3F98-E165-0C97A300E8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336"/>
          <a:stretch/>
        </p:blipFill>
        <p:spPr bwMode="auto">
          <a:xfrm>
            <a:off x="635608" y="1334798"/>
            <a:ext cx="10754410" cy="4517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0A2B2-6431-3DF8-EF37-C3E62B2519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1DD7D77-693A-C562-0725-57431BFDB3DB}"/>
              </a:ext>
            </a:extLst>
          </p:cNvPr>
          <p:cNvSpPr/>
          <p:nvPr/>
        </p:nvSpPr>
        <p:spPr>
          <a:xfrm>
            <a:off x="0" y="0"/>
            <a:ext cx="12192000" cy="6291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Collection Tools – Offline </a:t>
            </a:r>
          </a:p>
        </p:txBody>
      </p:sp>
      <p:pic>
        <p:nvPicPr>
          <p:cNvPr id="5122" name="Picture 2">
            <a:extLst>
              <a:ext uri="{FF2B5EF4-FFF2-40B4-BE49-F238E27FC236}">
                <a16:creationId xmlns:a16="http://schemas.microsoft.com/office/drawing/2014/main" id="{E295CEB1-89C7-8986-6879-DCA425CD184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937"/>
          <a:stretch/>
        </p:blipFill>
        <p:spPr bwMode="auto">
          <a:xfrm>
            <a:off x="734915" y="762303"/>
            <a:ext cx="10062956" cy="5761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19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4100" name="Picture 4">
            <a:extLst>
              <a:ext uri="{FF2B5EF4-FFF2-40B4-BE49-F238E27FC236}">
                <a16:creationId xmlns:a16="http://schemas.microsoft.com/office/drawing/2014/main" id="{FF968530-E948-C984-3D1E-F544C1C94F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897"/>
          <a:stretch/>
        </p:blipFill>
        <p:spPr bwMode="auto">
          <a:xfrm>
            <a:off x="573530" y="842837"/>
            <a:ext cx="10701420" cy="6094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1400</TotalTime>
  <Words>1251</Words>
  <Application>Microsoft Office PowerPoint</Application>
  <PresentationFormat>Widescreen</PresentationFormat>
  <Paragraphs>54</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22</cp:revision>
  <dcterms:created xsi:type="dcterms:W3CDTF">2025-03-28T13:19:12Z</dcterms:created>
  <dcterms:modified xsi:type="dcterms:W3CDTF">2025-03-30T14:30:52Z</dcterms:modified>
</cp:coreProperties>
</file>