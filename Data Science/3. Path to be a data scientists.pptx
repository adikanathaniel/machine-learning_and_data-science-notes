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5" r:id="rId4"/>
    <p:sldId id="266" r:id="rId5"/>
    <p:sldId id="267" r:id="rId6"/>
    <p:sldId id="268" r:id="rId7"/>
    <p:sldId id="269" r:id="rId8"/>
    <p:sldId id="270" r:id="rId9"/>
    <p:sldId id="271" r:id="rId10"/>
    <p:sldId id="27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varScale="1">
        <p:scale>
          <a:sx n="80" d="100"/>
          <a:sy n="80" d="100"/>
        </p:scale>
        <p:origin x="1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To become a data analyst, it's crucial to start with a solid understanding of </a:t>
            </a:r>
            <a:r>
              <a:rPr lang="en-US" b="1" dirty="0"/>
              <a:t>mathematics and statistics</a:t>
            </a:r>
            <a:r>
              <a:rPr lang="en-US" dirty="0"/>
              <a:t>, as these concepts are fundamental to data analysis and machine learning.</a:t>
            </a:r>
          </a:p>
          <a:p>
            <a:pPr>
              <a:buFont typeface="+mj-lt"/>
              <a:buAutoNum type="arabicPeriod"/>
            </a:pPr>
            <a:r>
              <a:rPr lang="en-US" b="1" dirty="0"/>
              <a:t>Linear Algebra</a:t>
            </a:r>
            <a:r>
              <a:rPr lang="en-US" dirty="0"/>
              <a:t>: Begin by studying </a:t>
            </a:r>
            <a:r>
              <a:rPr lang="en-US" b="1" dirty="0"/>
              <a:t>linear algebra</a:t>
            </a:r>
            <a:r>
              <a:rPr lang="en-US" dirty="0"/>
              <a:t> concepts such as </a:t>
            </a:r>
            <a:r>
              <a:rPr lang="en-US" b="1" dirty="0"/>
              <a:t>vectors</a:t>
            </a:r>
            <a:r>
              <a:rPr lang="en-US" dirty="0"/>
              <a:t>, </a:t>
            </a:r>
            <a:r>
              <a:rPr lang="en-US" b="1" dirty="0"/>
              <a:t>matrices</a:t>
            </a:r>
            <a:r>
              <a:rPr lang="en-US" dirty="0"/>
              <a:t>, and </a:t>
            </a:r>
            <a:r>
              <a:rPr lang="en-US" b="1" dirty="0"/>
              <a:t>eigenvalues</a:t>
            </a:r>
            <a:r>
              <a:rPr lang="en-US" dirty="0"/>
              <a:t>. Understanding these will help you process and manipulate data, especially when dealing with large datasets in machine learning algorithms.</a:t>
            </a:r>
          </a:p>
          <a:p>
            <a:pPr>
              <a:buFont typeface="+mj-lt"/>
              <a:buAutoNum type="arabicPeriod"/>
            </a:pPr>
            <a:r>
              <a:rPr lang="en-US" b="1" dirty="0"/>
              <a:t>Matrix Operations</a:t>
            </a:r>
            <a:r>
              <a:rPr lang="en-US" dirty="0"/>
              <a:t>: Learn how to perform </a:t>
            </a:r>
            <a:r>
              <a:rPr lang="en-US" b="1" dirty="0"/>
              <a:t>matrix operations</a:t>
            </a:r>
            <a:r>
              <a:rPr lang="en-US" dirty="0"/>
              <a:t> like </a:t>
            </a:r>
            <a:r>
              <a:rPr lang="en-US" b="1" dirty="0"/>
              <a:t>multiplication</a:t>
            </a:r>
            <a:r>
              <a:rPr lang="en-US" dirty="0"/>
              <a:t>, </a:t>
            </a:r>
            <a:r>
              <a:rPr lang="en-US" b="1" dirty="0"/>
              <a:t>addition</a:t>
            </a:r>
            <a:r>
              <a:rPr lang="en-US" dirty="0"/>
              <a:t>, and </a:t>
            </a:r>
            <a:r>
              <a:rPr lang="en-US" b="1" dirty="0"/>
              <a:t>inversion</a:t>
            </a:r>
            <a:r>
              <a:rPr lang="en-US" dirty="0"/>
              <a:t>, which are key to many machine learning models. These operations are used to manipulate and transform data, ensuring the model can learn and predict effectively.</a:t>
            </a:r>
          </a:p>
          <a:p>
            <a:pPr>
              <a:buFont typeface="+mj-lt"/>
              <a:buAutoNum type="arabicPeriod"/>
            </a:pPr>
            <a:r>
              <a:rPr lang="en-US" b="1" dirty="0"/>
              <a:t>Calculus</a:t>
            </a:r>
            <a:r>
              <a:rPr lang="en-US" dirty="0"/>
              <a:t>: Focus on </a:t>
            </a:r>
            <a:r>
              <a:rPr lang="en-US" b="1" dirty="0"/>
              <a:t>derivatives</a:t>
            </a:r>
            <a:r>
              <a:rPr lang="en-US" dirty="0"/>
              <a:t> and </a:t>
            </a:r>
            <a:r>
              <a:rPr lang="en-US" b="1" dirty="0"/>
              <a:t>integrals</a:t>
            </a:r>
            <a:r>
              <a:rPr lang="en-US" dirty="0"/>
              <a:t>, which are essential for optimization algorithms. </a:t>
            </a:r>
            <a:r>
              <a:rPr lang="en-US" b="1" dirty="0"/>
              <a:t>Derivatives</a:t>
            </a:r>
            <a:r>
              <a:rPr lang="en-US" dirty="0"/>
              <a:t> help in understanding the rate of change, which is crucial for algorithms like </a:t>
            </a:r>
            <a:r>
              <a:rPr lang="en-US" b="1" dirty="0"/>
              <a:t>gradient descent</a:t>
            </a:r>
            <a:r>
              <a:rPr lang="en-US" dirty="0"/>
              <a:t> used in machine learning for minimizing error.</a:t>
            </a:r>
          </a:p>
          <a:p>
            <a:pPr>
              <a:buFont typeface="+mj-lt"/>
              <a:buAutoNum type="arabicPeriod"/>
            </a:pPr>
            <a:r>
              <a:rPr lang="en-US" b="1" dirty="0"/>
              <a:t>Probability and Distributions</a:t>
            </a:r>
            <a:r>
              <a:rPr lang="en-US" dirty="0"/>
              <a:t>: Study </a:t>
            </a:r>
            <a:r>
              <a:rPr lang="en-US" b="1" dirty="0"/>
              <a:t>probability distributions</a:t>
            </a:r>
            <a:r>
              <a:rPr lang="en-US" dirty="0"/>
              <a:t> (e.g., </a:t>
            </a:r>
            <a:r>
              <a:rPr lang="en-US" b="1" dirty="0"/>
              <a:t>normal distribution</a:t>
            </a:r>
            <a:r>
              <a:rPr lang="en-US" dirty="0"/>
              <a:t>) and key concepts like </a:t>
            </a:r>
            <a:r>
              <a:rPr lang="en-US" b="1" dirty="0"/>
              <a:t>hypothesis testing</a:t>
            </a:r>
            <a:r>
              <a:rPr lang="en-US" dirty="0"/>
              <a:t> and </a:t>
            </a:r>
            <a:r>
              <a:rPr lang="en-US" b="1" dirty="0"/>
              <a:t>p-values</a:t>
            </a:r>
            <a:r>
              <a:rPr lang="en-US" dirty="0"/>
              <a:t>. These concepts are used to make inferences from data, helping you test assumptions and understand data patterns.</a:t>
            </a:r>
          </a:p>
          <a:p>
            <a:pPr>
              <a:buFont typeface="+mj-lt"/>
              <a:buAutoNum type="arabicPeriod"/>
            </a:pPr>
            <a:r>
              <a:rPr lang="en-US" b="1" dirty="0"/>
              <a:t>Inferential Statistics</a:t>
            </a:r>
            <a:r>
              <a:rPr lang="en-US" dirty="0"/>
              <a:t>: Master </a:t>
            </a:r>
            <a:r>
              <a:rPr lang="en-US" b="1" dirty="0"/>
              <a:t>basic inferential statistics</a:t>
            </a:r>
            <a:r>
              <a:rPr lang="en-US" dirty="0"/>
              <a:t>, such as </a:t>
            </a:r>
            <a:r>
              <a:rPr lang="en-US" b="1" dirty="0"/>
              <a:t>mean</a:t>
            </a:r>
            <a:r>
              <a:rPr lang="en-US" dirty="0"/>
              <a:t>, </a:t>
            </a:r>
            <a:r>
              <a:rPr lang="en-US" b="1" dirty="0"/>
              <a:t>variance</a:t>
            </a:r>
            <a:r>
              <a:rPr lang="en-US" dirty="0"/>
              <a:t>, and </a:t>
            </a:r>
            <a:r>
              <a:rPr lang="en-US" b="1" dirty="0"/>
              <a:t>confidence intervals</a:t>
            </a:r>
            <a:r>
              <a:rPr lang="en-US" dirty="0"/>
              <a:t>, to draw conclusions about data from sample data. Understanding these statistics is essential for making predictions and decisions based on data.</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dirty="0"/>
              <a:t>To become a data analyst, one of the most important steps is to </a:t>
            </a:r>
            <a:r>
              <a:rPr lang="en-US" b="1" dirty="0"/>
              <a:t>learn programming</a:t>
            </a:r>
            <a:r>
              <a:rPr lang="en-US" dirty="0"/>
              <a:t>. The two main languages you can choose from are </a:t>
            </a:r>
            <a:r>
              <a:rPr lang="en-US" b="1" dirty="0"/>
              <a:t>Python</a:t>
            </a:r>
            <a:r>
              <a:rPr lang="en-US" dirty="0"/>
              <a:t> and </a:t>
            </a:r>
            <a:r>
              <a:rPr lang="en-US" b="1" dirty="0"/>
              <a:t>R</a:t>
            </a:r>
            <a:r>
              <a:rPr lang="en-US" dirty="0"/>
              <a:t>. Both languages are widely used in the data science field, but they each have their own strengths depending on what you want to focus on. Python is a general-purpose programming language that’s extremely popular in the data analysis community. It’s known for its simplicity, readability, and versatility, which makes it great for everything from data manipulation to building machine learning models. On the other hand, </a:t>
            </a:r>
            <a:r>
              <a:rPr lang="en-US" b="1" dirty="0"/>
              <a:t>R</a:t>
            </a:r>
            <a:r>
              <a:rPr lang="en-US" dirty="0"/>
              <a:t> is more focused on statistical analysis and data visualization. If you’re interested in diving deep into statistics and need to create complex visualizations, R might be a better choice for you.</a:t>
            </a:r>
          </a:p>
          <a:p>
            <a:pPr>
              <a:buNone/>
            </a:pPr>
            <a:r>
              <a:rPr lang="en-US" dirty="0"/>
              <a:t>For Python, you’ll want to get comfortable with some essential libraries. </a:t>
            </a:r>
            <a:r>
              <a:rPr lang="en-US" b="1" dirty="0"/>
              <a:t>Pandas</a:t>
            </a:r>
            <a:r>
              <a:rPr lang="en-US" dirty="0"/>
              <a:t> is one of the most important because it helps you manipulate and clean data with ease. You’ll also use </a:t>
            </a:r>
            <a:r>
              <a:rPr lang="en-US" b="1" dirty="0"/>
              <a:t>NumPy</a:t>
            </a:r>
            <a:r>
              <a:rPr lang="en-US" dirty="0"/>
              <a:t> for numerical operations, especially when working with large datasets or performing mathematical calculations. And when you move into machine learning, </a:t>
            </a:r>
            <a:r>
              <a:rPr lang="en-US" b="1" dirty="0"/>
              <a:t>Scikit-learn</a:t>
            </a:r>
            <a:r>
              <a:rPr lang="en-US" dirty="0"/>
              <a:t> is a must-know library—it provides tools for building and evaluating machine learning models. As for R, you’ll mainly focus on libraries like </a:t>
            </a:r>
            <a:r>
              <a:rPr lang="en-US" b="1" dirty="0"/>
              <a:t>ggplot2</a:t>
            </a:r>
            <a:r>
              <a:rPr lang="en-US" dirty="0"/>
              <a:t> for data visualization, which is great for making beautiful and informative charts, and </a:t>
            </a:r>
            <a:r>
              <a:rPr lang="en-US" b="1" dirty="0" err="1"/>
              <a:t>dplyr</a:t>
            </a:r>
            <a:r>
              <a:rPr lang="en-US" dirty="0"/>
              <a:t>, which is excellent for cleaning and manipulating data.</a:t>
            </a:r>
          </a:p>
          <a:p>
            <a:r>
              <a:rPr lang="en-US" dirty="0"/>
              <a:t>Learning programming is all about practice. It’s one thing to understand the theory behind Python or R, but to truly become proficient, you need to work on real-world data problems. Start small by taking on simple tasks, such as cleaning a dataset, calculating summary statistics, or visualizing trends. Websites like Kaggle and </a:t>
            </a:r>
            <a:r>
              <a:rPr lang="en-US" dirty="0" err="1"/>
              <a:t>DataCamp</a:t>
            </a:r>
            <a:r>
              <a:rPr lang="en-US" dirty="0"/>
              <a:t> provide tons of beginner-friendly challenges and projects that help you build your skills. By practicing regularly and experimenting with different types of datasets, you’ll gain confidence and develop the practical coding skills needed for a career as a data analyst.</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dirty="0"/>
              <a:t>Mastering </a:t>
            </a:r>
            <a:r>
              <a:rPr lang="en-US" b="1" dirty="0"/>
              <a:t>data manipulation and cleaning</a:t>
            </a:r>
            <a:r>
              <a:rPr lang="en-US" dirty="0"/>
              <a:t> is a key step in becoming a data scientist. The first thing you’ll need to learn is how to </a:t>
            </a:r>
            <a:r>
              <a:rPr lang="en-US" b="1" dirty="0"/>
              <a:t>collect data</a:t>
            </a:r>
            <a:r>
              <a:rPr lang="en-US" dirty="0"/>
              <a:t> from sources like </a:t>
            </a:r>
            <a:r>
              <a:rPr lang="en-US" b="1" dirty="0"/>
              <a:t>CSV files</a:t>
            </a:r>
            <a:r>
              <a:rPr lang="en-US" dirty="0"/>
              <a:t>, </a:t>
            </a:r>
            <a:r>
              <a:rPr lang="en-US" b="1" dirty="0"/>
              <a:t>APIs</a:t>
            </a:r>
            <a:r>
              <a:rPr lang="en-US" dirty="0"/>
              <a:t>, or </a:t>
            </a:r>
            <a:r>
              <a:rPr lang="en-US" b="1" dirty="0"/>
              <a:t>databases</a:t>
            </a:r>
            <a:r>
              <a:rPr lang="en-US" dirty="0"/>
              <a:t>. Once you have the data, cleaning it is crucial. You'll often encounter </a:t>
            </a:r>
            <a:r>
              <a:rPr lang="en-US" b="1" dirty="0"/>
              <a:t>missing values</a:t>
            </a:r>
            <a:r>
              <a:rPr lang="en-US" dirty="0"/>
              <a:t>, </a:t>
            </a:r>
            <a:r>
              <a:rPr lang="en-US" b="1" dirty="0"/>
              <a:t>outliers</a:t>
            </a:r>
            <a:r>
              <a:rPr lang="en-US" dirty="0"/>
              <a:t>, and </a:t>
            </a:r>
            <a:r>
              <a:rPr lang="en-US" b="1" dirty="0"/>
              <a:t>duplicates</a:t>
            </a:r>
            <a:r>
              <a:rPr lang="en-US" dirty="0"/>
              <a:t> that need to be handled. Missing values can be filled or removed, outliers might need to be adjusted, and duplicates should be eliminated to ensure accuracy.</a:t>
            </a:r>
          </a:p>
          <a:p>
            <a:pPr>
              <a:buNone/>
            </a:pPr>
            <a:r>
              <a:rPr lang="en-US" dirty="0"/>
              <a:t>Next, you'll need to </a:t>
            </a:r>
            <a:r>
              <a:rPr lang="en-US" b="1" dirty="0"/>
              <a:t>normalize</a:t>
            </a:r>
            <a:r>
              <a:rPr lang="en-US" dirty="0"/>
              <a:t> or </a:t>
            </a:r>
            <a:r>
              <a:rPr lang="en-US" b="1" dirty="0"/>
              <a:t>standardize</a:t>
            </a:r>
            <a:r>
              <a:rPr lang="en-US" dirty="0"/>
              <a:t> the data to prepare it for analysis. This ensures that all features are on a similar scale, especially important for machine learning models. </a:t>
            </a:r>
            <a:r>
              <a:rPr lang="en-US" b="1" dirty="0"/>
              <a:t>Categorical variables</a:t>
            </a:r>
            <a:r>
              <a:rPr lang="en-US" dirty="0"/>
              <a:t> need to be transformed into numerical formats using techniques like </a:t>
            </a:r>
            <a:r>
              <a:rPr lang="en-US" b="1" dirty="0"/>
              <a:t>one-hot encoding</a:t>
            </a:r>
            <a:r>
              <a:rPr lang="en-US" dirty="0"/>
              <a:t> or </a:t>
            </a:r>
            <a:r>
              <a:rPr lang="en-US" b="1" dirty="0"/>
              <a:t>label encoding</a:t>
            </a:r>
            <a:r>
              <a:rPr lang="en-US" dirty="0"/>
              <a:t>.</a:t>
            </a:r>
          </a:p>
          <a:p>
            <a:r>
              <a:rPr lang="en-US" dirty="0"/>
              <a:t>Data preprocessing is essential because clean, well-prepared data leads to more accurate models. Without proper cleaning and transformation, even the best models can produce misleading results.</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dirty="0"/>
              <a:t>You'll need to learn visualization tools like </a:t>
            </a:r>
            <a:r>
              <a:rPr lang="en-US" b="1" dirty="0"/>
              <a:t>Matplotlib</a:t>
            </a:r>
            <a:r>
              <a:rPr lang="en-US" dirty="0"/>
              <a:t> and </a:t>
            </a:r>
            <a:r>
              <a:rPr lang="en-US" b="1" dirty="0"/>
              <a:t>Seaborn</a:t>
            </a:r>
            <a:r>
              <a:rPr lang="en-US" dirty="0"/>
              <a:t> in Python, or </a:t>
            </a:r>
            <a:r>
              <a:rPr lang="en-US" b="1" dirty="0"/>
              <a:t>ggplot2</a:t>
            </a:r>
            <a:r>
              <a:rPr lang="en-US" dirty="0"/>
              <a:t> in R, which help you create clear and insightful visual representations of data. These tools allow you to build basic plots like </a:t>
            </a:r>
            <a:r>
              <a:rPr lang="en-US" b="1" dirty="0"/>
              <a:t>bar charts</a:t>
            </a:r>
            <a:r>
              <a:rPr lang="en-US" dirty="0"/>
              <a:t>, </a:t>
            </a:r>
            <a:r>
              <a:rPr lang="en-US" b="1" dirty="0"/>
              <a:t>scatter plots</a:t>
            </a:r>
            <a:r>
              <a:rPr lang="en-US" dirty="0"/>
              <a:t>, and </a:t>
            </a:r>
            <a:r>
              <a:rPr lang="en-US" b="1" dirty="0"/>
              <a:t>histograms</a:t>
            </a:r>
            <a:r>
              <a:rPr lang="en-US" dirty="0"/>
              <a:t> to show distributions, trends, and relationships in your data.</a:t>
            </a:r>
          </a:p>
          <a:p>
            <a:pPr>
              <a:buNone/>
            </a:pPr>
            <a:r>
              <a:rPr lang="en-US" dirty="0"/>
              <a:t>Once you’re comfortable with basic visualizations, you can move on to </a:t>
            </a:r>
            <a:r>
              <a:rPr lang="en-US" b="1" dirty="0"/>
              <a:t>interactive visualizations</a:t>
            </a:r>
            <a:r>
              <a:rPr lang="en-US" dirty="0"/>
              <a:t> using tools like </a:t>
            </a:r>
            <a:r>
              <a:rPr lang="en-US" b="1" dirty="0" err="1"/>
              <a:t>Plotly</a:t>
            </a:r>
            <a:r>
              <a:rPr lang="en-US" dirty="0"/>
              <a:t>. Interactive plots allow users to explore data dynamically, which can be particularly useful for presentations or web-based dashboards.</a:t>
            </a:r>
          </a:p>
          <a:p>
            <a:pPr>
              <a:buNone/>
            </a:pPr>
            <a:r>
              <a:rPr lang="en-US" dirty="0"/>
              <a:t>The next step is to practice visualizing </a:t>
            </a:r>
            <a:r>
              <a:rPr lang="en-US" b="1" dirty="0"/>
              <a:t>trends</a:t>
            </a:r>
            <a:r>
              <a:rPr lang="en-US" dirty="0"/>
              <a:t>, </a:t>
            </a:r>
            <a:r>
              <a:rPr lang="en-US" b="1" dirty="0"/>
              <a:t>correlations</a:t>
            </a:r>
            <a:r>
              <a:rPr lang="en-US" dirty="0"/>
              <a:t>, and </a:t>
            </a:r>
            <a:r>
              <a:rPr lang="en-US" b="1" dirty="0"/>
              <a:t>patterns</a:t>
            </a:r>
            <a:r>
              <a:rPr lang="en-US" dirty="0"/>
              <a:t> in data. Visualizing these aspects can help reveal important insights that might not be immediately obvious from the raw data.</a:t>
            </a:r>
          </a:p>
          <a:p>
            <a:r>
              <a:rPr lang="en-US" dirty="0"/>
              <a:t>Finally, it's crucial to </a:t>
            </a:r>
            <a:r>
              <a:rPr lang="en-US" b="1" dirty="0"/>
              <a:t>tell a story with data</a:t>
            </a:r>
            <a:r>
              <a:rPr lang="en-US" dirty="0"/>
              <a:t>. Good data visualization is not just about creating pretty charts; it’s about communicating the insights clearly and persuasively. By presenting your findings in a way that is easy to understand, you can help decision-makers grasp complex ideas and make informed choices.</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b="1" dirty="0"/>
              <a:t>Learn Machine Learning</a:t>
            </a:r>
            <a:r>
              <a:rPr lang="en-US" dirty="0"/>
              <a:t> is an essential step in advancing as a data analyst. Start by understanding key </a:t>
            </a:r>
            <a:r>
              <a:rPr lang="en-US" b="1" dirty="0"/>
              <a:t>machine learning concepts</a:t>
            </a:r>
            <a:r>
              <a:rPr lang="en-US" dirty="0"/>
              <a:t> like </a:t>
            </a:r>
            <a:r>
              <a:rPr lang="en-US" b="1" dirty="0"/>
              <a:t>supervised</a:t>
            </a:r>
            <a:r>
              <a:rPr lang="en-US" dirty="0"/>
              <a:t> and </a:t>
            </a:r>
            <a:r>
              <a:rPr lang="en-US" b="1" dirty="0"/>
              <a:t>unsupervised learning</a:t>
            </a:r>
            <a:r>
              <a:rPr lang="en-US" dirty="0"/>
              <a:t>. In </a:t>
            </a:r>
            <a:r>
              <a:rPr lang="en-US" b="1" dirty="0"/>
              <a:t>supervised learning</a:t>
            </a:r>
            <a:r>
              <a:rPr lang="en-US" dirty="0"/>
              <a:t>, the model is trained on labeled data, where the input is mapped to the correct output. In </a:t>
            </a:r>
            <a:r>
              <a:rPr lang="en-US" b="1" dirty="0"/>
              <a:t>unsupervised learning</a:t>
            </a:r>
            <a:r>
              <a:rPr lang="en-US" dirty="0"/>
              <a:t>, the model works with unlabeled data to identify patterns or groupings.</a:t>
            </a:r>
          </a:p>
          <a:p>
            <a:pPr>
              <a:buNone/>
            </a:pPr>
            <a:r>
              <a:rPr lang="en-US" dirty="0"/>
              <a:t>Next, familiarize yourself with some basic </a:t>
            </a:r>
            <a:r>
              <a:rPr lang="en-US" b="1" dirty="0"/>
              <a:t>machine learning algorithms</a:t>
            </a:r>
            <a:r>
              <a:rPr lang="en-US" dirty="0"/>
              <a:t>. </a:t>
            </a:r>
            <a:r>
              <a:rPr lang="en-US" b="1" dirty="0"/>
              <a:t>Linear regression</a:t>
            </a:r>
            <a:r>
              <a:rPr lang="en-US" dirty="0"/>
              <a:t> is used for predicting continuous values, while </a:t>
            </a:r>
            <a:r>
              <a:rPr lang="en-US" b="1" dirty="0"/>
              <a:t>decision trees</a:t>
            </a:r>
            <a:r>
              <a:rPr lang="en-US" dirty="0"/>
              <a:t> help with classification and regression tasks. </a:t>
            </a:r>
            <a:r>
              <a:rPr lang="en-US" b="1" dirty="0"/>
              <a:t>Clustering</a:t>
            </a:r>
            <a:r>
              <a:rPr lang="en-US" dirty="0"/>
              <a:t> algorithms, like k-means, are commonly used in unsupervised learning to group data points into clusters based on similarity.</a:t>
            </a:r>
          </a:p>
          <a:p>
            <a:pPr>
              <a:buNone/>
            </a:pPr>
            <a:r>
              <a:rPr lang="en-US" dirty="0"/>
              <a:t>It’s also important to understand how to </a:t>
            </a:r>
            <a:r>
              <a:rPr lang="en-US" b="1" dirty="0"/>
              <a:t>evaluate models</a:t>
            </a:r>
            <a:r>
              <a:rPr lang="en-US" dirty="0"/>
              <a:t>. Key metrics like </a:t>
            </a:r>
            <a:r>
              <a:rPr lang="en-US" b="1" dirty="0"/>
              <a:t>accuracy</a:t>
            </a:r>
            <a:r>
              <a:rPr lang="en-US" dirty="0"/>
              <a:t>, </a:t>
            </a:r>
            <a:r>
              <a:rPr lang="en-US" b="1" dirty="0"/>
              <a:t>precision</a:t>
            </a:r>
            <a:r>
              <a:rPr lang="en-US" dirty="0"/>
              <a:t>, and </a:t>
            </a:r>
            <a:r>
              <a:rPr lang="en-US" b="1" dirty="0"/>
              <a:t>recall</a:t>
            </a:r>
            <a:r>
              <a:rPr lang="en-US" dirty="0"/>
              <a:t> help you assess the performance of your models. </a:t>
            </a:r>
            <a:r>
              <a:rPr lang="en-US" b="1" dirty="0"/>
              <a:t>Accuracy</a:t>
            </a:r>
            <a:r>
              <a:rPr lang="en-US" dirty="0"/>
              <a:t> measures the overall correctness, while </a:t>
            </a:r>
            <a:r>
              <a:rPr lang="en-US" b="1" dirty="0"/>
              <a:t>precision</a:t>
            </a:r>
            <a:r>
              <a:rPr lang="en-US" dirty="0"/>
              <a:t> and </a:t>
            </a:r>
            <a:r>
              <a:rPr lang="en-US" b="1" dirty="0"/>
              <a:t>recall</a:t>
            </a:r>
            <a:r>
              <a:rPr lang="en-US" dirty="0"/>
              <a:t> are more focused on the performance related to specific classes or categories.</a:t>
            </a:r>
          </a:p>
          <a:p>
            <a:pPr>
              <a:buNone/>
            </a:pPr>
            <a:r>
              <a:rPr lang="en-US" dirty="0"/>
              <a:t>To put theory into practice, start implementing </a:t>
            </a:r>
            <a:r>
              <a:rPr lang="en-US" b="1" dirty="0"/>
              <a:t>machine learning models</a:t>
            </a:r>
            <a:r>
              <a:rPr lang="en-US" dirty="0"/>
              <a:t> using libraries like </a:t>
            </a:r>
            <a:r>
              <a:rPr lang="en-US" b="1" dirty="0"/>
              <a:t>Scikit-learn</a:t>
            </a:r>
            <a:r>
              <a:rPr lang="en-US" dirty="0"/>
              <a:t> in Python or </a:t>
            </a:r>
            <a:r>
              <a:rPr lang="en-US" b="1" dirty="0"/>
              <a:t>caret</a:t>
            </a:r>
            <a:r>
              <a:rPr lang="en-US" dirty="0"/>
              <a:t> in R. These libraries provide easy-to-use functions for building, training, and testing models.</a:t>
            </a:r>
          </a:p>
          <a:p>
            <a:r>
              <a:rPr lang="en-US" dirty="0"/>
              <a:t>Finally, practice building, training, and testing machine learning models on </a:t>
            </a:r>
            <a:r>
              <a:rPr lang="en-US" b="1" dirty="0"/>
              <a:t>real datasets</a:t>
            </a:r>
            <a:r>
              <a:rPr lang="en-US" dirty="0"/>
              <a:t>. This hands-on experience will help solidify your understanding and give you the skills to apply machine learning techniques to solve real-world problems.</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b="1" dirty="0"/>
              <a:t>Deep Learning (Optional but Recommended)</a:t>
            </a:r>
            <a:r>
              <a:rPr lang="en-US" dirty="0"/>
              <a:t> is the next step if you want to deepen your knowledge and skills in data science, especially if you're interested in more complex tasks. Start by learning the </a:t>
            </a:r>
            <a:r>
              <a:rPr lang="en-US" b="1" dirty="0"/>
              <a:t>basics of neural networks</a:t>
            </a:r>
            <a:r>
              <a:rPr lang="en-US" dirty="0"/>
              <a:t>, which are the foundation of deep learning. Understand how </a:t>
            </a:r>
            <a:r>
              <a:rPr lang="en-US" b="1" dirty="0"/>
              <a:t>activation functions</a:t>
            </a:r>
            <a:r>
              <a:rPr lang="en-US" dirty="0"/>
              <a:t> work, enabling the network to make decisions, and study </a:t>
            </a:r>
            <a:r>
              <a:rPr lang="en-US" b="1" dirty="0"/>
              <a:t>backpropagation</a:t>
            </a:r>
            <a:r>
              <a:rPr lang="en-US" dirty="0"/>
              <a:t>, the process that helps the network learn from its errors and improve its performance.</a:t>
            </a:r>
          </a:p>
          <a:p>
            <a:pPr>
              <a:buNone/>
            </a:pPr>
            <a:r>
              <a:rPr lang="en-US" dirty="0"/>
              <a:t>Once you grasp the fundamentals, dive into </a:t>
            </a:r>
            <a:r>
              <a:rPr lang="en-US" b="1" dirty="0"/>
              <a:t>deep learning frameworks</a:t>
            </a:r>
            <a:r>
              <a:rPr lang="en-US" dirty="0"/>
              <a:t> like </a:t>
            </a:r>
            <a:r>
              <a:rPr lang="en-US" b="1" dirty="0"/>
              <a:t>TensorFlow</a:t>
            </a:r>
            <a:r>
              <a:rPr lang="en-US" dirty="0"/>
              <a:t> or </a:t>
            </a:r>
            <a:r>
              <a:rPr lang="en-US" b="1" dirty="0" err="1"/>
              <a:t>PyTorch</a:t>
            </a:r>
            <a:r>
              <a:rPr lang="en-US" dirty="0"/>
              <a:t>. These frameworks simplify the process of building and training deep learning models, providing pre-built functions and tools for creating powerful neural networks.</a:t>
            </a:r>
          </a:p>
          <a:p>
            <a:pPr>
              <a:buNone/>
            </a:pPr>
            <a:r>
              <a:rPr lang="en-US" dirty="0"/>
              <a:t>To put your knowledge into practice, start working on projects like </a:t>
            </a:r>
            <a:r>
              <a:rPr lang="en-US" b="1" dirty="0"/>
              <a:t>image classification</a:t>
            </a:r>
            <a:r>
              <a:rPr lang="en-US" dirty="0"/>
              <a:t>, </a:t>
            </a:r>
            <a:r>
              <a:rPr lang="en-US" b="1" dirty="0"/>
              <a:t>natural language processing</a:t>
            </a:r>
            <a:r>
              <a:rPr lang="en-US" dirty="0"/>
              <a:t> (NLP), and </a:t>
            </a:r>
            <a:r>
              <a:rPr lang="en-US" b="1" dirty="0"/>
              <a:t>time-series forecasting</a:t>
            </a:r>
            <a:r>
              <a:rPr lang="en-US" dirty="0"/>
              <a:t>. These projects will allow you to explore different types of data and deepen your understanding of how deep learning can be applied to various problems.</a:t>
            </a:r>
          </a:p>
          <a:p>
            <a:pPr>
              <a:buNone/>
            </a:pPr>
            <a:r>
              <a:rPr lang="en-US" dirty="0"/>
              <a:t>Deep learning has many powerful </a:t>
            </a:r>
            <a:r>
              <a:rPr lang="en-US" b="1" dirty="0"/>
              <a:t>applications</a:t>
            </a:r>
            <a:r>
              <a:rPr lang="en-US" dirty="0"/>
              <a:t>, especially in complex fields like </a:t>
            </a:r>
            <a:r>
              <a:rPr lang="en-US" b="1" dirty="0"/>
              <a:t>computer vision</a:t>
            </a:r>
            <a:r>
              <a:rPr lang="en-US" dirty="0"/>
              <a:t> (recognizing objects in images or videos) and </a:t>
            </a:r>
            <a:r>
              <a:rPr lang="en-US" b="1" dirty="0"/>
              <a:t>AI</a:t>
            </a:r>
            <a:r>
              <a:rPr lang="en-US" dirty="0"/>
              <a:t> (creating systems that can simulate human intelligence). By experimenting with deep learning models for these use cases, you can see how they solve challenging problems and help drive innovations.</a:t>
            </a:r>
          </a:p>
          <a:p>
            <a:r>
              <a:rPr lang="en-US" dirty="0"/>
              <a:t>Finally, building and training deep learning models for various projects will give you hands-on experience and confidence in using these advanced techniques. Though deep learning is often more resource-intensive and requires larger datasets, mastering it can open doors to exciting opportunities in AI and data science.</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b="1" dirty="0"/>
              <a:t>Develop Problem-Solving and Analytical Thinking Skills</a:t>
            </a:r>
            <a:r>
              <a:rPr lang="en-US" dirty="0"/>
              <a:t> is key to becoming a strong data analyst. Start by practicing real-world problems on platforms like </a:t>
            </a:r>
            <a:r>
              <a:rPr lang="en-US" b="1" dirty="0"/>
              <a:t>Kaggle</a:t>
            </a:r>
            <a:r>
              <a:rPr lang="en-US" dirty="0"/>
              <a:t>, where you can solve challenges and learn from other solutions. To tackle complex issues, break them into smaller, manageable parts and use a structured approach—collect, clean, explore, model, and evaluate data.</a:t>
            </a:r>
          </a:p>
          <a:p>
            <a:r>
              <a:rPr lang="en-US" dirty="0"/>
              <a:t>Studying </a:t>
            </a:r>
            <a:r>
              <a:rPr lang="en-US" b="1" dirty="0"/>
              <a:t>case studies</a:t>
            </a:r>
            <a:r>
              <a:rPr lang="en-US" dirty="0"/>
              <a:t> helps you understand how data science is applied in different industries, offering insights into real-world applications. Focus on </a:t>
            </a:r>
            <a:r>
              <a:rPr lang="en-US" b="1" dirty="0"/>
              <a:t>critical thinking</a:t>
            </a:r>
            <a:r>
              <a:rPr lang="en-US" dirty="0"/>
              <a:t> by using data to drive decisions and insights, ensuring your solutions are data-driven and effective. This approach will help you become better at analyzing and solving data-related challenges.</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F681-E452-EB94-347B-2950FE947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5CFCD-8933-E29B-D050-287479FFB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08B7-B4F4-811D-FB8A-7D12DA08DDA3}"/>
              </a:ext>
            </a:extLst>
          </p:cNvPr>
          <p:cNvSpPr>
            <a:spLocks noGrp="1"/>
          </p:cNvSpPr>
          <p:nvPr>
            <p:ph type="body" idx="1"/>
          </p:nvPr>
        </p:nvSpPr>
        <p:spPr/>
        <p:txBody>
          <a:bodyPr/>
          <a:lstStyle/>
          <a:p>
            <a:pPr>
              <a:buNone/>
            </a:pPr>
            <a:r>
              <a:rPr lang="en-US" b="1" dirty="0"/>
              <a:t>Build a Portfolio and Gain Experience</a:t>
            </a:r>
            <a:r>
              <a:rPr lang="en-US" dirty="0"/>
              <a:t> is essential for showcasing your abilities as a data analyst. Start by creating projects that highlight your skills in </a:t>
            </a:r>
            <a:r>
              <a:rPr lang="en-US" b="1" dirty="0"/>
              <a:t>data manipulation</a:t>
            </a:r>
            <a:r>
              <a:rPr lang="en-US" dirty="0"/>
              <a:t>, </a:t>
            </a:r>
            <a:r>
              <a:rPr lang="en-US" b="1" dirty="0"/>
              <a:t>machine learning</a:t>
            </a:r>
            <a:r>
              <a:rPr lang="en-US" dirty="0"/>
              <a:t>, and </a:t>
            </a:r>
            <a:r>
              <a:rPr lang="en-US" b="1" dirty="0"/>
              <a:t>visualization</a:t>
            </a:r>
            <a:r>
              <a:rPr lang="en-US" dirty="0"/>
              <a:t>. These projects will demonstrate your technical proficiency and ability to solve real-world problems.</a:t>
            </a:r>
          </a:p>
          <a:p>
            <a:pPr>
              <a:buNone/>
            </a:pPr>
            <a:r>
              <a:rPr lang="en-US" dirty="0"/>
              <a:t>Share your work on platforms like </a:t>
            </a:r>
            <a:r>
              <a:rPr lang="en-US" b="1" dirty="0"/>
              <a:t>GitHub</a:t>
            </a:r>
            <a:r>
              <a:rPr lang="en-US" dirty="0"/>
              <a:t> to build an </a:t>
            </a:r>
            <a:r>
              <a:rPr lang="en-US" b="1" dirty="0"/>
              <a:t>online portfolio</a:t>
            </a:r>
            <a:r>
              <a:rPr lang="en-US" dirty="0"/>
              <a:t>. This allows potential employers or collaborators to see your projects and contributions. In addition to personal projects, gaining </a:t>
            </a:r>
            <a:r>
              <a:rPr lang="en-US" b="1" dirty="0"/>
              <a:t>hands-on experience</a:t>
            </a:r>
            <a:r>
              <a:rPr lang="en-US" dirty="0"/>
              <a:t> through internships or </a:t>
            </a:r>
            <a:r>
              <a:rPr lang="en-US" b="1" dirty="0"/>
              <a:t>freelance opportunities</a:t>
            </a:r>
            <a:r>
              <a:rPr lang="en-US" dirty="0"/>
              <a:t> will provide practical experience and help you apply what you’ve learned in real-world settings.</a:t>
            </a:r>
          </a:p>
          <a:p>
            <a:r>
              <a:rPr lang="en-US" dirty="0"/>
              <a:t>Contributing to </a:t>
            </a:r>
            <a:r>
              <a:rPr lang="en-US" b="1" dirty="0"/>
              <a:t>open-source data science projects</a:t>
            </a:r>
            <a:r>
              <a:rPr lang="en-US" dirty="0"/>
              <a:t> can also improve your skills, increase your visibility in the community, and give you valuable collaborative experience. Finally, participating in </a:t>
            </a:r>
            <a:r>
              <a:rPr lang="en-US" b="1" dirty="0"/>
              <a:t>data science challenges</a:t>
            </a:r>
            <a:r>
              <a:rPr lang="en-US" dirty="0"/>
              <a:t> (such as those on Kaggle) will allow you to test and refine your skills while competing with others and solving complex problems. This combination of projects, experience, and challenges will make your portfolio stand out.</a:t>
            </a:r>
          </a:p>
        </p:txBody>
      </p:sp>
      <p:sp>
        <p:nvSpPr>
          <p:cNvPr id="4" name="Slide Number Placeholder 3">
            <a:extLst>
              <a:ext uri="{FF2B5EF4-FFF2-40B4-BE49-F238E27FC236}">
                <a16:creationId xmlns:a16="http://schemas.microsoft.com/office/drawing/2014/main" id="{DE71EDCB-4392-77E7-2030-5316BBD03E7A}"/>
              </a:ext>
            </a:extLst>
          </p:cNvPr>
          <p:cNvSpPr>
            <a:spLocks noGrp="1"/>
          </p:cNvSpPr>
          <p:nvPr>
            <p:ph type="sldNum" sz="quarter" idx="5"/>
          </p:nvPr>
        </p:nvSpPr>
        <p:spPr/>
        <p:txBody>
          <a:bodyPr/>
          <a:lstStyle/>
          <a:p>
            <a:fld id="{0090596E-B1B8-4E4E-B8E0-28D941E615DF}" type="slidenum">
              <a:rPr lang="en-US" smtClean="0"/>
              <a:t>9</a:t>
            </a:fld>
            <a:endParaRPr lang="en-US"/>
          </a:p>
        </p:txBody>
      </p:sp>
    </p:spTree>
    <p:extLst>
      <p:ext uri="{BB962C8B-B14F-4D97-AF65-F5344CB8AC3E}">
        <p14:creationId xmlns:p14="http://schemas.microsoft.com/office/powerpoint/2010/main" val="371264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AFF3F-9D58-AF0A-F52A-4499ABC35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EF40F-9154-93C9-D70A-53ADA3CF7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7C8C3-914D-36AD-28FF-A62753D96CD2}"/>
              </a:ext>
            </a:extLst>
          </p:cNvPr>
          <p:cNvSpPr>
            <a:spLocks noGrp="1"/>
          </p:cNvSpPr>
          <p:nvPr>
            <p:ph type="body" idx="1"/>
          </p:nvPr>
        </p:nvSpPr>
        <p:spPr/>
        <p:txBody>
          <a:bodyPr/>
          <a:lstStyle/>
          <a:p>
            <a:pPr>
              <a:buNone/>
            </a:pPr>
            <a:r>
              <a:rPr lang="en-US" b="1" dirty="0"/>
              <a:t>Apply for Data Science Jobs</a:t>
            </a:r>
            <a:r>
              <a:rPr lang="en-US" dirty="0"/>
              <a:t> involves taking the final steps to transition from learning to a professional data science career. Start by </a:t>
            </a:r>
            <a:r>
              <a:rPr lang="en-US" b="1" dirty="0"/>
              <a:t>tailoring your resume</a:t>
            </a:r>
            <a:r>
              <a:rPr lang="en-US" dirty="0"/>
              <a:t> to emphasize your relevant skills, projects, and hands-on experience. Make sure to highlight your expertise in areas like </a:t>
            </a:r>
            <a:r>
              <a:rPr lang="en-US" b="1" dirty="0"/>
              <a:t>data manipulation</a:t>
            </a:r>
            <a:r>
              <a:rPr lang="en-US" dirty="0"/>
              <a:t>, </a:t>
            </a:r>
            <a:r>
              <a:rPr lang="en-US" b="1" dirty="0"/>
              <a:t>machine learning</a:t>
            </a:r>
            <a:r>
              <a:rPr lang="en-US" dirty="0"/>
              <a:t>, and </a:t>
            </a:r>
            <a:r>
              <a:rPr lang="en-US" b="1" dirty="0"/>
              <a:t>data visualization</a:t>
            </a:r>
            <a:r>
              <a:rPr lang="en-US" dirty="0"/>
              <a:t> to catch the attention of hiring managers.</a:t>
            </a:r>
          </a:p>
          <a:p>
            <a:pPr>
              <a:buNone/>
            </a:pPr>
            <a:r>
              <a:rPr lang="en-US" dirty="0"/>
              <a:t>Prepare for interviews by reviewing </a:t>
            </a:r>
            <a:r>
              <a:rPr lang="en-US" b="1" dirty="0"/>
              <a:t>common data science questions</a:t>
            </a:r>
            <a:r>
              <a:rPr lang="en-US" dirty="0"/>
              <a:t> and practicing coding challenges. It's important to be ready to discuss your </a:t>
            </a:r>
            <a:r>
              <a:rPr lang="en-US" b="1" dirty="0"/>
              <a:t>problem-solving approach</a:t>
            </a:r>
            <a:r>
              <a:rPr lang="en-US" dirty="0"/>
              <a:t>, your </a:t>
            </a:r>
            <a:r>
              <a:rPr lang="en-US" b="1" dirty="0"/>
              <a:t>model-building process</a:t>
            </a:r>
            <a:r>
              <a:rPr lang="en-US" dirty="0"/>
              <a:t>, and how you use </a:t>
            </a:r>
            <a:r>
              <a:rPr lang="en-US" b="1" dirty="0"/>
              <a:t>analytical thinking</a:t>
            </a:r>
            <a:r>
              <a:rPr lang="en-US" dirty="0"/>
              <a:t> to tackle data-related challenges.</a:t>
            </a:r>
          </a:p>
          <a:p>
            <a:r>
              <a:rPr lang="en-US" dirty="0"/>
              <a:t>Start by applying for </a:t>
            </a:r>
            <a:r>
              <a:rPr lang="en-US" b="1" dirty="0"/>
              <a:t>entry-level data science roles</a:t>
            </a:r>
            <a:r>
              <a:rPr lang="en-US" dirty="0"/>
              <a:t> or </a:t>
            </a:r>
            <a:r>
              <a:rPr lang="en-US" b="1" dirty="0"/>
              <a:t>internships</a:t>
            </a:r>
            <a:r>
              <a:rPr lang="en-US" dirty="0"/>
              <a:t> to gain professional experience and build your career. During this time, continue to </a:t>
            </a:r>
            <a:r>
              <a:rPr lang="en-US" b="1" dirty="0"/>
              <a:t>build your skills</a:t>
            </a:r>
            <a:r>
              <a:rPr lang="en-US" dirty="0"/>
              <a:t> and learn from feedback to refine your approach and increase your chances of landing your desired job. With continuous improvement and determination, you’ll be well on your way to securing a data science position.</a:t>
            </a:r>
          </a:p>
        </p:txBody>
      </p:sp>
      <p:sp>
        <p:nvSpPr>
          <p:cNvPr id="4" name="Slide Number Placeholder 3">
            <a:extLst>
              <a:ext uri="{FF2B5EF4-FFF2-40B4-BE49-F238E27FC236}">
                <a16:creationId xmlns:a16="http://schemas.microsoft.com/office/drawing/2014/main" id="{88A7D8A8-BED7-59C1-8113-AB350B3AAA16}"/>
              </a:ext>
            </a:extLst>
          </p:cNvPr>
          <p:cNvSpPr>
            <a:spLocks noGrp="1"/>
          </p:cNvSpPr>
          <p:nvPr>
            <p:ph type="sldNum" sz="quarter" idx="5"/>
          </p:nvPr>
        </p:nvSpPr>
        <p:spPr/>
        <p:txBody>
          <a:bodyPr/>
          <a:lstStyle/>
          <a:p>
            <a:fld id="{0090596E-B1B8-4E4E-B8E0-28D941E615DF}" type="slidenum">
              <a:rPr lang="en-US" smtClean="0"/>
              <a:t>10</a:t>
            </a:fld>
            <a:endParaRPr lang="en-US"/>
          </a:p>
        </p:txBody>
      </p:sp>
    </p:spTree>
    <p:extLst>
      <p:ext uri="{BB962C8B-B14F-4D97-AF65-F5344CB8AC3E}">
        <p14:creationId xmlns:p14="http://schemas.microsoft.com/office/powerpoint/2010/main" val="2589705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r>
              <a:rPr lang="en-US" dirty="0"/>
              <a:t>In this lesson the key things we have learnt that A solid understanding of linear algebra, probability, statistics, and calculus is essential for analyzing data and building machine learning models. These mathematical concepts provide the foundation for understanding algorithms and optimizing model performance.</a:t>
            </a:r>
          </a:p>
          <a:p>
            <a:pPr>
              <a:buFont typeface="+mj-lt"/>
              <a:buNone/>
            </a:pPr>
            <a:r>
              <a:rPr lang="en-US" dirty="0"/>
              <a:t>Proficiency in programming languages like Python or R, and knowledge of essential libraries such as Pandas, NumPy, and Scikit-learn, are crucial for data manipulation and model building. These tools enable data scientists to process data, create models, and generate meaningful insights efficiently.</a:t>
            </a:r>
          </a:p>
          <a:p>
            <a:pPr>
              <a:buFont typeface="+mj-lt"/>
              <a:buNone/>
            </a:pPr>
            <a:r>
              <a:rPr lang="en-US" dirty="0"/>
              <a:t>Learning how to preprocess, clean, and transform data is crucial because real-world data is often messy and unstructured. This step ensures that data is in a usable format for analysis and modeling, which is vital for obtaining accurate results.</a:t>
            </a:r>
          </a:p>
          <a:p>
            <a:pPr>
              <a:buFont typeface="+mj-lt"/>
              <a:buNone/>
            </a:pPr>
            <a:r>
              <a:rPr lang="en-US" dirty="0"/>
              <a:t>Developing critical thinking and problem-solving skills is key to breaking down complex data problems, designing effective solutions, and optimizing algorithms. These skills help data scientists approach challenges methodically and make informed decisions during the analysis process.</a:t>
            </a:r>
          </a:p>
          <a:p>
            <a:pPr>
              <a:buFont typeface="+mj-lt"/>
              <a:buNone/>
            </a:pPr>
            <a:r>
              <a:rPr lang="en-US" dirty="0"/>
              <a:t>Familiarizing yourself with fundamental machine learning concepts and algorithms, such as supervised and unsupervised learning, helps in building predictive models. Understanding these techniques allows data scientists to choose the right algorithms and apply them effectively for tasks like classification, regression, and clustering.</a:t>
            </a:r>
          </a:p>
          <a:p>
            <a:r>
              <a:rPr lang="en-US" dirty="0"/>
              <a:t>4o</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11</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304875" y="2659559"/>
            <a:ext cx="7582250"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Path to be a Data Scientist</a:t>
            </a:r>
          </a:p>
        </p:txBody>
      </p:sp>
      <p:sp>
        <p:nvSpPr>
          <p:cNvPr id="7" name="TextBox 6">
            <a:extLst>
              <a:ext uri="{FF2B5EF4-FFF2-40B4-BE49-F238E27FC236}">
                <a16:creationId xmlns:a16="http://schemas.microsoft.com/office/drawing/2014/main" id="{4762BF6F-6CEA-5E18-D886-19C6FCE8C811}"/>
              </a:ext>
            </a:extLst>
          </p:cNvPr>
          <p:cNvSpPr txBox="1"/>
          <p:nvPr/>
        </p:nvSpPr>
        <p:spPr>
          <a:xfrm>
            <a:off x="4169328" y="3429000"/>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81BB9238-8ACD-90EE-8CF3-48AAB1C7C5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477"/>
          <a:stretch/>
        </p:blipFill>
        <p:spPr bwMode="auto">
          <a:xfrm>
            <a:off x="1935482" y="620785"/>
            <a:ext cx="11662489" cy="58235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A82B54B-C632-2608-3924-6B2EB31B7D95}"/>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1 - Build a Strong Foundation in Mathematics and Statistics</a:t>
            </a:r>
          </a:p>
        </p:txBody>
      </p:sp>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51F687DB-33BD-2F59-612A-067B930AAC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325" b="8516"/>
          <a:stretch/>
        </p:blipFill>
        <p:spPr bwMode="auto">
          <a:xfrm>
            <a:off x="752595" y="1155928"/>
            <a:ext cx="10482306" cy="519446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F58928F-E38E-4602-D5B1-47AEB05A1C67}"/>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2 – Learn Programming</a:t>
            </a:r>
          </a:p>
        </p:txBody>
      </p:sp>
    </p:spTree>
    <p:extLst>
      <p:ext uri="{BB962C8B-B14F-4D97-AF65-F5344CB8AC3E}">
        <p14:creationId xmlns:p14="http://schemas.microsoft.com/office/powerpoint/2010/main" val="1262648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CF24EA3E-C6F2-CB39-66A9-B38B7BC358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311"/>
          <a:stretch/>
        </p:blipFill>
        <p:spPr bwMode="auto">
          <a:xfrm>
            <a:off x="3296873" y="591771"/>
            <a:ext cx="8701717" cy="567445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73C75DB-B41A-2E5B-22DD-5DE082A67B66}"/>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3 - Master Data Manipulation and Cleaning</a:t>
            </a:r>
          </a:p>
        </p:txBody>
      </p:sp>
    </p:spTree>
    <p:extLst>
      <p:ext uri="{BB962C8B-B14F-4D97-AF65-F5344CB8AC3E}">
        <p14:creationId xmlns:p14="http://schemas.microsoft.com/office/powerpoint/2010/main" val="179551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10250" name="Picture 10">
            <a:extLst>
              <a:ext uri="{FF2B5EF4-FFF2-40B4-BE49-F238E27FC236}">
                <a16:creationId xmlns:a16="http://schemas.microsoft.com/office/drawing/2014/main" id="{D7AB5F8E-C060-C920-A40F-3DADB5578D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642" b="6359"/>
          <a:stretch/>
        </p:blipFill>
        <p:spPr bwMode="auto">
          <a:xfrm>
            <a:off x="1087474" y="805451"/>
            <a:ext cx="9784658" cy="708180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A814C5F-E0CF-1357-7832-E8ED849DBE8B}"/>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4 - Gain Knowledge in Data Visualization</a:t>
            </a:r>
          </a:p>
        </p:txBody>
      </p:sp>
    </p:spTree>
    <p:extLst>
      <p:ext uri="{BB962C8B-B14F-4D97-AF65-F5344CB8AC3E}">
        <p14:creationId xmlns:p14="http://schemas.microsoft.com/office/powerpoint/2010/main" val="2475340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11268" name="Picture 4">
            <a:extLst>
              <a:ext uri="{FF2B5EF4-FFF2-40B4-BE49-F238E27FC236}">
                <a16:creationId xmlns:a16="http://schemas.microsoft.com/office/drawing/2014/main" id="{86394015-2446-AD95-4F4C-5FC9EC708D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521"/>
          <a:stretch/>
        </p:blipFill>
        <p:spPr bwMode="auto">
          <a:xfrm>
            <a:off x="973122" y="1124125"/>
            <a:ext cx="10385571" cy="50519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EC2A64F-9BDC-3570-659D-381C38A7AD4D}"/>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5 - Learn Machine Learning</a:t>
            </a:r>
          </a:p>
        </p:txBody>
      </p:sp>
    </p:spTree>
    <p:extLst>
      <p:ext uri="{BB962C8B-B14F-4D97-AF65-F5344CB8AC3E}">
        <p14:creationId xmlns:p14="http://schemas.microsoft.com/office/powerpoint/2010/main" val="357130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12290" name="Picture 2">
            <a:extLst>
              <a:ext uri="{FF2B5EF4-FFF2-40B4-BE49-F238E27FC236}">
                <a16:creationId xmlns:a16="http://schemas.microsoft.com/office/drawing/2014/main" id="{060195B6-989C-B602-1D61-4012734632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889"/>
          <a:stretch/>
        </p:blipFill>
        <p:spPr bwMode="auto">
          <a:xfrm>
            <a:off x="1182515" y="1031408"/>
            <a:ext cx="9826969" cy="543461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29DA1C7-9424-C1AC-317B-1BCCB9430E0B}"/>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6 - Explore Deep Learning (Optional but Recommended)</a:t>
            </a:r>
          </a:p>
        </p:txBody>
      </p:sp>
    </p:spTree>
    <p:extLst>
      <p:ext uri="{BB962C8B-B14F-4D97-AF65-F5344CB8AC3E}">
        <p14:creationId xmlns:p14="http://schemas.microsoft.com/office/powerpoint/2010/main" val="3800143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13314" name="Picture 2">
            <a:extLst>
              <a:ext uri="{FF2B5EF4-FFF2-40B4-BE49-F238E27FC236}">
                <a16:creationId xmlns:a16="http://schemas.microsoft.com/office/drawing/2014/main" id="{6B414544-1710-7A36-7664-34DD8EF87E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044"/>
          <a:stretch/>
        </p:blipFill>
        <p:spPr bwMode="auto">
          <a:xfrm>
            <a:off x="1260446" y="981511"/>
            <a:ext cx="9671108" cy="60037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613513F-61E2-1FC1-6E55-CF67001587C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Step 7 - Develop Problem-Solving and Analytical Thinking Skills</a:t>
            </a:r>
          </a:p>
        </p:txBody>
      </p:sp>
    </p:spTree>
    <p:extLst>
      <p:ext uri="{BB962C8B-B14F-4D97-AF65-F5344CB8AC3E}">
        <p14:creationId xmlns:p14="http://schemas.microsoft.com/office/powerpoint/2010/main" val="2618882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679A-9DAE-5891-2D35-4BF2FD5CF7C1}"/>
            </a:ext>
          </a:extLst>
        </p:cNvPr>
        <p:cNvGrpSpPr/>
        <p:nvPr/>
      </p:nvGrpSpPr>
      <p:grpSpPr>
        <a:xfrm>
          <a:off x="0" y="0"/>
          <a:ext cx="0" cy="0"/>
          <a:chOff x="0" y="0"/>
          <a:chExt cx="0" cy="0"/>
        </a:xfrm>
      </p:grpSpPr>
      <p:pic>
        <p:nvPicPr>
          <p:cNvPr id="14338" name="Picture 2">
            <a:extLst>
              <a:ext uri="{FF2B5EF4-FFF2-40B4-BE49-F238E27FC236}">
                <a16:creationId xmlns:a16="http://schemas.microsoft.com/office/drawing/2014/main" id="{7EE4ADB1-C1FC-3145-C201-2E6AEADB64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972"/>
          <a:stretch/>
        </p:blipFill>
        <p:spPr bwMode="auto">
          <a:xfrm>
            <a:off x="3271602" y="993913"/>
            <a:ext cx="8920398" cy="54279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85D6FB3-197D-6B72-A4A8-20635141AB2A}"/>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8 - Build a Portfolio and Gain Experience</a:t>
            </a:r>
          </a:p>
        </p:txBody>
      </p:sp>
    </p:spTree>
    <p:extLst>
      <p:ext uri="{BB962C8B-B14F-4D97-AF65-F5344CB8AC3E}">
        <p14:creationId xmlns:p14="http://schemas.microsoft.com/office/powerpoint/2010/main" val="3063534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83C7-4B14-8057-FBCF-3F65EEEACA67}"/>
            </a:ext>
          </a:extLst>
        </p:cNvPr>
        <p:cNvGrpSpPr/>
        <p:nvPr/>
      </p:nvGrpSpPr>
      <p:grpSpPr>
        <a:xfrm>
          <a:off x="0" y="0"/>
          <a:ext cx="0" cy="0"/>
          <a:chOff x="0" y="0"/>
          <a:chExt cx="0" cy="0"/>
        </a:xfrm>
      </p:grpSpPr>
      <p:pic>
        <p:nvPicPr>
          <p:cNvPr id="15364" name="Picture 4">
            <a:extLst>
              <a:ext uri="{FF2B5EF4-FFF2-40B4-BE49-F238E27FC236}">
                <a16:creationId xmlns:a16="http://schemas.microsoft.com/office/drawing/2014/main" id="{BB684B51-2BB4-5D0F-DF1B-70767C883F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915"/>
          <a:stretch/>
        </p:blipFill>
        <p:spPr bwMode="auto">
          <a:xfrm>
            <a:off x="918901" y="1526796"/>
            <a:ext cx="10517927" cy="414416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E2D0751-4F1C-885A-B85F-1D3E517038B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Step 9 - Apply for Data Science Jobs</a:t>
            </a:r>
          </a:p>
        </p:txBody>
      </p:sp>
    </p:spTree>
    <p:extLst>
      <p:ext uri="{BB962C8B-B14F-4D97-AF65-F5344CB8AC3E}">
        <p14:creationId xmlns:p14="http://schemas.microsoft.com/office/powerpoint/2010/main" val="1358434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4" name="Picture 6">
            <a:extLst>
              <a:ext uri="{FF2B5EF4-FFF2-40B4-BE49-F238E27FC236}">
                <a16:creationId xmlns:a16="http://schemas.microsoft.com/office/drawing/2014/main" id="{373F7D30-1B51-DF6E-8372-4E4DF67B86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479"/>
          <a:stretch/>
        </p:blipFill>
        <p:spPr bwMode="auto">
          <a:xfrm>
            <a:off x="1267757" y="939674"/>
            <a:ext cx="9453563" cy="600221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AE723F-A7F4-917A-EC25-4D6880695B20}"/>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Key learning points of this lesson</a:t>
            </a:r>
          </a:p>
        </p:txBody>
      </p:sp>
    </p:spTree>
    <p:extLst>
      <p:ext uri="{BB962C8B-B14F-4D97-AF65-F5344CB8AC3E}">
        <p14:creationId xmlns:p14="http://schemas.microsoft.com/office/powerpoint/2010/main" val="565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313</TotalTime>
  <Words>2282</Words>
  <Application>Microsoft Office PowerPoint</Application>
  <PresentationFormat>Widescreen</PresentationFormat>
  <Paragraphs>64</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6</cp:revision>
  <dcterms:created xsi:type="dcterms:W3CDTF">2025-03-28T13:19:12Z</dcterms:created>
  <dcterms:modified xsi:type="dcterms:W3CDTF">2025-03-29T10:19:15Z</dcterms:modified>
</cp:coreProperties>
</file>