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0" r:id="rId5"/>
    <p:sldId id="261" r:id="rId6"/>
    <p:sldId id="262" r:id="rId7"/>
    <p:sldId id="265" r:id="rId8"/>
    <p:sldId id="266"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49" autoAdjust="0"/>
  </p:normalViewPr>
  <p:slideViewPr>
    <p:cSldViewPr snapToGrid="0">
      <p:cViewPr varScale="1">
        <p:scale>
          <a:sx n="80" d="100"/>
          <a:sy n="80" d="100"/>
        </p:scale>
        <p:origin x="1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Machine Learning (ML) is a subset of </a:t>
            </a:r>
            <a:r>
              <a:rPr lang="en-US" b="1" dirty="0"/>
              <a:t>artificial intelligence (AI)</a:t>
            </a:r>
            <a:r>
              <a:rPr lang="en-US" dirty="0"/>
              <a:t> that allows machines to learn from data and make decisions or predictions without being explicitly programmed. Instead of following pre-defined rules, ML systems use </a:t>
            </a:r>
            <a:r>
              <a:rPr lang="en-US" b="1" dirty="0"/>
              <a:t>algorithms</a:t>
            </a:r>
            <a:r>
              <a:rPr lang="en-US" dirty="0"/>
              <a:t> and </a:t>
            </a:r>
            <a:r>
              <a:rPr lang="en-US" b="1" dirty="0"/>
              <a:t>statistical models</a:t>
            </a:r>
            <a:r>
              <a:rPr lang="en-US" dirty="0"/>
              <a:t> to learn from </a:t>
            </a:r>
            <a:r>
              <a:rPr lang="en-US" b="1" dirty="0"/>
              <a:t>historical data</a:t>
            </a:r>
            <a:r>
              <a:rPr lang="en-US" dirty="0"/>
              <a:t>, recognize patterns, and improve their performance over time. This capability enables systems to make increasingly accurate predictions or decisions based on new data.</a:t>
            </a:r>
          </a:p>
          <a:p>
            <a:pPr>
              <a:buNone/>
            </a:pPr>
            <a:r>
              <a:rPr lang="en-US" b="1" dirty="0"/>
              <a:t>Example Scenario:</a:t>
            </a:r>
            <a:endParaRPr lang="en-US" dirty="0"/>
          </a:p>
          <a:p>
            <a:pPr>
              <a:buFont typeface="Arial" panose="020B0604020202020204" pitchFamily="34" charset="0"/>
              <a:buChar char="•"/>
            </a:pPr>
            <a:r>
              <a:rPr lang="en-US" b="1" dirty="0"/>
              <a:t>Company:</a:t>
            </a:r>
            <a:r>
              <a:rPr lang="en-US" dirty="0"/>
              <a:t> E-commerce platform (e.g., Amazon)</a:t>
            </a:r>
          </a:p>
          <a:p>
            <a:pPr>
              <a:buFont typeface="Arial" panose="020B0604020202020204" pitchFamily="34" charset="0"/>
              <a:buChar char="•"/>
            </a:pPr>
            <a:r>
              <a:rPr lang="en-US" b="1" dirty="0"/>
              <a:t>Task to Automate:</a:t>
            </a:r>
            <a:r>
              <a:rPr lang="en-US" dirty="0"/>
              <a:t> Personalized Product Recommendations</a:t>
            </a:r>
          </a:p>
          <a:p>
            <a:pPr>
              <a:buNone/>
            </a:pPr>
            <a:r>
              <a:rPr lang="en-US" b="1" dirty="0"/>
              <a:t>How It Works:</a:t>
            </a:r>
            <a:r>
              <a:rPr lang="en-US" dirty="0"/>
              <a:t> The ML algorithm analyzes past customer behaviors on the platform, such as the </a:t>
            </a:r>
            <a:r>
              <a:rPr lang="en-US" b="1" dirty="0"/>
              <a:t>products browsed</a:t>
            </a:r>
            <a:r>
              <a:rPr lang="en-US" dirty="0"/>
              <a:t>, </a:t>
            </a:r>
            <a:r>
              <a:rPr lang="en-US" b="1" dirty="0"/>
              <a:t>purchased</a:t>
            </a:r>
            <a:r>
              <a:rPr lang="en-US" dirty="0"/>
              <a:t>, and </a:t>
            </a:r>
            <a:r>
              <a:rPr lang="en-US" b="1" dirty="0"/>
              <a:t>reviewed</a:t>
            </a:r>
            <a:r>
              <a:rPr lang="en-US" dirty="0"/>
              <a:t>. It collects data on each customer's preferences and purchase history to identify patterns. By recognizing these patterns, the algorithm learns which products are more likely to interest each customer.</a:t>
            </a:r>
          </a:p>
          <a:p>
            <a:r>
              <a:rPr lang="en-US" b="1" dirty="0"/>
              <a:t>Automation:</a:t>
            </a:r>
            <a:r>
              <a:rPr lang="en-US" dirty="0"/>
              <a:t> Once the model is trained, it automatically generates </a:t>
            </a:r>
            <a:r>
              <a:rPr lang="en-US" b="1" dirty="0"/>
              <a:t>personalized product suggestions</a:t>
            </a:r>
            <a:r>
              <a:rPr lang="en-US" dirty="0"/>
              <a:t> for each customer. These recommendations appear as they browse the site, enhancing their shopping experience. For example, if a customer has previously purchased electronics, the system may suggest related products like phone accessories or new tech gadgets. This automation leads to </a:t>
            </a:r>
            <a:r>
              <a:rPr lang="en-US" b="1" dirty="0"/>
              <a:t>improv</a:t>
            </a:r>
            <a:endParaRPr lang="en-US" dirty="0"/>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1. Rule-Based vs Data-Driven:</a:t>
            </a:r>
            <a:r>
              <a:rPr lang="en-US" dirty="0"/>
              <a:t> Traditional models are </a:t>
            </a:r>
            <a:r>
              <a:rPr lang="en-US" b="1" dirty="0"/>
              <a:t>rule-based</a:t>
            </a:r>
            <a:r>
              <a:rPr lang="en-US" dirty="0"/>
              <a:t>, meaning they are explicitly programmed with fixed, predefined rules by human experts. These rules dictate how the system should behave under certain conditions, and any decision-making process follows these set rules strictly. In contrast, </a:t>
            </a:r>
            <a:r>
              <a:rPr lang="en-US" b="1" dirty="0"/>
              <a:t>machine learning models</a:t>
            </a:r>
            <a:r>
              <a:rPr lang="en-US" dirty="0"/>
              <a:t> are </a:t>
            </a:r>
            <a:r>
              <a:rPr lang="en-US" b="1" dirty="0"/>
              <a:t>data-driven</a:t>
            </a:r>
            <a:r>
              <a:rPr lang="en-US" dirty="0"/>
              <a:t>, meaning they learn from historical data to identify patterns and make predictions. Instead of being programmed with specific rules, machine learning models analyze past data to understand the relationships between variables and make decisions based on patterns in the data. This shift allows machine learning models to adapt and refine their predictions without human intervention.</a:t>
            </a:r>
          </a:p>
          <a:p>
            <a:pPr>
              <a:buNone/>
            </a:pPr>
            <a:r>
              <a:rPr lang="en-US" b="1" dirty="0"/>
              <a:t>2. Static vs Dynamic:</a:t>
            </a:r>
            <a:r>
              <a:rPr lang="en-US" dirty="0"/>
              <a:t> Once traditional models are programmed, they are generally </a:t>
            </a:r>
            <a:r>
              <a:rPr lang="en-US" b="1" dirty="0"/>
              <a:t>static</a:t>
            </a:r>
            <a:r>
              <a:rPr lang="en-US" dirty="0"/>
              <a:t>—they do not change or adapt over time. If the conditions or data change, traditional models can become outdated and ineffective, requiring manual updates or reprogramming. On the other hand, </a:t>
            </a:r>
            <a:r>
              <a:rPr lang="en-US" b="1" dirty="0"/>
              <a:t>machine learning models</a:t>
            </a:r>
            <a:r>
              <a:rPr lang="en-US" dirty="0"/>
              <a:t> are inherently </a:t>
            </a:r>
            <a:r>
              <a:rPr lang="en-US" b="1" dirty="0"/>
              <a:t>dynamic</a:t>
            </a:r>
            <a:r>
              <a:rPr lang="en-US" dirty="0"/>
              <a:t>. They continuously learn and improve as they are exposed to new data. This adaptability ensures that machine learning models stay relevant and accurate even as new patterns emerge, making them more robust and flexible in the face of changing circumstances or evolving data.</a:t>
            </a:r>
          </a:p>
          <a:p>
            <a:pPr>
              <a:buNone/>
            </a:pPr>
            <a:r>
              <a:rPr lang="en-US" b="1" dirty="0"/>
              <a:t>3. Human-Defined Logic vs Self-Learning:</a:t>
            </a:r>
            <a:r>
              <a:rPr lang="en-US" dirty="0"/>
              <a:t> In traditional models, </a:t>
            </a:r>
            <a:r>
              <a:rPr lang="en-US" b="1" dirty="0"/>
              <a:t>human-defined logic</a:t>
            </a:r>
            <a:r>
              <a:rPr lang="en-US" dirty="0"/>
              <a:t> is central. Experts define all conditions, thresholds, and relationships within the system. The model follows the logic set by humans, which can be limiting when dealing with complex or unexpected situations. Machine learning models, however, are </a:t>
            </a:r>
            <a:r>
              <a:rPr lang="en-US" b="1" dirty="0"/>
              <a:t>self-learning</a:t>
            </a:r>
            <a:r>
              <a:rPr lang="en-US" dirty="0"/>
              <a:t>. They automatically improve as they are exposed to more data. This self-learning capability allows machine learning models to evolve and fine-tune their decision-making processes based on the data they encounter, without the need for constant human intervention or reprogramming.</a:t>
            </a:r>
          </a:p>
          <a:p>
            <a:r>
              <a:rPr lang="en-US" b="1" dirty="0"/>
              <a:t>4. Predictive Algorithms vs Adaptive Algorithms:</a:t>
            </a:r>
            <a:r>
              <a:rPr lang="en-US" dirty="0"/>
              <a:t> Traditional models rely on </a:t>
            </a:r>
            <a:r>
              <a:rPr lang="en-US" b="1" dirty="0"/>
              <a:t>predictive algorithms</a:t>
            </a:r>
            <a:r>
              <a:rPr lang="en-US" dirty="0"/>
              <a:t>, where the logic is assumed to be fixed and consistent across all scenarios. These models are designed to predict outcomes based on a predefined set of rules that do not change. However, machine learning models use </a:t>
            </a:r>
            <a:r>
              <a:rPr lang="en-US" b="1" dirty="0"/>
              <a:t>adaptive algorithms</a:t>
            </a:r>
            <a:r>
              <a:rPr lang="en-US" dirty="0"/>
              <a:t>, which can change and improve based on new data. When faced with new or unforeseen situations, machine learning models can adapt, learn, and refine their predictions, often improving their accuracy over time. This adaptability is crucial in environments where data is constantly evolving or where new patterns may emerge.</a:t>
            </a:r>
          </a:p>
          <a:p>
            <a:pPr>
              <a:buFont typeface="+mj-lt"/>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Machine Learning (ML) plays a significant role in automation, and its benefits are evident in several ways. First, </a:t>
            </a:r>
            <a:r>
              <a:rPr lang="en-US" b="1" dirty="0"/>
              <a:t>efficiency</a:t>
            </a:r>
            <a:r>
              <a:rPr lang="en-US" dirty="0"/>
              <a:t> is greatly enhanced when tasks that would typically take humans a long time are automated. For example, ML can automate repetitive tasks like data entry or responding to common customer support queries, saving businesses a lot of time and resources.</a:t>
            </a:r>
          </a:p>
          <a:p>
            <a:pPr>
              <a:buNone/>
            </a:pPr>
            <a:r>
              <a:rPr lang="en-US" dirty="0"/>
              <a:t>Next, </a:t>
            </a:r>
            <a:r>
              <a:rPr lang="en-US" b="1" dirty="0"/>
              <a:t>accuracy</a:t>
            </a:r>
            <a:r>
              <a:rPr lang="en-US" dirty="0"/>
              <a:t> is improved with ML because it can make fewer mistakes than humans. When used in processes like demand forecasting or fraud detection, ML can analyze large amounts of data and provide more precise predictions and insights. This means businesses can make better-informed decisions.</a:t>
            </a:r>
          </a:p>
          <a:p>
            <a:pPr>
              <a:buNone/>
            </a:pPr>
            <a:r>
              <a:rPr lang="en-US" dirty="0"/>
              <a:t>Another important aspect is </a:t>
            </a:r>
            <a:r>
              <a:rPr lang="en-US" b="1" dirty="0"/>
              <a:t>scalability</a:t>
            </a:r>
            <a:r>
              <a:rPr lang="en-US" dirty="0"/>
              <a:t>. Unlike humans, ML models are capable of handling and processing huge volumes of data quickly. This ability allows businesses to manage large datasets without the need for additional manual labor, something that would be challenging for human workers.</a:t>
            </a:r>
          </a:p>
          <a:p>
            <a:pPr>
              <a:buNone/>
            </a:pPr>
            <a:r>
              <a:rPr lang="en-US" b="1" dirty="0"/>
              <a:t>Cost reduction</a:t>
            </a:r>
            <a:r>
              <a:rPr lang="en-US" dirty="0"/>
              <a:t> is another major advantage. By automating tasks such as customer service with chatbots, businesses can significantly lower their operational costs. These automated systems can provide round-the-clock support without the need for human workers, reducing staffing costs.</a:t>
            </a:r>
          </a:p>
          <a:p>
            <a:r>
              <a:rPr lang="en-US" dirty="0"/>
              <a:t>Finally, ML helps with </a:t>
            </a:r>
            <a:r>
              <a:rPr lang="en-US" b="1" dirty="0"/>
              <a:t>personalization</a:t>
            </a:r>
            <a:r>
              <a:rPr lang="en-US" dirty="0"/>
              <a:t>. Companies can use ML to provide tailored recommendations or products to individual customers. For example, online stores can suggest products based on a customer's previous purchases or browsing history. This kind of personalization improves customer satisfaction and can lead to increased sales.</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The process of developing a machine learning (ML) model involves several key steps, each of which plays a crucial role in ensuring the model works effectively.</a:t>
            </a:r>
          </a:p>
          <a:p>
            <a:pPr>
              <a:buNone/>
            </a:pPr>
            <a:r>
              <a:rPr lang="en-US" b="1" dirty="0"/>
              <a:t>1. Data Collection:</a:t>
            </a:r>
            <a:br>
              <a:rPr lang="en-US" dirty="0"/>
            </a:br>
            <a:r>
              <a:rPr lang="en-US" dirty="0"/>
              <a:t>The first step in building an ML model is to gather the relevant data. This data can come from various sources such as databases, sensors, or APIs (Application Programming Interfaces). It's important to ensure that the data collected is of good quality. For this, you need to check for any missing values, duplicates, or errors in the data to ensure it's reliable for further analysis.</a:t>
            </a:r>
          </a:p>
          <a:p>
            <a:pPr>
              <a:buNone/>
            </a:pPr>
            <a:r>
              <a:rPr lang="en-US" b="1" dirty="0"/>
              <a:t>2. Data Preprocessing:</a:t>
            </a:r>
            <a:br>
              <a:rPr lang="en-US" dirty="0"/>
            </a:br>
            <a:r>
              <a:rPr lang="en-US" dirty="0"/>
              <a:t>Once the data is collected, it needs to be cleaned and transformed into a format that ML algorithms can work with. This step, called </a:t>
            </a:r>
            <a:r>
              <a:rPr lang="en-US" b="1" dirty="0"/>
              <a:t>data preprocessing</a:t>
            </a:r>
            <a:r>
              <a:rPr lang="en-US" dirty="0"/>
              <a:t>, includes handling missing values, removing outliers (values that don't fit well with the rest of the data), and scaling features (adjusting the data to a common range). These processes help the ML model learn better from the data.</a:t>
            </a:r>
          </a:p>
          <a:p>
            <a:pPr>
              <a:buNone/>
            </a:pPr>
            <a:r>
              <a:rPr lang="en-US" b="1" dirty="0"/>
              <a:t>3. Model Selection:</a:t>
            </a:r>
            <a:br>
              <a:rPr lang="en-US" dirty="0"/>
            </a:br>
            <a:r>
              <a:rPr lang="en-US" dirty="0"/>
              <a:t>After preprocessing, the next step is to choose the right machine learning model based on the problem you're trying to solve. For example, if you're predicting a continuous value (like house prices), you would use a </a:t>
            </a:r>
            <a:r>
              <a:rPr lang="en-US" b="1" dirty="0"/>
              <a:t>regression</a:t>
            </a:r>
            <a:r>
              <a:rPr lang="en-US" dirty="0"/>
              <a:t> model. If you're classifying data into categories (like whether an email is spam or not), a </a:t>
            </a:r>
            <a:r>
              <a:rPr lang="en-US" b="1" dirty="0"/>
              <a:t>classification</a:t>
            </a:r>
            <a:r>
              <a:rPr lang="en-US" dirty="0"/>
              <a:t> model is more suitable. Common models include decision trees, neural networks, and support vector machines.</a:t>
            </a:r>
          </a:p>
          <a:p>
            <a:pPr>
              <a:buNone/>
            </a:pPr>
            <a:r>
              <a:rPr lang="en-US" b="1" dirty="0"/>
              <a:t>4. Training the Model:</a:t>
            </a:r>
            <a:br>
              <a:rPr lang="en-US" dirty="0"/>
            </a:br>
            <a:r>
              <a:rPr lang="en-US" dirty="0"/>
              <a:t>Once you've selected the model, it's time to </a:t>
            </a:r>
            <a:r>
              <a:rPr lang="en-US" b="1" dirty="0"/>
              <a:t>train</a:t>
            </a:r>
            <a:r>
              <a:rPr lang="en-US" dirty="0"/>
              <a:t> it. This involves splitting the data into two parts: one for training and one for testing. The training set is used to teach the model by letting it find patterns in the data. It's important to </a:t>
            </a:r>
            <a:r>
              <a:rPr lang="en-US" b="1" dirty="0"/>
              <a:t>fine-tune</a:t>
            </a:r>
            <a:r>
              <a:rPr lang="en-US" dirty="0"/>
              <a:t> the model during this phase to help it learn the most accurate patterns.</a:t>
            </a:r>
          </a:p>
          <a:p>
            <a:pPr>
              <a:buNone/>
            </a:pPr>
            <a:r>
              <a:rPr lang="en-US" b="1" dirty="0"/>
              <a:t>5. Model Evaluation:</a:t>
            </a:r>
            <a:br>
              <a:rPr lang="en-US" dirty="0"/>
            </a:br>
            <a:r>
              <a:rPr lang="en-US" dirty="0"/>
              <a:t>After training, you need to </a:t>
            </a:r>
            <a:r>
              <a:rPr lang="en-US" b="1" dirty="0"/>
              <a:t>evaluate</a:t>
            </a:r>
            <a:r>
              <a:rPr lang="en-US" dirty="0"/>
              <a:t> the model’s performance using the testing set. This helps you understand how well the model performs in real-world scenarios. You can use various </a:t>
            </a:r>
            <a:r>
              <a:rPr lang="en-US" b="1" dirty="0"/>
              <a:t>performance metrics</a:t>
            </a:r>
            <a:r>
              <a:rPr lang="en-US" dirty="0"/>
              <a:t> like accuracy (how many predictions were correct), precision (how many of the predicted positive results were truly positive), and recall (how many of the actual positive results were identified). If the model doesn’t perform well, you might need to adjust the parameters to improve its performance.</a:t>
            </a:r>
          </a:p>
          <a:p>
            <a:pPr>
              <a:buNone/>
            </a:pPr>
            <a:r>
              <a:rPr lang="en-US" b="1" dirty="0"/>
              <a:t>6. Deployment:</a:t>
            </a:r>
            <a:br>
              <a:rPr lang="en-US" dirty="0"/>
            </a:br>
            <a:r>
              <a:rPr lang="en-US" dirty="0"/>
              <a:t>Once the model is trained and evaluated, it’s ready for </a:t>
            </a:r>
            <a:r>
              <a:rPr lang="en-US" b="1" dirty="0"/>
              <a:t>deployment</a:t>
            </a:r>
            <a:r>
              <a:rPr lang="en-US" dirty="0"/>
              <a:t>. This means implementing the model into a live system where it can start making real-time predictions or automate tasks. For example, a recommendation system for an online store might suggest products to customers based on their browsing history.</a:t>
            </a:r>
          </a:p>
          <a:p>
            <a:r>
              <a:rPr lang="en-US" b="1" dirty="0"/>
              <a:t>7. Monitoring and Maintenance:</a:t>
            </a:r>
            <a:br>
              <a:rPr lang="en-US" dirty="0"/>
            </a:br>
            <a:r>
              <a:rPr lang="en-US" dirty="0"/>
              <a:t>Even after the model is deployed, it’s important to continuously </a:t>
            </a:r>
            <a:r>
              <a:rPr lang="en-US" b="1" dirty="0"/>
              <a:t>monitor</a:t>
            </a:r>
            <a:r>
              <a:rPr lang="en-US" dirty="0"/>
              <a:t> its performance. As new data comes in, the model may need to be updated to maintain accuracy. Regular maintenance ensures the model stays effective and adapts to any changes in the data over time.</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3106220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Python is the most popular programming language for machine learning, and it is widely used due to its </a:t>
            </a:r>
            <a:r>
              <a:rPr lang="en-US" b="1" dirty="0"/>
              <a:t>simplicity</a:t>
            </a:r>
            <a:r>
              <a:rPr lang="en-US" dirty="0"/>
              <a:t> and </a:t>
            </a:r>
            <a:r>
              <a:rPr lang="en-US" b="1" dirty="0"/>
              <a:t>versatility</a:t>
            </a:r>
            <a:r>
              <a:rPr lang="en-US" dirty="0"/>
              <a:t>. The language is easy to read and understand, making it great for both beginners and experienced developers. Python also has a vast collection of </a:t>
            </a:r>
            <a:r>
              <a:rPr lang="en-US" b="1" dirty="0"/>
              <a:t>libraries</a:t>
            </a:r>
            <a:r>
              <a:rPr lang="en-US" dirty="0"/>
              <a:t> that make it incredibly powerful for machine learning tasks, such as data manipulation, visualization, and building sophisticated models. Libraries like </a:t>
            </a:r>
            <a:r>
              <a:rPr lang="en-US" b="1" dirty="0"/>
              <a:t>TensorFlow</a:t>
            </a:r>
            <a:r>
              <a:rPr lang="en-US" dirty="0"/>
              <a:t>, </a:t>
            </a:r>
            <a:r>
              <a:rPr lang="en-US" b="1" dirty="0"/>
              <a:t>Scikit-learn</a:t>
            </a:r>
            <a:r>
              <a:rPr lang="en-US" dirty="0"/>
              <a:t>, and </a:t>
            </a:r>
            <a:r>
              <a:rPr lang="en-US" b="1" dirty="0" err="1"/>
              <a:t>PyTorch</a:t>
            </a:r>
            <a:r>
              <a:rPr lang="en-US" dirty="0"/>
              <a:t> provide robust tools for creating and training machine learning models, from simple linear regressions to complex deep learning networks.</a:t>
            </a:r>
          </a:p>
          <a:p>
            <a:pPr>
              <a:buNone/>
            </a:pPr>
            <a:endParaRPr lang="en-US" dirty="0"/>
          </a:p>
          <a:p>
            <a:pPr>
              <a:buNone/>
            </a:pPr>
            <a:r>
              <a:rPr lang="en-US" dirty="0"/>
              <a:t>R is another highly preferred language for machine learning, especially in </a:t>
            </a:r>
            <a:r>
              <a:rPr lang="en-US" b="1" dirty="0"/>
              <a:t>statistical computing</a:t>
            </a:r>
            <a:r>
              <a:rPr lang="en-US" dirty="0"/>
              <a:t> and </a:t>
            </a:r>
            <a:r>
              <a:rPr lang="en-US" b="1" dirty="0"/>
              <a:t>data visualization</a:t>
            </a:r>
            <a:r>
              <a:rPr lang="en-US" dirty="0"/>
              <a:t>. R excels in data analysis and has extensive libraries for building machine learning models. It's particularly favored by statisticians and data scientists who focus on detailed data analysis and statistical testing. R also has excellent visualization tools, such as </a:t>
            </a:r>
            <a:r>
              <a:rPr lang="en-US" b="1" dirty="0"/>
              <a:t>ggplot2</a:t>
            </a:r>
            <a:r>
              <a:rPr lang="en-US" dirty="0"/>
              <a:t>, which make it easier to communicate data insights through graphical representations.</a:t>
            </a:r>
          </a:p>
          <a:p>
            <a:pPr>
              <a:buNone/>
            </a:pPr>
            <a:endParaRPr lang="en-US" dirty="0"/>
          </a:p>
          <a:p>
            <a:pPr>
              <a:buNone/>
            </a:pPr>
            <a:r>
              <a:rPr lang="en-US" b="1" dirty="0"/>
              <a:t>ML Frameworks &amp; Libraries:</a:t>
            </a:r>
            <a:endParaRPr lang="en-US" dirty="0"/>
          </a:p>
          <a:p>
            <a:pPr>
              <a:buNone/>
            </a:pPr>
            <a:r>
              <a:rPr lang="en-US" dirty="0"/>
              <a:t>TensorFlow is an open-source framework developed by Google for </a:t>
            </a:r>
            <a:r>
              <a:rPr lang="en-US" b="1" dirty="0"/>
              <a:t>deep learning</a:t>
            </a:r>
            <a:r>
              <a:rPr lang="en-US" dirty="0"/>
              <a:t> and building </a:t>
            </a:r>
            <a:r>
              <a:rPr lang="en-US" b="1" dirty="0"/>
              <a:t>neural networks</a:t>
            </a:r>
            <a:r>
              <a:rPr lang="en-US" dirty="0"/>
              <a:t>. It is highly scalable and can run on various platforms like CPUs, GPUs, and mobile devices. TensorFlow is widely used in areas like </a:t>
            </a:r>
            <a:r>
              <a:rPr lang="en-US" b="1" dirty="0"/>
              <a:t>image recognition</a:t>
            </a:r>
            <a:r>
              <a:rPr lang="en-US" dirty="0"/>
              <a:t>, </a:t>
            </a:r>
            <a:r>
              <a:rPr lang="en-US" b="1" dirty="0"/>
              <a:t>natural language processing (NLP)</a:t>
            </a:r>
            <a:r>
              <a:rPr lang="en-US" dirty="0"/>
              <a:t>, and </a:t>
            </a:r>
            <a:r>
              <a:rPr lang="en-US" b="1" dirty="0"/>
              <a:t>reinforcement learning</a:t>
            </a:r>
            <a:r>
              <a:rPr lang="en-US" dirty="0"/>
              <a:t>. It helps in building models that can classify images, understand text, and make decisions based on interactions with an environment.</a:t>
            </a:r>
          </a:p>
          <a:p>
            <a:pPr>
              <a:buNone/>
            </a:pPr>
            <a:endParaRPr lang="en-US" b="1" dirty="0"/>
          </a:p>
          <a:p>
            <a:pPr>
              <a:buNone/>
            </a:pPr>
            <a:r>
              <a:rPr lang="en-US" dirty="0" err="1"/>
              <a:t>Keras</a:t>
            </a:r>
            <a:r>
              <a:rPr lang="en-US" dirty="0"/>
              <a:t> is a high-level API for building neural networks. It runs on top of </a:t>
            </a:r>
            <a:r>
              <a:rPr lang="en-US" b="1" dirty="0"/>
              <a:t>TensorFlow</a:t>
            </a:r>
            <a:r>
              <a:rPr lang="en-US" dirty="0"/>
              <a:t>, making it easier to create and train deep learning models with a more user-friendly interface. </a:t>
            </a:r>
            <a:r>
              <a:rPr lang="en-US" dirty="0" err="1"/>
              <a:t>Keras</a:t>
            </a:r>
            <a:r>
              <a:rPr lang="en-US" dirty="0"/>
              <a:t> is used for </a:t>
            </a:r>
            <a:r>
              <a:rPr lang="en-US" b="1" dirty="0"/>
              <a:t>quick prototyping</a:t>
            </a:r>
            <a:r>
              <a:rPr lang="en-US" dirty="0"/>
              <a:t> and building deep learning models. It’s perfect for developers who want to build models quickly without getting into the complexities of lower-level programming.</a:t>
            </a:r>
          </a:p>
          <a:p>
            <a:pPr>
              <a:buNone/>
            </a:pPr>
            <a:endParaRPr lang="en-US" dirty="0"/>
          </a:p>
          <a:p>
            <a:pPr>
              <a:buNone/>
            </a:pPr>
            <a:r>
              <a:rPr lang="en-US" dirty="0"/>
              <a:t>Scikit-learn is a Python library that provides simple and efficient tools for </a:t>
            </a:r>
            <a:r>
              <a:rPr lang="en-US" b="1" dirty="0"/>
              <a:t>classical machine learning</a:t>
            </a:r>
            <a:r>
              <a:rPr lang="en-US" dirty="0"/>
              <a:t> algorithms. It focuses on data mining, data analysis, and modeling, and is built on top of </a:t>
            </a:r>
            <a:r>
              <a:rPr lang="en-US" b="1" dirty="0"/>
              <a:t>NumPy</a:t>
            </a:r>
            <a:r>
              <a:rPr lang="en-US" dirty="0"/>
              <a:t> and </a:t>
            </a:r>
            <a:r>
              <a:rPr lang="en-US" b="1" dirty="0"/>
              <a:t>SciPy</a:t>
            </a:r>
            <a:r>
              <a:rPr lang="en-US" dirty="0"/>
              <a:t>. Scikit-learn is used for a variety of machine learning tasks such as </a:t>
            </a:r>
            <a:r>
              <a:rPr lang="en-US" b="1" dirty="0"/>
              <a:t>regression</a:t>
            </a:r>
            <a:r>
              <a:rPr lang="en-US" dirty="0"/>
              <a:t>, </a:t>
            </a:r>
            <a:r>
              <a:rPr lang="en-US" b="1" dirty="0"/>
              <a:t>classification</a:t>
            </a:r>
            <a:r>
              <a:rPr lang="en-US" dirty="0"/>
              <a:t>, </a:t>
            </a:r>
            <a:r>
              <a:rPr lang="en-US" b="1" dirty="0"/>
              <a:t>clustering</a:t>
            </a:r>
            <a:r>
              <a:rPr lang="en-US" dirty="0"/>
              <a:t>, and </a:t>
            </a:r>
            <a:r>
              <a:rPr lang="en-US" b="1" dirty="0"/>
              <a:t>model evaluation</a:t>
            </a:r>
            <a:r>
              <a:rPr lang="en-US" dirty="0"/>
              <a:t>. It's ideal for tasks like predicting outcomes, segmenting customers, or evaluating the effectiveness of different models.</a:t>
            </a:r>
          </a:p>
          <a:p>
            <a:pPr>
              <a:buNone/>
            </a:pPr>
            <a:endParaRPr lang="en-US" dirty="0"/>
          </a:p>
          <a:p>
            <a:pPr>
              <a:buNone/>
            </a:pPr>
            <a:r>
              <a:rPr lang="en-US" dirty="0" err="1"/>
              <a:t>PyTorch</a:t>
            </a:r>
            <a:r>
              <a:rPr lang="en-US" dirty="0"/>
              <a:t> is an open-source deep learning framework developed by Facebook. It's known for its </a:t>
            </a:r>
            <a:r>
              <a:rPr lang="en-US" b="1" dirty="0"/>
              <a:t>dynamic computation graph</a:t>
            </a:r>
            <a:r>
              <a:rPr lang="en-US" dirty="0"/>
              <a:t>, which allows for greater flexibility when building neural networks and debugging models. </a:t>
            </a:r>
            <a:r>
              <a:rPr lang="en-US" dirty="0" err="1"/>
              <a:t>PyTorch</a:t>
            </a:r>
            <a:r>
              <a:rPr lang="en-US" dirty="0"/>
              <a:t> is widely used in </a:t>
            </a:r>
            <a:r>
              <a:rPr lang="en-US" b="1" dirty="0"/>
              <a:t>research and development</a:t>
            </a:r>
            <a:r>
              <a:rPr lang="en-US" dirty="0"/>
              <a:t>, especially in areas like </a:t>
            </a:r>
            <a:r>
              <a:rPr lang="en-US" b="1" dirty="0"/>
              <a:t>NLP</a:t>
            </a:r>
            <a:r>
              <a:rPr lang="en-US" dirty="0"/>
              <a:t>, </a:t>
            </a:r>
            <a:r>
              <a:rPr lang="en-US" b="1" dirty="0"/>
              <a:t>computer vision</a:t>
            </a:r>
            <a:r>
              <a:rPr lang="en-US" dirty="0"/>
              <a:t>, and deep learning tasks. Its flexibility makes it an excellent choice for experimenting with new algorithms and architectures in research environments.</a:t>
            </a:r>
          </a:p>
          <a:p>
            <a:pPr>
              <a:buNone/>
            </a:pPr>
            <a:endParaRPr lang="en-US" dirty="0"/>
          </a:p>
          <a:p>
            <a:pPr>
              <a:buNone/>
            </a:pPr>
            <a:r>
              <a:rPr lang="en-US" dirty="0" err="1"/>
              <a:t>XGBoost</a:t>
            </a:r>
            <a:r>
              <a:rPr lang="en-US" dirty="0"/>
              <a:t> is a popular library designed for </a:t>
            </a:r>
            <a:r>
              <a:rPr lang="en-US" b="1" dirty="0"/>
              <a:t>boosting algorithms</a:t>
            </a:r>
            <a:r>
              <a:rPr lang="en-US" dirty="0"/>
              <a:t>, particularly focused on enhancing the performance of machine learning models. It is efficient and widely used for structured/tabular data. </a:t>
            </a:r>
            <a:r>
              <a:rPr lang="en-US" dirty="0" err="1"/>
              <a:t>XGBoost</a:t>
            </a:r>
            <a:r>
              <a:rPr lang="en-US" dirty="0"/>
              <a:t> is most commonly used for </a:t>
            </a:r>
            <a:r>
              <a:rPr lang="en-US" b="1" dirty="0"/>
              <a:t>classification</a:t>
            </a:r>
            <a:r>
              <a:rPr lang="en-US" dirty="0"/>
              <a:t> and </a:t>
            </a:r>
            <a:r>
              <a:rPr lang="en-US" b="1" dirty="0"/>
              <a:t>regression</a:t>
            </a:r>
            <a:r>
              <a:rPr lang="en-US" dirty="0"/>
              <a:t> tasks, particularly when dealing with structured data like customer data or sales data. It has become a go-to method for many Kaggle competition winners due to its accuracy and speed.</a:t>
            </a:r>
          </a:p>
          <a:p>
            <a:pPr>
              <a:buNone/>
            </a:pPr>
            <a:endParaRPr lang="en-US" dirty="0"/>
          </a:p>
          <a:p>
            <a:pPr>
              <a:buNone/>
            </a:pPr>
            <a:r>
              <a:rPr lang="en-US" b="1" dirty="0"/>
              <a:t>Cloud</a:t>
            </a:r>
          </a:p>
          <a:p>
            <a:pPr>
              <a:buNone/>
            </a:pPr>
            <a:r>
              <a:rPr lang="en-US" dirty="0"/>
              <a:t>Google Cloud AI provides a variety of powerful tools for building and deploying machine learning (ML) models. These tools include </a:t>
            </a:r>
            <a:r>
              <a:rPr lang="en-US" b="1" dirty="0" err="1"/>
              <a:t>AutoML</a:t>
            </a:r>
            <a:r>
              <a:rPr lang="en-US" dirty="0"/>
              <a:t>, which allows users to create custom models with minimal coding, and other custom AI solutions tailored to different business needs. Google Cloud AI is commonly used for </a:t>
            </a:r>
            <a:r>
              <a:rPr lang="en-US" b="1" dirty="0"/>
              <a:t>managed ML services</a:t>
            </a:r>
            <a:r>
              <a:rPr lang="en-US" dirty="0"/>
              <a:t> in </a:t>
            </a:r>
            <a:r>
              <a:rPr lang="en-US" b="1" dirty="0"/>
              <a:t>large-scale applications</a:t>
            </a:r>
            <a:r>
              <a:rPr lang="en-US" dirty="0"/>
              <a:t>. It's ideal for businesses that need to build and deploy AI solutions quickly without managing the underlying infrastructure themselves. This platform is also useful for companies looking to integrate AI into their existing operations, such as in image recognition or predictive analytics.</a:t>
            </a:r>
          </a:p>
          <a:p>
            <a:pPr>
              <a:buNone/>
            </a:pPr>
            <a:endParaRPr lang="en-US" dirty="0"/>
          </a:p>
          <a:p>
            <a:pPr>
              <a:buNone/>
            </a:pPr>
            <a:r>
              <a:rPr lang="en-US" dirty="0"/>
              <a:t>AWS offers a range of cloud-based services, including </a:t>
            </a:r>
            <a:r>
              <a:rPr lang="en-US" b="1" dirty="0" err="1"/>
              <a:t>SageMaker</a:t>
            </a:r>
            <a:r>
              <a:rPr lang="en-US" dirty="0"/>
              <a:t>, which is an integrated environment for developing, training, and deploying ML models. AWS provides scalable computing power and storage, making it easy to handle large datasets and complex ML tasks. AWS is used for </a:t>
            </a:r>
            <a:r>
              <a:rPr lang="en-US" b="1" dirty="0"/>
              <a:t>scalable ML workflows</a:t>
            </a:r>
            <a:r>
              <a:rPr lang="en-US" dirty="0"/>
              <a:t> and </a:t>
            </a:r>
            <a:r>
              <a:rPr lang="en-US" b="1" dirty="0"/>
              <a:t>cloud-based deployment</a:t>
            </a:r>
            <a:r>
              <a:rPr lang="en-US" dirty="0"/>
              <a:t>. It's an excellent choice for businesses needing to train large models or deploy AI solutions across multiple regions. </a:t>
            </a:r>
            <a:r>
              <a:rPr lang="en-US" dirty="0" err="1"/>
              <a:t>SageMaker</a:t>
            </a:r>
            <a:r>
              <a:rPr lang="en-US" dirty="0"/>
              <a:t>, in particular, is well-suited for companies that want an end-to-end solution for building and deploying machine learning models at scale.</a:t>
            </a:r>
          </a:p>
          <a:p>
            <a:pPr>
              <a:buNone/>
            </a:pPr>
            <a:endParaRPr lang="en-US" dirty="0"/>
          </a:p>
          <a:p>
            <a:pPr>
              <a:buNone/>
            </a:pPr>
            <a:r>
              <a:rPr lang="en-US" dirty="0"/>
              <a:t>Microsoft Azure offers </a:t>
            </a:r>
            <a:r>
              <a:rPr lang="en-US" b="1" dirty="0"/>
              <a:t>Azure Machine Learning</a:t>
            </a:r>
            <a:r>
              <a:rPr lang="en-US" dirty="0"/>
              <a:t>, a platform for creating, training, and deploying machine learning models. Azure provides a range of tools that allow businesses to work on AI projects in a collaborative and scalable way. Azure is often used for </a:t>
            </a:r>
            <a:r>
              <a:rPr lang="en-US" b="1" dirty="0"/>
              <a:t>enterprise-level ML applications</a:t>
            </a:r>
            <a:r>
              <a:rPr lang="en-US" dirty="0"/>
              <a:t>. It supports businesses that require a robust, secure platform for deploying machine learning models in production environments. This makes Azure ideal for large organizations looking to implement AI solutions across various departments, such as finance, marketing, and healthcare.</a:t>
            </a:r>
          </a:p>
          <a:p>
            <a:pPr>
              <a:buNone/>
            </a:pPr>
            <a:endParaRPr lang="en-US" dirty="0"/>
          </a:p>
          <a:p>
            <a:pPr>
              <a:buNone/>
            </a:pPr>
            <a:endParaRPr lang="en-US" dirty="0"/>
          </a:p>
          <a:p>
            <a:pPr>
              <a:buNone/>
            </a:pPr>
            <a:endParaRPr lang="en-US" dirty="0"/>
          </a:p>
          <a:p>
            <a:pPr>
              <a:buNone/>
            </a:pPr>
            <a:endParaRPr lang="en-US" dirty="0"/>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2141075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DD63-3B68-FF30-B327-6A2254E79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8437C-2A33-B47A-05B1-C1553FFE2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0A9E6-C8CE-AB19-1D0B-FD6101736F84}"/>
              </a:ext>
            </a:extLst>
          </p:cNvPr>
          <p:cNvSpPr>
            <a:spLocks noGrp="1"/>
          </p:cNvSpPr>
          <p:nvPr>
            <p:ph type="body" idx="1"/>
          </p:nvPr>
        </p:nvSpPr>
        <p:spPr/>
        <p:txBody>
          <a:bodyPr/>
          <a:lstStyle/>
          <a:p>
            <a:pPr>
              <a:buNone/>
            </a:pPr>
            <a:r>
              <a:rPr lang="en-US" b="1" dirty="0"/>
              <a:t>Supervised Learning:</a:t>
            </a:r>
            <a:endParaRPr lang="en-US" dirty="0"/>
          </a:p>
          <a:p>
            <a:pPr>
              <a:buNone/>
            </a:pPr>
            <a:r>
              <a:rPr lang="en-US" b="1" dirty="0"/>
              <a:t>Definition:</a:t>
            </a:r>
            <a:br>
              <a:rPr lang="en-US" dirty="0"/>
            </a:br>
            <a:r>
              <a:rPr lang="en-US" dirty="0"/>
              <a:t>Supervised learning is a type of machine learning where the model is trained using </a:t>
            </a:r>
            <a:r>
              <a:rPr lang="en-US" b="1" dirty="0"/>
              <a:t>labeled data</a:t>
            </a:r>
            <a:r>
              <a:rPr lang="en-US" dirty="0"/>
              <a:t>. This means that the data used for training consists of </a:t>
            </a:r>
            <a:r>
              <a:rPr lang="en-US" b="1" dirty="0"/>
              <a:t>input-output pairs</a:t>
            </a:r>
            <a:r>
              <a:rPr lang="en-US" dirty="0"/>
              <a:t>, where the </a:t>
            </a:r>
            <a:r>
              <a:rPr lang="en-US" b="1" dirty="0"/>
              <a:t>desired output</a:t>
            </a:r>
            <a:r>
              <a:rPr lang="en-US" dirty="0"/>
              <a:t> is already known. The model learns by being provided with both the input data (features) and the correct answers (labels).</a:t>
            </a:r>
          </a:p>
          <a:p>
            <a:pPr>
              <a:buNone/>
            </a:pPr>
            <a:r>
              <a:rPr lang="en-US" b="1" dirty="0"/>
              <a:t>How It Works:</a:t>
            </a:r>
            <a:br>
              <a:rPr lang="en-US" dirty="0"/>
            </a:br>
            <a:r>
              <a:rPr lang="en-US" dirty="0"/>
              <a:t>In supervised learning, the algorithm works by learning from the training data. It </a:t>
            </a:r>
            <a:r>
              <a:rPr lang="en-US" b="1" dirty="0"/>
              <a:t>compares its predictions</a:t>
            </a:r>
            <a:r>
              <a:rPr lang="en-US" dirty="0"/>
              <a:t> (what it thinks the output should be) to the </a:t>
            </a:r>
            <a:r>
              <a:rPr lang="en-US" b="1" dirty="0"/>
              <a:t>actual results</a:t>
            </a:r>
            <a:r>
              <a:rPr lang="en-US" dirty="0"/>
              <a:t> (the known output). By doing this repeatedly, the model adjusts itself to improve accuracy. Over time, it gets better at predicting the output for new, unseen data.</a:t>
            </a:r>
          </a:p>
          <a:p>
            <a:r>
              <a:rPr lang="en-US" b="1" dirty="0"/>
              <a:t>Example Use Case:</a:t>
            </a:r>
            <a:br>
              <a:rPr lang="en-US" dirty="0"/>
            </a:br>
            <a:r>
              <a:rPr lang="en-US" dirty="0"/>
              <a:t>An example of supervised learning is </a:t>
            </a:r>
            <a:r>
              <a:rPr lang="en-US" b="1" dirty="0"/>
              <a:t>email spam classification</a:t>
            </a:r>
            <a:r>
              <a:rPr lang="en-US" dirty="0"/>
              <a:t>. In this case, emails are labeled as either </a:t>
            </a:r>
            <a:r>
              <a:rPr lang="en-US" b="1" dirty="0"/>
              <a:t>'spam'</a:t>
            </a:r>
            <a:r>
              <a:rPr lang="en-US" dirty="0"/>
              <a:t> or </a:t>
            </a:r>
            <a:r>
              <a:rPr lang="en-US" b="1" dirty="0"/>
              <a:t>'not spam'</a:t>
            </a:r>
            <a:r>
              <a:rPr lang="en-US" dirty="0"/>
              <a:t>. The algorithm is trained with many emails where the label (spam or not) is known. It then learns patterns in the data (like certain keywords or phrases) and applies this knowledge to classify new emails.</a:t>
            </a:r>
          </a:p>
          <a:p>
            <a:pPr>
              <a:buNone/>
            </a:pPr>
            <a:endParaRPr lang="en-US" dirty="0"/>
          </a:p>
          <a:p>
            <a:pPr>
              <a:buNone/>
            </a:pPr>
            <a:endParaRPr lang="en-US" dirty="0"/>
          </a:p>
          <a:p>
            <a:pPr>
              <a:buNone/>
            </a:pPr>
            <a:r>
              <a:rPr lang="en-US" b="1" dirty="0"/>
              <a:t>Unsupervised Learning:</a:t>
            </a:r>
            <a:endParaRPr lang="en-US" dirty="0"/>
          </a:p>
          <a:p>
            <a:pPr>
              <a:buNone/>
            </a:pPr>
            <a:r>
              <a:rPr lang="en-US" b="1" dirty="0"/>
              <a:t>Definition:</a:t>
            </a:r>
            <a:br>
              <a:rPr lang="en-US" dirty="0"/>
            </a:br>
            <a:r>
              <a:rPr lang="en-US" dirty="0"/>
              <a:t>Unsupervised learning is a type of machine learning where the model is given </a:t>
            </a:r>
            <a:r>
              <a:rPr lang="en-US" b="1" dirty="0"/>
              <a:t>data without labeled outcomes</a:t>
            </a:r>
            <a:r>
              <a:rPr lang="en-US" dirty="0"/>
              <a:t>. This means that the algorithm does not have any predefined answers (like in supervised learning). Instead, it must explore the data and </a:t>
            </a:r>
            <a:r>
              <a:rPr lang="en-US" b="1" dirty="0"/>
              <a:t>find hidden patterns or groupings</a:t>
            </a:r>
            <a:r>
              <a:rPr lang="en-US" dirty="0"/>
              <a:t> on its own.</a:t>
            </a:r>
          </a:p>
          <a:p>
            <a:pPr>
              <a:buNone/>
            </a:pPr>
            <a:r>
              <a:rPr lang="en-US" b="1" dirty="0"/>
              <a:t>How It Works:</a:t>
            </a:r>
            <a:br>
              <a:rPr lang="en-US" dirty="0"/>
            </a:br>
            <a:r>
              <a:rPr lang="en-US" dirty="0"/>
              <a:t>In unsupervised learning, the algorithm analyzes the data to identify patterns, clusters, or structures. It </a:t>
            </a:r>
            <a:r>
              <a:rPr lang="en-US" b="1" dirty="0"/>
              <a:t>clusters similar data points</a:t>
            </a:r>
            <a:r>
              <a:rPr lang="en-US" dirty="0"/>
              <a:t> together or detects underlying relationships within the data. Unlike supervised learning, there is no specific "correct" answer to compare the predictions to. Instead, the model's goal is to find meaningful insights from the data on its own.</a:t>
            </a:r>
          </a:p>
          <a:p>
            <a:r>
              <a:rPr lang="en-US" b="1" dirty="0"/>
              <a:t>Example Use Case:</a:t>
            </a:r>
            <a:br>
              <a:rPr lang="en-US" dirty="0"/>
            </a:br>
            <a:r>
              <a:rPr lang="en-US" dirty="0"/>
              <a:t>A common example of unsupervised learning is </a:t>
            </a:r>
            <a:r>
              <a:rPr lang="en-US" b="1" dirty="0"/>
              <a:t>customer segmentation</a:t>
            </a:r>
            <a:r>
              <a:rPr lang="en-US" dirty="0"/>
              <a:t> in marketing. Businesses can use unsupervised learning to group customers based on their </a:t>
            </a:r>
            <a:r>
              <a:rPr lang="en-US" b="1" dirty="0"/>
              <a:t>purchasing behavior</a:t>
            </a:r>
            <a:r>
              <a:rPr lang="en-US" dirty="0"/>
              <a:t> without knowing beforehand what types of groups exist. The algorithm might identify clusters of customers with similar shopping habits, allowing the business to target each group with more personalized marketing strategies.</a:t>
            </a:r>
          </a:p>
          <a:p>
            <a:pPr>
              <a:buNone/>
            </a:pPr>
            <a:endParaRPr lang="en-US" dirty="0"/>
          </a:p>
          <a:p>
            <a:pPr>
              <a:buNone/>
            </a:pPr>
            <a:endParaRPr lang="en-US" dirty="0"/>
          </a:p>
          <a:p>
            <a:pPr>
              <a:buNone/>
            </a:pPr>
            <a:endParaRPr lang="en-US" dirty="0"/>
          </a:p>
          <a:p>
            <a:pPr>
              <a:buNone/>
            </a:pPr>
            <a:r>
              <a:rPr lang="en-US" b="1" dirty="0"/>
              <a:t>Reinforcement Learning:</a:t>
            </a:r>
            <a:endParaRPr lang="en-US" dirty="0"/>
          </a:p>
          <a:p>
            <a:pPr>
              <a:buNone/>
            </a:pPr>
            <a:r>
              <a:rPr lang="en-US" b="1" dirty="0"/>
              <a:t>Definition:</a:t>
            </a:r>
            <a:br>
              <a:rPr lang="en-US" dirty="0"/>
            </a:br>
            <a:r>
              <a:rPr lang="en-US" dirty="0"/>
              <a:t>Reinforcement learning is a type of machine learning where the model, called an </a:t>
            </a:r>
            <a:r>
              <a:rPr lang="en-US" b="1" dirty="0"/>
              <a:t>agent</a:t>
            </a:r>
            <a:r>
              <a:rPr lang="en-US" dirty="0"/>
              <a:t>, learns by interacting with an </a:t>
            </a:r>
            <a:r>
              <a:rPr lang="en-US" b="1" dirty="0"/>
              <a:t>environment</a:t>
            </a:r>
            <a:r>
              <a:rPr lang="en-US" dirty="0"/>
              <a:t>. The agent takes actions and receives </a:t>
            </a:r>
            <a:r>
              <a:rPr lang="en-US" b="1" dirty="0"/>
              <a:t>rewards or penalties</a:t>
            </a:r>
            <a:r>
              <a:rPr lang="en-US" dirty="0"/>
              <a:t> based on those actions. The goal is for the agent to learn which actions lead to the best outcomes over time.</a:t>
            </a:r>
          </a:p>
          <a:p>
            <a:pPr>
              <a:buNone/>
            </a:pPr>
            <a:r>
              <a:rPr lang="en-US" b="1" dirty="0"/>
              <a:t>How It Works:</a:t>
            </a:r>
            <a:br>
              <a:rPr lang="en-US" dirty="0"/>
            </a:br>
            <a:r>
              <a:rPr lang="en-US" dirty="0"/>
              <a:t>In reinforcement learning, the agent </a:t>
            </a:r>
            <a:r>
              <a:rPr lang="en-US" b="1" dirty="0"/>
              <a:t>makes decisions</a:t>
            </a:r>
            <a:r>
              <a:rPr lang="en-US" dirty="0"/>
              <a:t> based on the current state of the environment. After taking an action, the agent receives </a:t>
            </a:r>
            <a:r>
              <a:rPr lang="en-US" b="1" dirty="0"/>
              <a:t>feedback</a:t>
            </a:r>
            <a:r>
              <a:rPr lang="en-US" dirty="0"/>
              <a:t> in the form of a </a:t>
            </a:r>
            <a:r>
              <a:rPr lang="en-US" b="1" dirty="0"/>
              <a:t>reward</a:t>
            </a:r>
            <a:r>
              <a:rPr lang="en-US" dirty="0"/>
              <a:t> (positive feedback) or a </a:t>
            </a:r>
            <a:r>
              <a:rPr lang="en-US" b="1" dirty="0"/>
              <a:t>penalty</a:t>
            </a:r>
            <a:r>
              <a:rPr lang="en-US" dirty="0"/>
              <a:t> (negative feedback). This feedback helps the agent </a:t>
            </a:r>
            <a:r>
              <a:rPr lang="en-US" b="1" dirty="0"/>
              <a:t>adjust its strategy</a:t>
            </a:r>
            <a:r>
              <a:rPr lang="en-US" dirty="0"/>
              <a:t> to maximize rewards. Over time, the agent learns the best sequence of actions to achieve its goal, optimizing its behavior through trial and error.</a:t>
            </a:r>
          </a:p>
          <a:p>
            <a:r>
              <a:rPr lang="en-US" b="1" dirty="0"/>
              <a:t>Example Use Case:</a:t>
            </a:r>
            <a:br>
              <a:rPr lang="en-US" dirty="0"/>
            </a:br>
            <a:r>
              <a:rPr lang="en-US" dirty="0"/>
              <a:t>An example of reinforcement learning is </a:t>
            </a:r>
            <a:r>
              <a:rPr lang="en-US" b="1" dirty="0"/>
              <a:t>self-driving cars</a:t>
            </a:r>
            <a:r>
              <a:rPr lang="en-US" dirty="0"/>
              <a:t>. These cars learn how to navigate by making decisions (e.g., turning, speeding up, slowing down) and receiving feedback in the form of rewards (successful navigation) or penalties (e.g., colliding with obstacles). Over time, the car learns the most effective driving strategy to safely and efficiently reach its destination.</a:t>
            </a:r>
          </a:p>
          <a:p>
            <a:pPr>
              <a:buNone/>
            </a:pPr>
            <a:endParaRPr lang="en-US" dirty="0"/>
          </a:p>
        </p:txBody>
      </p:sp>
      <p:sp>
        <p:nvSpPr>
          <p:cNvPr id="4" name="Slide Number Placeholder 3">
            <a:extLst>
              <a:ext uri="{FF2B5EF4-FFF2-40B4-BE49-F238E27FC236}">
                <a16:creationId xmlns:a16="http://schemas.microsoft.com/office/drawing/2014/main" id="{D2EB8E6D-5909-B9A3-4338-7553EA80D3DA}"/>
              </a:ext>
            </a:extLst>
          </p:cNvPr>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4263380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CD27C-4DE9-5A8E-55F0-9513BCBC2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9684C-A0A2-FE90-4D86-957E368EA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111F6-1D08-9B78-9326-51C4E044E6AD}"/>
              </a:ext>
            </a:extLst>
          </p:cNvPr>
          <p:cNvSpPr>
            <a:spLocks noGrp="1"/>
          </p:cNvSpPr>
          <p:nvPr>
            <p:ph type="body" idx="1"/>
          </p:nvPr>
        </p:nvSpPr>
        <p:spPr/>
        <p:txBody>
          <a:bodyPr/>
          <a:lstStyle/>
          <a:p>
            <a:pPr>
              <a:buNone/>
            </a:pPr>
            <a:r>
              <a:rPr lang="en-US" b="1" dirty="0"/>
              <a:t>1. Data Quality Issues:</a:t>
            </a:r>
            <a:br>
              <a:rPr lang="en-US" dirty="0"/>
            </a:br>
            <a:r>
              <a:rPr lang="en-US" dirty="0"/>
              <a:t>Data quality is critical in machine learning. If the data is of poor quality—such as being </a:t>
            </a:r>
            <a:r>
              <a:rPr lang="en-US" b="1" dirty="0"/>
              <a:t>incomplete</a:t>
            </a:r>
            <a:r>
              <a:rPr lang="en-US" dirty="0"/>
              <a:t>, </a:t>
            </a:r>
            <a:r>
              <a:rPr lang="en-US" b="1" dirty="0"/>
              <a:t>inconsistent</a:t>
            </a:r>
            <a:r>
              <a:rPr lang="en-US" dirty="0"/>
              <a:t>, or </a:t>
            </a:r>
            <a:r>
              <a:rPr lang="en-US" b="1" dirty="0"/>
              <a:t>noisy</a:t>
            </a:r>
            <a:r>
              <a:rPr lang="en-US" dirty="0"/>
              <a:t>—it can lead to </a:t>
            </a:r>
            <a:r>
              <a:rPr lang="en-US" b="1" dirty="0"/>
              <a:t>inaccurate predictions</a:t>
            </a:r>
            <a:r>
              <a:rPr lang="en-US" dirty="0"/>
              <a:t>. For example, missing values, incorrect labels, or random errors in the data can cause the model to learn incorrect patterns, resulting in poor performance when making predictions on new data.</a:t>
            </a:r>
          </a:p>
          <a:p>
            <a:pPr>
              <a:buNone/>
            </a:pPr>
            <a:r>
              <a:rPr lang="en-US" b="1" dirty="0"/>
              <a:t>2. Overfitting:</a:t>
            </a:r>
            <a:br>
              <a:rPr lang="en-US" dirty="0"/>
            </a:br>
            <a:r>
              <a:rPr lang="en-US" dirty="0"/>
              <a:t>Overfitting happens when the model becomes </a:t>
            </a:r>
            <a:r>
              <a:rPr lang="en-US" b="1" dirty="0"/>
              <a:t>too complex</a:t>
            </a:r>
            <a:r>
              <a:rPr lang="en-US" dirty="0"/>
              <a:t> and learns the training data </a:t>
            </a:r>
            <a:r>
              <a:rPr lang="en-US" b="1" dirty="0"/>
              <a:t>too well</a:t>
            </a:r>
            <a:r>
              <a:rPr lang="en-US" dirty="0"/>
              <a:t>, including its noise and fluctuations. While the model may perform very well on the training data, it struggles to generalize to new, unseen data. This results in </a:t>
            </a:r>
            <a:r>
              <a:rPr lang="en-US" b="1" dirty="0"/>
              <a:t>poor performance</a:t>
            </a:r>
            <a:r>
              <a:rPr lang="en-US" dirty="0"/>
              <a:t> on real-world data. It's like memorizing answers instead of learning the underlying concepts.</a:t>
            </a:r>
          </a:p>
          <a:p>
            <a:pPr>
              <a:buNone/>
            </a:pPr>
            <a:r>
              <a:rPr lang="en-US" b="1" dirty="0"/>
              <a:t>3. Underfitting:</a:t>
            </a:r>
            <a:br>
              <a:rPr lang="en-US" dirty="0"/>
            </a:br>
            <a:r>
              <a:rPr lang="en-US" dirty="0"/>
              <a:t>Underfitting occurs when the model is </a:t>
            </a:r>
            <a:r>
              <a:rPr lang="en-US" b="1" dirty="0"/>
              <a:t>too simple</a:t>
            </a:r>
            <a:r>
              <a:rPr lang="en-US" dirty="0"/>
              <a:t> and fails to capture important patterns in the data. The model does not learn enough from the data, and as a result, it performs poorly even on the training data. Underfitting can happen if the model is not complex enough or if it lacks the features necessary to make accurate predictions.</a:t>
            </a:r>
          </a:p>
          <a:p>
            <a:pPr>
              <a:buNone/>
            </a:pPr>
            <a:r>
              <a:rPr lang="en-US" b="1" dirty="0"/>
              <a:t>4. Bias in Data:</a:t>
            </a:r>
            <a:br>
              <a:rPr lang="en-US" dirty="0"/>
            </a:br>
            <a:r>
              <a:rPr lang="en-US" dirty="0"/>
              <a:t>If the training data is </a:t>
            </a:r>
            <a:r>
              <a:rPr lang="en-US" b="1" dirty="0"/>
              <a:t>biased</a:t>
            </a:r>
            <a:r>
              <a:rPr lang="en-US" dirty="0"/>
              <a:t> or </a:t>
            </a:r>
            <a:r>
              <a:rPr lang="en-US" b="1" dirty="0"/>
              <a:t>unrepresentative</a:t>
            </a:r>
            <a:r>
              <a:rPr lang="en-US" dirty="0"/>
              <a:t>, the model will also be biased. This leads to unfair or inaccurate outcomes, especially in sensitive areas like </a:t>
            </a:r>
            <a:r>
              <a:rPr lang="en-US" b="1" dirty="0"/>
              <a:t>recruitment</a:t>
            </a:r>
            <a:r>
              <a:rPr lang="en-US" dirty="0"/>
              <a:t> or </a:t>
            </a:r>
            <a:r>
              <a:rPr lang="en-US" b="1" dirty="0"/>
              <a:t>loan approval</a:t>
            </a:r>
            <a:r>
              <a:rPr lang="en-US" dirty="0"/>
              <a:t>. For example, if a hiring model is trained on biased data that favors one gender or ethnicity, it may make decisions that unfairly disadvantage others.</a:t>
            </a:r>
          </a:p>
          <a:p>
            <a:pPr>
              <a:buNone/>
            </a:pPr>
            <a:r>
              <a:rPr lang="en-US" b="1" dirty="0"/>
              <a:t>5. Lack of Interpretability:</a:t>
            </a:r>
            <a:br>
              <a:rPr lang="en-US" dirty="0"/>
            </a:br>
            <a:r>
              <a:rPr lang="en-US" dirty="0"/>
              <a:t>Many machine learning models, particularly </a:t>
            </a:r>
            <a:r>
              <a:rPr lang="en-US" b="1" dirty="0"/>
              <a:t>deep learning</a:t>
            </a:r>
            <a:r>
              <a:rPr lang="en-US" dirty="0"/>
              <a:t> models, are considered "</a:t>
            </a:r>
            <a:r>
              <a:rPr lang="en-US" b="1" dirty="0"/>
              <a:t>black boxes</a:t>
            </a:r>
            <a:r>
              <a:rPr lang="en-US" dirty="0"/>
              <a:t>" due to their complexity. This means it's difficult to understand how the model makes its decisions. Lack of interpretability can be a problem, especially in critical applications like healthcare or finance, where understanding the reasoning behind a decision is important for trust and accountability.</a:t>
            </a:r>
          </a:p>
          <a:p>
            <a:pPr>
              <a:buNone/>
            </a:pPr>
            <a:r>
              <a:rPr lang="en-US" b="1" dirty="0"/>
              <a:t>6. Computational Costs:</a:t>
            </a:r>
            <a:br>
              <a:rPr lang="en-US" dirty="0"/>
            </a:br>
            <a:r>
              <a:rPr lang="en-US" dirty="0"/>
              <a:t>Training and deploying complex machine learning models can require significant computational resources. </a:t>
            </a:r>
            <a:r>
              <a:rPr lang="en-US" b="1" dirty="0"/>
              <a:t>High-performance hardware</a:t>
            </a:r>
            <a:r>
              <a:rPr lang="en-US" dirty="0"/>
              <a:t>, like GPUs or specialized servers, is often needed to handle the intense processing required for large datasets and complex models. This can lead to </a:t>
            </a:r>
            <a:r>
              <a:rPr lang="en-US" b="1" dirty="0"/>
              <a:t>high computational costs</a:t>
            </a:r>
            <a:r>
              <a:rPr lang="en-US" dirty="0"/>
              <a:t>, which might be a barrier for small businesses or researchers with limited resources.</a:t>
            </a:r>
          </a:p>
          <a:p>
            <a:r>
              <a:rPr lang="en-US" b="1" dirty="0"/>
              <a:t>7. Ethical Concerns:</a:t>
            </a:r>
            <a:br>
              <a:rPr lang="en-US" dirty="0"/>
            </a:br>
            <a:r>
              <a:rPr lang="en-US" dirty="0"/>
              <a:t>Machine learning models can inadvertently </a:t>
            </a:r>
            <a:r>
              <a:rPr lang="en-US" b="1" dirty="0"/>
              <a:t>reinforce harmful stereotypes</a:t>
            </a:r>
            <a:r>
              <a:rPr lang="en-US" dirty="0"/>
              <a:t> or make </a:t>
            </a:r>
            <a:r>
              <a:rPr lang="en-US" b="1" dirty="0"/>
              <a:t>unethical decisions</a:t>
            </a:r>
            <a:r>
              <a:rPr lang="en-US" dirty="0"/>
              <a:t> if not carefully monitored. For example, biased training data can cause models to make decisions that perpetuate discrimination or inequality. Ensuring that models are fair, transparent, and aligned with ethical standards is crucial to avoid unintended negative consequences.</a:t>
            </a:r>
          </a:p>
          <a:p>
            <a:pPr>
              <a:buNone/>
            </a:pPr>
            <a:endParaRPr lang="en-US" dirty="0"/>
          </a:p>
        </p:txBody>
      </p:sp>
      <p:sp>
        <p:nvSpPr>
          <p:cNvPr id="4" name="Slide Number Placeholder 3">
            <a:extLst>
              <a:ext uri="{FF2B5EF4-FFF2-40B4-BE49-F238E27FC236}">
                <a16:creationId xmlns:a16="http://schemas.microsoft.com/office/drawing/2014/main" id="{279F109A-F57B-9A2E-6B21-A0909E91E0F1}"/>
              </a:ext>
            </a:extLst>
          </p:cNvPr>
          <p:cNvSpPr>
            <a:spLocks noGrp="1"/>
          </p:cNvSpPr>
          <p:nvPr>
            <p:ph type="sldNum" sz="quarter" idx="5"/>
          </p:nvPr>
        </p:nvSpPr>
        <p:spPr/>
        <p:txBody>
          <a:bodyPr/>
          <a:lstStyle/>
          <a:p>
            <a:fld id="{0090596E-B1B8-4E4E-B8E0-28D941E615DF}" type="slidenum">
              <a:rPr lang="en-US" smtClean="0"/>
              <a:t>8</a:t>
            </a:fld>
            <a:endParaRPr lang="en-US"/>
          </a:p>
        </p:txBody>
      </p:sp>
    </p:spTree>
    <p:extLst>
      <p:ext uri="{BB962C8B-B14F-4D97-AF65-F5344CB8AC3E}">
        <p14:creationId xmlns:p14="http://schemas.microsoft.com/office/powerpoint/2010/main" val="787720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Machine Learning (ML) and its Advantages:</a:t>
            </a:r>
            <a:br>
              <a:rPr lang="en-US" dirty="0"/>
            </a:br>
            <a:r>
              <a:rPr lang="en-US" dirty="0"/>
              <a:t>Machine Learning enables systems to learn from data and improve over time without the need for explicit programming. This means that instead of writing detailed rules for every scenario, a machine can analyze data and create its own logic based on patterns it identifies. As a result, ML allows systems to adapt to new information, making them more flexible and efficient than traditional rule-based models.</a:t>
            </a:r>
          </a:p>
          <a:p>
            <a:pPr>
              <a:buNone/>
            </a:pPr>
            <a:r>
              <a:rPr lang="en-US" b="1" dirty="0"/>
              <a:t>Traditional Models vs. ML Models:</a:t>
            </a:r>
            <a:br>
              <a:rPr lang="en-US" dirty="0"/>
            </a:br>
            <a:r>
              <a:rPr lang="en-US" dirty="0"/>
              <a:t>Traditional models are typically </a:t>
            </a:r>
            <a:r>
              <a:rPr lang="en-US" b="1" dirty="0"/>
              <a:t>rule-based</a:t>
            </a:r>
            <a:r>
              <a:rPr lang="en-US" dirty="0"/>
              <a:t> and static, meaning they rely on predefined instructions to make decisions. In contrast, ML models are </a:t>
            </a:r>
            <a:r>
              <a:rPr lang="en-US" b="1" dirty="0"/>
              <a:t>data-driven</a:t>
            </a:r>
            <a:r>
              <a:rPr lang="en-US" dirty="0"/>
              <a:t> and </a:t>
            </a:r>
            <a:r>
              <a:rPr lang="en-US" b="1" dirty="0"/>
              <a:t>adaptive</a:t>
            </a:r>
            <a:r>
              <a:rPr lang="en-US" dirty="0"/>
              <a:t>, meaning they can learn from new data and adjust their behavior accordingly. This ability to evolve and adapt makes ML models much more versatile in dealing with real-world, dynamic environments.</a:t>
            </a:r>
          </a:p>
          <a:p>
            <a:pPr>
              <a:buNone/>
            </a:pPr>
            <a:r>
              <a:rPr lang="en-US" b="1" dirty="0"/>
              <a:t>The Role of ML in Automation:</a:t>
            </a:r>
            <a:br>
              <a:rPr lang="en-US" dirty="0"/>
            </a:br>
            <a:r>
              <a:rPr lang="en-US" dirty="0"/>
              <a:t>ML is an essential tool for automation, helping businesses improve their </a:t>
            </a:r>
            <a:r>
              <a:rPr lang="en-US" b="1" dirty="0"/>
              <a:t>efficiency</a:t>
            </a:r>
            <a:r>
              <a:rPr lang="en-US" dirty="0"/>
              <a:t>, </a:t>
            </a:r>
            <a:r>
              <a:rPr lang="en-US" b="1" dirty="0"/>
              <a:t>accuracy</a:t>
            </a:r>
            <a:r>
              <a:rPr lang="en-US" dirty="0"/>
              <a:t>, and </a:t>
            </a:r>
            <a:r>
              <a:rPr lang="en-US" b="1" dirty="0"/>
              <a:t>scalability</a:t>
            </a:r>
            <a:r>
              <a:rPr lang="en-US" dirty="0"/>
              <a:t>. By automating tasks that were previously time-consuming or error-prone, businesses can reduce operational costs and free up resources for more strategic activities. Additionally, ML models can handle large volumes of data and complex tasks that would be difficult or impossible for humans to manage manually.</a:t>
            </a:r>
          </a:p>
          <a:p>
            <a:pPr>
              <a:buNone/>
            </a:pPr>
            <a:r>
              <a:rPr lang="en-US" b="1" dirty="0"/>
              <a:t>The ML Model Development Process:</a:t>
            </a:r>
            <a:br>
              <a:rPr lang="en-US" dirty="0"/>
            </a:br>
            <a:r>
              <a:rPr lang="en-US" dirty="0"/>
              <a:t>The process of developing an ML model involves several key steps, starting with </a:t>
            </a:r>
            <a:r>
              <a:rPr lang="en-US" b="1" dirty="0"/>
              <a:t>data collection</a:t>
            </a:r>
            <a:r>
              <a:rPr lang="en-US" dirty="0"/>
              <a:t> and </a:t>
            </a:r>
            <a:r>
              <a:rPr lang="en-US" b="1" dirty="0"/>
              <a:t>preprocessing</a:t>
            </a:r>
            <a:r>
              <a:rPr lang="en-US" dirty="0"/>
              <a:t> to ensure the data is clean and usable. After this, the model is trained on the data, evaluated for performance, and deployed into a real-world environment. Each of these steps requires careful attention to detail to ensure the model performs accurately and effectively.</a:t>
            </a:r>
          </a:p>
          <a:p>
            <a:r>
              <a:rPr lang="en-US" b="1" dirty="0"/>
              <a:t>Essential Tools for ML Development:</a:t>
            </a:r>
            <a:br>
              <a:rPr lang="en-US" dirty="0"/>
            </a:br>
            <a:r>
              <a:rPr lang="en-US" dirty="0"/>
              <a:t>To build, train, and deploy ML models, various tools and frameworks are required. </a:t>
            </a:r>
            <a:r>
              <a:rPr lang="en-US" b="1" dirty="0"/>
              <a:t>Python</a:t>
            </a:r>
            <a:r>
              <a:rPr lang="en-US" dirty="0"/>
              <a:t>, with libraries like TensorFlow, is one of the most commonly used programming languages for machine learning due to its simplicity and extensive library support. </a:t>
            </a:r>
            <a:r>
              <a:rPr lang="en-US" b="1"/>
              <a:t>Cloud platforms</a:t>
            </a:r>
            <a:r>
              <a:rPr lang="en-US"/>
              <a:t> like </a:t>
            </a:r>
            <a:r>
              <a:rPr lang="en-US" b="1"/>
              <a:t>AWS</a:t>
            </a:r>
            <a:r>
              <a:rPr lang="en-US"/>
              <a:t> also provide scalable resources, making it easier to handle large datasets and complex model training processes.</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9</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The Field of Data Science</a:t>
            </a:r>
          </a:p>
          <a:p>
            <a:pPr algn="ctr"/>
            <a:r>
              <a:rPr lang="en-US" sz="4400" b="1" dirty="0">
                <a:ln w="0"/>
                <a:solidFill>
                  <a:schemeClr val="accent1"/>
                </a:solidFill>
                <a:effectLst>
                  <a:outerShdw blurRad="38100" dist="25400" dir="5400000" algn="ctr" rotWithShape="0">
                    <a:srgbClr val="6E747A">
                      <a:alpha val="43000"/>
                    </a:srgbClr>
                  </a:outerShdw>
                </a:effectLst>
              </a:rPr>
              <a:t>Machine Learning</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593871" y="1001971"/>
            <a:ext cx="11004258" cy="923330"/>
          </a:xfrm>
          <a:prstGeom prst="rect">
            <a:avLst/>
          </a:prstGeom>
          <a:noFill/>
        </p:spPr>
        <p:txBody>
          <a:bodyPr wrap="square">
            <a:spAutoFit/>
          </a:bodyPr>
          <a:lstStyle/>
          <a:p>
            <a:r>
              <a:rPr lang="en-US" dirty="0"/>
              <a:t>Machine Learning is a subset of artificial intelligence (AI) that enables machines </a:t>
            </a:r>
            <a:r>
              <a:rPr lang="en-US" b="1" dirty="0"/>
              <a:t>to learn from data and make decisions or predictions without being explicitly programmed</a:t>
            </a:r>
            <a:r>
              <a:rPr lang="en-US" dirty="0"/>
              <a:t>. It involves algorithms and statistical models that allow systems to </a:t>
            </a:r>
            <a:r>
              <a:rPr lang="en-US" b="1" dirty="0"/>
              <a:t>learn from historical data, identify patterns, and improve performance over time</a:t>
            </a:r>
            <a:r>
              <a:rPr lang="en-US" dirty="0"/>
              <a:t>.</a:t>
            </a:r>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Definition and Example</a:t>
            </a:r>
            <a:endParaRPr lang="en-US" b="1" dirty="0"/>
          </a:p>
        </p:txBody>
      </p:sp>
      <p:pic>
        <p:nvPicPr>
          <p:cNvPr id="2" name="Picture 2">
            <a:extLst>
              <a:ext uri="{FF2B5EF4-FFF2-40B4-BE49-F238E27FC236}">
                <a16:creationId xmlns:a16="http://schemas.microsoft.com/office/drawing/2014/main" id="{DDAFC6B0-1259-239B-6508-2DEE869E4E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010"/>
          <a:stretch/>
        </p:blipFill>
        <p:spPr bwMode="auto">
          <a:xfrm>
            <a:off x="1488924" y="2129588"/>
            <a:ext cx="8863674" cy="4492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56C07-3300-4F45-E9A5-9BAAB88A33B8}"/>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Traditional model v/s Machine learning</a:t>
            </a:r>
          </a:p>
        </p:txBody>
      </p:sp>
      <p:pic>
        <p:nvPicPr>
          <p:cNvPr id="4" name="Picture 2">
            <a:extLst>
              <a:ext uri="{FF2B5EF4-FFF2-40B4-BE49-F238E27FC236}">
                <a16:creationId xmlns:a16="http://schemas.microsoft.com/office/drawing/2014/main" id="{12FBEFC8-C1E8-EBF6-A2F1-1B7E516E2B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7419"/>
          <a:stretch/>
        </p:blipFill>
        <p:spPr bwMode="auto">
          <a:xfrm>
            <a:off x="899822" y="1804945"/>
            <a:ext cx="10742223" cy="3411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Importance of</a:t>
            </a:r>
          </a:p>
          <a:p>
            <a:pPr algn="ctr"/>
            <a:r>
              <a:rPr lang="en-US" b="1" dirty="0"/>
              <a:t>Machine Learning</a:t>
            </a:r>
          </a:p>
        </p:txBody>
      </p:sp>
      <p:pic>
        <p:nvPicPr>
          <p:cNvPr id="3" name="Picture 2">
            <a:extLst>
              <a:ext uri="{FF2B5EF4-FFF2-40B4-BE49-F238E27FC236}">
                <a16:creationId xmlns:a16="http://schemas.microsoft.com/office/drawing/2014/main" id="{378AF544-120D-6D31-2956-59874326CF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855"/>
          <a:stretch/>
        </p:blipFill>
        <p:spPr bwMode="auto">
          <a:xfrm>
            <a:off x="3296873" y="367025"/>
            <a:ext cx="8900739" cy="649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086902-6AE0-BAF1-078D-A44BC862BD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290"/>
          <a:stretch/>
        </p:blipFill>
        <p:spPr bwMode="auto">
          <a:xfrm>
            <a:off x="3396437" y="401431"/>
            <a:ext cx="8712524" cy="645656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60B5D08-F637-7A02-898B-FB9822984BC8}"/>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Steps in Machine </a:t>
            </a:r>
          </a:p>
          <a:p>
            <a:pPr algn="ctr"/>
            <a:r>
              <a:rPr lang="en-US" b="1" dirty="0"/>
              <a:t>Learning Model</a:t>
            </a:r>
          </a:p>
          <a:p>
            <a:pPr algn="ctr"/>
            <a:r>
              <a:rPr lang="en-US" b="1" dirty="0"/>
              <a:t>Development</a:t>
            </a:r>
          </a:p>
        </p:txBody>
      </p:sp>
    </p:spTree>
    <p:extLst>
      <p:ext uri="{BB962C8B-B14F-4D97-AF65-F5344CB8AC3E}">
        <p14:creationId xmlns:p14="http://schemas.microsoft.com/office/powerpoint/2010/main" val="682694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FF6BE80-23B2-3ADE-6B79-A984684DC131}"/>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Tools in Machine Learning</a:t>
            </a:r>
          </a:p>
        </p:txBody>
      </p:sp>
      <p:pic>
        <p:nvPicPr>
          <p:cNvPr id="4" name="Picture 2">
            <a:extLst>
              <a:ext uri="{FF2B5EF4-FFF2-40B4-BE49-F238E27FC236}">
                <a16:creationId xmlns:a16="http://schemas.microsoft.com/office/drawing/2014/main" id="{E3041A5F-2EA8-088C-7FF3-56F716286E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39" t="21814" r="3450" b="7181"/>
          <a:stretch/>
        </p:blipFill>
        <p:spPr bwMode="auto">
          <a:xfrm>
            <a:off x="428254" y="896451"/>
            <a:ext cx="5357659" cy="259411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4B302E17-40A7-FF41-DA32-7B0B5B936F9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319"/>
          <a:stretch/>
        </p:blipFill>
        <p:spPr bwMode="auto">
          <a:xfrm>
            <a:off x="6406088" y="834888"/>
            <a:ext cx="5468937" cy="615033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9A5E7360-16DD-A7CE-509C-713CFBBF7B0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4414"/>
          <a:stretch/>
        </p:blipFill>
        <p:spPr bwMode="auto">
          <a:xfrm>
            <a:off x="316975" y="3925955"/>
            <a:ext cx="6408751" cy="262387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4D0F1765-A790-F656-7FA7-25093DF4CAFF}"/>
              </a:ext>
            </a:extLst>
          </p:cNvPr>
          <p:cNvSpPr/>
          <p:nvPr/>
        </p:nvSpPr>
        <p:spPr>
          <a:xfrm>
            <a:off x="7959256" y="896451"/>
            <a:ext cx="2313829" cy="455271"/>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Libraries</a:t>
            </a:r>
          </a:p>
        </p:txBody>
      </p:sp>
    </p:spTree>
    <p:extLst>
      <p:ext uri="{BB962C8B-B14F-4D97-AF65-F5344CB8AC3E}">
        <p14:creationId xmlns:p14="http://schemas.microsoft.com/office/powerpoint/2010/main" val="204830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2E10E-673E-F012-B568-D207280EA19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82E5A1D-F60D-2F7C-A730-0E7060D409D5}"/>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Types of Machine Learning</a:t>
            </a:r>
          </a:p>
        </p:txBody>
      </p:sp>
      <p:pic>
        <p:nvPicPr>
          <p:cNvPr id="6148" name="Picture 4">
            <a:extLst>
              <a:ext uri="{FF2B5EF4-FFF2-40B4-BE49-F238E27FC236}">
                <a16:creationId xmlns:a16="http://schemas.microsoft.com/office/drawing/2014/main" id="{C0C3C831-50D8-DD84-ACB1-C0AB2C528D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841"/>
          <a:stretch/>
        </p:blipFill>
        <p:spPr bwMode="auto">
          <a:xfrm>
            <a:off x="-119270" y="1759723"/>
            <a:ext cx="4114800" cy="509827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1F419C54-C10F-5563-57C2-882E6832C366}"/>
              </a:ext>
            </a:extLst>
          </p:cNvPr>
          <p:cNvSpPr/>
          <p:nvPr/>
        </p:nvSpPr>
        <p:spPr>
          <a:xfrm>
            <a:off x="970059" y="1103185"/>
            <a:ext cx="2313829" cy="455271"/>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Supervised ML</a:t>
            </a:r>
          </a:p>
        </p:txBody>
      </p:sp>
      <p:sp>
        <p:nvSpPr>
          <p:cNvPr id="5" name="Rectangle: Rounded Corners 4">
            <a:extLst>
              <a:ext uri="{FF2B5EF4-FFF2-40B4-BE49-F238E27FC236}">
                <a16:creationId xmlns:a16="http://schemas.microsoft.com/office/drawing/2014/main" id="{1BAA7B62-8853-688F-CABD-C2A5B7E38F06}"/>
              </a:ext>
            </a:extLst>
          </p:cNvPr>
          <p:cNvSpPr/>
          <p:nvPr/>
        </p:nvSpPr>
        <p:spPr>
          <a:xfrm>
            <a:off x="5084859" y="1103185"/>
            <a:ext cx="2313829" cy="455271"/>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Unsupervised ML</a:t>
            </a:r>
          </a:p>
        </p:txBody>
      </p:sp>
      <p:sp>
        <p:nvSpPr>
          <p:cNvPr id="9" name="Rectangle: Rounded Corners 8">
            <a:extLst>
              <a:ext uri="{FF2B5EF4-FFF2-40B4-BE49-F238E27FC236}">
                <a16:creationId xmlns:a16="http://schemas.microsoft.com/office/drawing/2014/main" id="{F414F715-68B0-1398-61B3-5F97A4217C47}"/>
              </a:ext>
            </a:extLst>
          </p:cNvPr>
          <p:cNvSpPr/>
          <p:nvPr/>
        </p:nvSpPr>
        <p:spPr>
          <a:xfrm>
            <a:off x="9047259" y="1103185"/>
            <a:ext cx="2313829" cy="455271"/>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Reinforcement ML</a:t>
            </a:r>
          </a:p>
        </p:txBody>
      </p:sp>
      <p:pic>
        <p:nvPicPr>
          <p:cNvPr id="6152" name="Picture 8">
            <a:extLst>
              <a:ext uri="{FF2B5EF4-FFF2-40B4-BE49-F238E27FC236}">
                <a16:creationId xmlns:a16="http://schemas.microsoft.com/office/drawing/2014/main" id="{96A3731C-1458-A757-ACD9-57B54FD48E1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9122"/>
          <a:stretch/>
        </p:blipFill>
        <p:spPr bwMode="auto">
          <a:xfrm>
            <a:off x="3995530" y="1759723"/>
            <a:ext cx="4114800" cy="4899494"/>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32ED6917-D2EA-916F-9153-FE2A85D8FA2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1001"/>
          <a:stretch/>
        </p:blipFill>
        <p:spPr bwMode="auto">
          <a:xfrm>
            <a:off x="7957930" y="1759723"/>
            <a:ext cx="4114800" cy="4785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345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7A34F-160D-E73F-3B74-5589C53539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1367E7E-5B3B-5518-96D3-2B7D24488FF3}"/>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Challenges in</a:t>
            </a:r>
          </a:p>
          <a:p>
            <a:pPr algn="ctr"/>
            <a:r>
              <a:rPr lang="en-US" b="1"/>
              <a:t>Machine Learning</a:t>
            </a:r>
            <a:endParaRPr lang="en-US" b="1" dirty="0"/>
          </a:p>
        </p:txBody>
      </p:sp>
      <p:pic>
        <p:nvPicPr>
          <p:cNvPr id="3" name="Picture 2">
            <a:extLst>
              <a:ext uri="{FF2B5EF4-FFF2-40B4-BE49-F238E27FC236}">
                <a16:creationId xmlns:a16="http://schemas.microsoft.com/office/drawing/2014/main" id="{65A86E98-C0D8-CEA9-4212-6073FCF853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043"/>
          <a:stretch/>
        </p:blipFill>
        <p:spPr bwMode="auto">
          <a:xfrm>
            <a:off x="4002818" y="294198"/>
            <a:ext cx="7423205" cy="6751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729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2" name="Picture 2">
            <a:extLst>
              <a:ext uri="{FF2B5EF4-FFF2-40B4-BE49-F238E27FC236}">
                <a16:creationId xmlns:a16="http://schemas.microsoft.com/office/drawing/2014/main" id="{7DB07123-B9C1-1083-2077-CBDA242681A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868"/>
          <a:stretch/>
        </p:blipFill>
        <p:spPr bwMode="auto">
          <a:xfrm>
            <a:off x="849402" y="787179"/>
            <a:ext cx="10493195" cy="6197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1108</TotalTime>
  <Words>3925</Words>
  <Application>Microsoft Office PowerPoint</Application>
  <PresentationFormat>Widescreen</PresentationFormat>
  <Paragraphs>106</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13</cp:revision>
  <dcterms:created xsi:type="dcterms:W3CDTF">2025-03-28T13:19:12Z</dcterms:created>
  <dcterms:modified xsi:type="dcterms:W3CDTF">2025-03-29T13:56:22Z</dcterms:modified>
</cp:coreProperties>
</file>