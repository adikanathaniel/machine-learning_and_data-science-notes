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65" r:id="rId4"/>
    <p:sldId id="266" r:id="rId5"/>
    <p:sldId id="267" r:id="rId6"/>
    <p:sldId id="268"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22844" autoAdjust="0"/>
  </p:normalViewPr>
  <p:slideViewPr>
    <p:cSldViewPr snapToGrid="0">
      <p:cViewPr>
        <p:scale>
          <a:sx n="80" d="100"/>
          <a:sy n="80" d="100"/>
        </p:scale>
        <p:origin x="10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FE182-DC40-4FFA-88FB-D1E651B9A0D4}" type="datetimeFigureOut">
              <a:rPr lang="en-US" smtClean="0"/>
              <a:t>3/29/2025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0596E-B1B8-4E4E-B8E0-28D941E615DF}" type="slidenum">
              <a:rPr lang="en-US" smtClean="0"/>
              <a:t>‹#›</a:t>
            </a:fld>
            <a:endParaRPr lang="en-US"/>
          </a:p>
        </p:txBody>
      </p:sp>
    </p:spTree>
    <p:extLst>
      <p:ext uri="{BB962C8B-B14F-4D97-AF65-F5344CB8AC3E}">
        <p14:creationId xmlns:p14="http://schemas.microsoft.com/office/powerpoint/2010/main" val="249766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Distributed Systems:</a:t>
            </a:r>
            <a:r>
              <a:rPr lang="en-US" dirty="0"/>
              <a:t> Big data is often too large to be stored on a single computer, so it is spread across many computers, which are part of a network. This way, no single computer becomes overloaded. A tool like Hadoop Distributed File System (HDFS) helps in storing large amounts of data across these multiple computers in a way that is efficient and accessible.</a:t>
            </a:r>
          </a:p>
          <a:p>
            <a:pPr>
              <a:buNone/>
            </a:pPr>
            <a:r>
              <a:rPr lang="en-US" b="1" dirty="0"/>
              <a:t>Data Lakes:</a:t>
            </a:r>
            <a:r>
              <a:rPr lang="en-US" dirty="0"/>
              <a:t> Imagine a huge warehouse that holds all types of data in their original form, without changing them. This is what a data lake does. It stores data in a raw state, allowing it to be collected from many different sources. Whether the data is structured, like tables in a database, or unstructured, like social media posts, data lakes can hold it all in one place for future processing.</a:t>
            </a:r>
          </a:p>
          <a:p>
            <a:r>
              <a:rPr lang="en-US" b="1" dirty="0"/>
              <a:t>Cloud Storage:</a:t>
            </a:r>
            <a:r>
              <a:rPr lang="en-US" dirty="0"/>
              <a:t> With the rise of cloud services, platforms like Amazon Web Services (AWS), Google Cloud, and Microsoft Azure offer scalable storage for big data. This means businesses can store huge amounts of data without having to invest in expensive hardware. They pay only for what they use, and can scale up or down as needed.</a:t>
            </a:r>
          </a:p>
        </p:txBody>
      </p:sp>
      <p:sp>
        <p:nvSpPr>
          <p:cNvPr id="4" name="Slide Number Placeholder 3"/>
          <p:cNvSpPr>
            <a:spLocks noGrp="1"/>
          </p:cNvSpPr>
          <p:nvPr>
            <p:ph type="sldNum" sz="quarter" idx="5"/>
          </p:nvPr>
        </p:nvSpPr>
        <p:spPr/>
        <p:txBody>
          <a:bodyPr/>
          <a:lstStyle/>
          <a:p>
            <a:fld id="{0090596E-B1B8-4E4E-B8E0-28D941E615DF}" type="slidenum">
              <a:rPr lang="en-US" smtClean="0"/>
              <a:t>2</a:t>
            </a:fld>
            <a:endParaRPr lang="en-US"/>
          </a:p>
        </p:txBody>
      </p:sp>
    </p:spTree>
    <p:extLst>
      <p:ext uri="{BB962C8B-B14F-4D97-AF65-F5344CB8AC3E}">
        <p14:creationId xmlns:p14="http://schemas.microsoft.com/office/powerpoint/2010/main" val="10380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2F755-B711-FA9D-B064-96C8F15BA4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6C9824-22A5-B28C-6A36-89D011F78F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CAD6B2-C1C8-5B91-B2E3-B8354D2067F1}"/>
              </a:ext>
            </a:extLst>
          </p:cNvPr>
          <p:cNvSpPr>
            <a:spLocks noGrp="1"/>
          </p:cNvSpPr>
          <p:nvPr>
            <p:ph type="body" idx="1"/>
          </p:nvPr>
        </p:nvSpPr>
        <p:spPr/>
        <p:txBody>
          <a:bodyPr/>
          <a:lstStyle/>
          <a:p>
            <a:pPr>
              <a:buNone/>
            </a:pPr>
            <a:r>
              <a:rPr lang="en-US" b="1" dirty="0"/>
              <a:t>Batch Processing:</a:t>
            </a:r>
            <a:r>
              <a:rPr lang="en-US" dirty="0"/>
              <a:t> Sometimes, large amounts of data don’t need to be analyzed immediately. Batch processing involves dividing this large data into smaller chunks and processing them in groups, or batches. Hadoop is an example of a tool that processes data this way. It's useful for datasets that are too big to be processed all at once and don't require real-time insights.</a:t>
            </a:r>
          </a:p>
          <a:p>
            <a:pPr>
              <a:buNone/>
            </a:pPr>
            <a:r>
              <a:rPr lang="en-US" b="1" dirty="0"/>
              <a:t>Real-Time Processing:</a:t>
            </a:r>
            <a:r>
              <a:rPr lang="en-US" dirty="0"/>
              <a:t> In some cases, data needs to be processed immediately. For example, when detecting fraud or monitoring a system, real-time processing tools like Apache Spark or Apache Flink analyze data as it comes in. This allows businesses to make quick decisions based on the most up-to-date information.</a:t>
            </a:r>
          </a:p>
          <a:p>
            <a:r>
              <a:rPr lang="en-US" b="1" dirty="0"/>
              <a:t>Stream Processing:</a:t>
            </a:r>
            <a:r>
              <a:rPr lang="en-US" dirty="0"/>
              <a:t> Stream processing focuses on continuously processing data that flows in from sources like sensors or social media. This type of data is generated in real-time and needs to be analyzed instantly. Stream processing tools help handle this high-speed data, making it ideal for things like live event monitoring or Internet of Things (IoT) analytics.</a:t>
            </a:r>
          </a:p>
          <a:p>
            <a:pPr>
              <a:buNone/>
            </a:pPr>
            <a:endParaRPr lang="en-US" dirty="0"/>
          </a:p>
        </p:txBody>
      </p:sp>
      <p:sp>
        <p:nvSpPr>
          <p:cNvPr id="4" name="Slide Number Placeholder 3">
            <a:extLst>
              <a:ext uri="{FF2B5EF4-FFF2-40B4-BE49-F238E27FC236}">
                <a16:creationId xmlns:a16="http://schemas.microsoft.com/office/drawing/2014/main" id="{9CAF973E-C4E3-2BA6-C6EF-D9DB79BC90E6}"/>
              </a:ext>
            </a:extLst>
          </p:cNvPr>
          <p:cNvSpPr>
            <a:spLocks noGrp="1"/>
          </p:cNvSpPr>
          <p:nvPr>
            <p:ph type="sldNum" sz="quarter" idx="5"/>
          </p:nvPr>
        </p:nvSpPr>
        <p:spPr/>
        <p:txBody>
          <a:bodyPr/>
          <a:lstStyle/>
          <a:p>
            <a:fld id="{0090596E-B1B8-4E4E-B8E0-28D941E615DF}" type="slidenum">
              <a:rPr lang="en-US" smtClean="0"/>
              <a:t>3</a:t>
            </a:fld>
            <a:endParaRPr lang="en-US"/>
          </a:p>
        </p:txBody>
      </p:sp>
    </p:spTree>
    <p:extLst>
      <p:ext uri="{BB962C8B-B14F-4D97-AF65-F5344CB8AC3E}">
        <p14:creationId xmlns:p14="http://schemas.microsoft.com/office/powerpoint/2010/main" val="4042167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F20EC-7C9E-686B-3B3F-592BF38B5C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EBCF45-7C52-65D3-8816-D7FC317DDB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F7C889-657A-10AC-6E54-6BB573466C03}"/>
              </a:ext>
            </a:extLst>
          </p:cNvPr>
          <p:cNvSpPr>
            <a:spLocks noGrp="1"/>
          </p:cNvSpPr>
          <p:nvPr>
            <p:ph type="body" idx="1"/>
          </p:nvPr>
        </p:nvSpPr>
        <p:spPr/>
        <p:txBody>
          <a:bodyPr/>
          <a:lstStyle/>
          <a:p>
            <a:pPr>
              <a:buNone/>
            </a:pPr>
            <a:r>
              <a:rPr lang="en-US" b="1" dirty="0"/>
              <a:t>Data Mining and Machine Learning:</a:t>
            </a:r>
            <a:r>
              <a:rPr lang="en-US" dirty="0"/>
              <a:t> To make sense of big data, machine learning algorithms and data mining techniques are often used. These methods help in discovering patterns, predicting trends, or grouping data into useful categories. For instance, businesses might use these techniques to predict customer behavior or identify fraud.</a:t>
            </a:r>
          </a:p>
          <a:p>
            <a:pPr>
              <a:buNone/>
            </a:pPr>
            <a:r>
              <a:rPr lang="en-US" b="1" dirty="0"/>
              <a:t>Predictive Analytics:</a:t>
            </a:r>
            <a:r>
              <a:rPr lang="en-US" dirty="0"/>
              <a:t> Predictive analytics involves using past data to forecast future trends. By applying statistical models and machine learning, businesses can make educated guesses about what might happen in the future, like predicting market trends or consumer preferences.</a:t>
            </a:r>
          </a:p>
          <a:p>
            <a:r>
              <a:rPr lang="en-US" b="1" dirty="0"/>
              <a:t>Statistical Analysis:</a:t>
            </a:r>
            <a:r>
              <a:rPr lang="en-US" dirty="0"/>
              <a:t> Analyzing data using statistical methods helps uncover trends, correlations, or anomalies. Tools like R, Python, or SAS are commonly used to perform statistical analysis. This method helps in understanding patterns and making data-driven decisions.</a:t>
            </a:r>
          </a:p>
          <a:p>
            <a:pPr>
              <a:buNone/>
            </a:pPr>
            <a:endParaRPr lang="en-US" dirty="0"/>
          </a:p>
        </p:txBody>
      </p:sp>
      <p:sp>
        <p:nvSpPr>
          <p:cNvPr id="4" name="Slide Number Placeholder 3">
            <a:extLst>
              <a:ext uri="{FF2B5EF4-FFF2-40B4-BE49-F238E27FC236}">
                <a16:creationId xmlns:a16="http://schemas.microsoft.com/office/drawing/2014/main" id="{0EC6A6B0-503D-7406-E067-E0050EF4F65A}"/>
              </a:ext>
            </a:extLst>
          </p:cNvPr>
          <p:cNvSpPr>
            <a:spLocks noGrp="1"/>
          </p:cNvSpPr>
          <p:nvPr>
            <p:ph type="sldNum" sz="quarter" idx="5"/>
          </p:nvPr>
        </p:nvSpPr>
        <p:spPr/>
        <p:txBody>
          <a:bodyPr/>
          <a:lstStyle/>
          <a:p>
            <a:fld id="{0090596E-B1B8-4E4E-B8E0-28D941E615DF}" type="slidenum">
              <a:rPr lang="en-US" smtClean="0"/>
              <a:t>4</a:t>
            </a:fld>
            <a:endParaRPr lang="en-US"/>
          </a:p>
        </p:txBody>
      </p:sp>
    </p:spTree>
    <p:extLst>
      <p:ext uri="{BB962C8B-B14F-4D97-AF65-F5344CB8AC3E}">
        <p14:creationId xmlns:p14="http://schemas.microsoft.com/office/powerpoint/2010/main" val="1577904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AD694-066E-2152-5482-A30891F914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3185A2-439E-AB39-F49A-1D791780B8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F46CE2-B601-1CAF-1A4C-1542A633E59E}"/>
              </a:ext>
            </a:extLst>
          </p:cNvPr>
          <p:cNvSpPr>
            <a:spLocks noGrp="1"/>
          </p:cNvSpPr>
          <p:nvPr>
            <p:ph type="body" idx="1"/>
          </p:nvPr>
        </p:nvSpPr>
        <p:spPr/>
        <p:txBody>
          <a:bodyPr/>
          <a:lstStyle/>
          <a:p>
            <a:pPr>
              <a:buNone/>
            </a:pPr>
            <a:r>
              <a:rPr lang="en-US" b="1" dirty="0"/>
              <a:t>ETL (Extract, Transform, Load):</a:t>
            </a:r>
            <a:r>
              <a:rPr lang="en-US" dirty="0"/>
              <a:t> The ETL process involves three main steps: extracting data from different sources, transforming it into a format that is easy to analyze, and then loading it into a data storage system. This is especially helpful when integrating data from multiple sources, making it ready for further analysis.</a:t>
            </a:r>
          </a:p>
        </p:txBody>
      </p:sp>
      <p:sp>
        <p:nvSpPr>
          <p:cNvPr id="4" name="Slide Number Placeholder 3">
            <a:extLst>
              <a:ext uri="{FF2B5EF4-FFF2-40B4-BE49-F238E27FC236}">
                <a16:creationId xmlns:a16="http://schemas.microsoft.com/office/drawing/2014/main" id="{CB8ACBF7-1779-8EF8-2CEF-F555B8D19916}"/>
              </a:ext>
            </a:extLst>
          </p:cNvPr>
          <p:cNvSpPr>
            <a:spLocks noGrp="1"/>
          </p:cNvSpPr>
          <p:nvPr>
            <p:ph type="sldNum" sz="quarter" idx="5"/>
          </p:nvPr>
        </p:nvSpPr>
        <p:spPr/>
        <p:txBody>
          <a:bodyPr/>
          <a:lstStyle/>
          <a:p>
            <a:fld id="{0090596E-B1B8-4E4E-B8E0-28D941E615DF}" type="slidenum">
              <a:rPr lang="en-US" smtClean="0"/>
              <a:t>5</a:t>
            </a:fld>
            <a:endParaRPr lang="en-US"/>
          </a:p>
        </p:txBody>
      </p:sp>
    </p:spTree>
    <p:extLst>
      <p:ext uri="{BB962C8B-B14F-4D97-AF65-F5344CB8AC3E}">
        <p14:creationId xmlns:p14="http://schemas.microsoft.com/office/powerpoint/2010/main" val="29589208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F88D0-E514-869A-4759-CEC6475A22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9BCD00-1C4C-E5D1-F7C5-83133A9A2F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C4062-A92D-3D70-4FDD-A315010BCBB0}"/>
              </a:ext>
            </a:extLst>
          </p:cNvPr>
          <p:cNvSpPr>
            <a:spLocks noGrp="1"/>
          </p:cNvSpPr>
          <p:nvPr>
            <p:ph type="body" idx="1"/>
          </p:nvPr>
        </p:nvSpPr>
        <p:spPr/>
        <p:txBody>
          <a:bodyPr/>
          <a:lstStyle/>
          <a:p>
            <a:pPr>
              <a:buNone/>
            </a:pPr>
            <a:r>
              <a:rPr lang="en-US" b="1" dirty="0"/>
              <a:t>Data Security:</a:t>
            </a:r>
            <a:r>
              <a:rPr lang="en-US" dirty="0"/>
              <a:t> Big data often contains sensitive information, such as customer details or financial records, making it important to protect it. This involves encrypting the data, controlling who can access it, and following data privacy laws like the GDPR to ensure personal information is kept safe.</a:t>
            </a:r>
          </a:p>
          <a:p>
            <a:r>
              <a:rPr lang="en-US" b="1" dirty="0"/>
              <a:t>Data Governance:</a:t>
            </a:r>
            <a:r>
              <a:rPr lang="en-US" dirty="0"/>
              <a:t> Data governance is all about setting rules and guidelines for managing data. This includes ensuring the data is accurate, reliable, and used properly. It also involves tracking where data comes from and who is allowed to access it. Proper governance ensures that data is used responsibly and remains high-quality.</a:t>
            </a:r>
          </a:p>
        </p:txBody>
      </p:sp>
      <p:sp>
        <p:nvSpPr>
          <p:cNvPr id="4" name="Slide Number Placeholder 3">
            <a:extLst>
              <a:ext uri="{FF2B5EF4-FFF2-40B4-BE49-F238E27FC236}">
                <a16:creationId xmlns:a16="http://schemas.microsoft.com/office/drawing/2014/main" id="{7610A76B-450D-7B2A-CAE6-7322074AEBA7}"/>
              </a:ext>
            </a:extLst>
          </p:cNvPr>
          <p:cNvSpPr>
            <a:spLocks noGrp="1"/>
          </p:cNvSpPr>
          <p:nvPr>
            <p:ph type="sldNum" sz="quarter" idx="5"/>
          </p:nvPr>
        </p:nvSpPr>
        <p:spPr/>
        <p:txBody>
          <a:bodyPr/>
          <a:lstStyle/>
          <a:p>
            <a:fld id="{0090596E-B1B8-4E4E-B8E0-28D941E615DF}" type="slidenum">
              <a:rPr lang="en-US" smtClean="0"/>
              <a:t>6</a:t>
            </a:fld>
            <a:endParaRPr lang="en-US"/>
          </a:p>
        </p:txBody>
      </p:sp>
    </p:spTree>
    <p:extLst>
      <p:ext uri="{BB962C8B-B14F-4D97-AF65-F5344CB8AC3E}">
        <p14:creationId xmlns:p14="http://schemas.microsoft.com/office/powerpoint/2010/main" val="28342066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Data Storage Techniques:</a:t>
            </a:r>
            <a:r>
              <a:rPr lang="en-US" dirty="0"/>
              <a:t> Big data is stored using distributed systems like Hadoop Distributed File System (HDFS), data lakes (for raw data in various formats), and cloud storage platforms like AWS, Google Cloud, and Azure, which offer scalable and flexible solutions.</a:t>
            </a:r>
          </a:p>
          <a:p>
            <a:pPr>
              <a:buNone/>
            </a:pPr>
            <a:r>
              <a:rPr lang="en-US" b="1" dirty="0"/>
              <a:t>Data Processing Methods:</a:t>
            </a:r>
            <a:r>
              <a:rPr lang="en-US" dirty="0"/>
              <a:t> Data processing in big data is done through batch processing (Hadoop), real-time processing (Apache Spark), and stream processing (for continuous data from sources like sensors or social media), allowing for different types of analysis based on urgency and data flow.</a:t>
            </a:r>
          </a:p>
          <a:p>
            <a:pPr>
              <a:buNone/>
            </a:pPr>
            <a:r>
              <a:rPr lang="en-US" b="1" dirty="0"/>
              <a:t>Data Analysis Techniques:</a:t>
            </a:r>
            <a:r>
              <a:rPr lang="en-US" dirty="0"/>
              <a:t> Big data analysis involves using machine learning, data mining, predictive analytics, and statistical methods to uncover patterns, forecast trends, and make data-driven decisions.</a:t>
            </a:r>
          </a:p>
          <a:p>
            <a:pPr>
              <a:buNone/>
            </a:pPr>
            <a:r>
              <a:rPr lang="en-US" b="1" dirty="0"/>
              <a:t>Data Integration Tools:</a:t>
            </a:r>
            <a:r>
              <a:rPr lang="en-US" dirty="0"/>
              <a:t> ETL (Extract, Transform, Load) tools are essential for integrating data from various sources into databases or data warehouses for analysis, enabling the consolidation of diverse data types into a usable format.</a:t>
            </a:r>
          </a:p>
          <a:p>
            <a:r>
              <a:rPr lang="en-US" b="1" dirty="0"/>
              <a:t>Data Security and Governance:</a:t>
            </a:r>
            <a:r>
              <a:rPr lang="en-US" dirty="0"/>
              <a:t> Ensuring data security through encryption and access control, along with implementing data governance policies, is vital for maintaining data quality, privacy, and compliance with regulations such as GDPR.</a:t>
            </a:r>
          </a:p>
        </p:txBody>
      </p:sp>
      <p:sp>
        <p:nvSpPr>
          <p:cNvPr id="4" name="Slide Number Placeholder 3"/>
          <p:cNvSpPr>
            <a:spLocks noGrp="1"/>
          </p:cNvSpPr>
          <p:nvPr>
            <p:ph type="sldNum" sz="quarter" idx="5"/>
          </p:nvPr>
        </p:nvSpPr>
        <p:spPr/>
        <p:txBody>
          <a:bodyPr/>
          <a:lstStyle/>
          <a:p>
            <a:fld id="{0090596E-B1B8-4E4E-B8E0-28D941E615DF}" type="slidenum">
              <a:rPr lang="en-US" smtClean="0"/>
              <a:t>7</a:t>
            </a:fld>
            <a:endParaRPr lang="en-US"/>
          </a:p>
        </p:txBody>
      </p:sp>
    </p:spTree>
    <p:extLst>
      <p:ext uri="{BB962C8B-B14F-4D97-AF65-F5344CB8AC3E}">
        <p14:creationId xmlns:p14="http://schemas.microsoft.com/office/powerpoint/2010/main" val="163855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4D7B-68EC-3A5D-EF43-D9D9742990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06B0B4-3041-7984-785C-3413E781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E38AF-415C-26EF-9E80-D60968101509}"/>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D04435-942E-0E65-F622-05ED923D3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7221B-9F10-95AB-69C5-1D9CDF940FA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42609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710-1396-1DBE-B21A-6E5F4DB29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D0FFC-810D-E0BE-7F84-FB1DBC9D0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48A89-7276-CAA3-CC3E-51645337B7B0}"/>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2019B62C-4FC8-3D7F-CA46-51644491C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030D1-622F-1249-765C-6E46A4EE2CC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22195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8B56-DFF5-BE41-DE3D-05FD2F320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44437-5D46-EFD2-CE6E-D245C6CF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37C1EA-B634-9836-E23E-0C48426B11DC}"/>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8AEF48-21ED-D969-1990-2DE1C81B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EF36A-D445-D428-87D2-6F92FCC4252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70168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C1F8-6D81-976E-8B0A-1E12208DA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F129E-6A21-475A-DFD5-830A3CB55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4CC03-B6B9-D9AC-E724-B522120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697496-A1D5-707B-B103-3E5D62898952}"/>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63119BA9-CC54-F483-0160-95B1D3A32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6727-9DDC-7A20-56C0-327D2F41232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6222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9BF-27D4-4A43-C1DE-BDC7AF294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14209E-ED2F-A8F5-1743-E17B335C1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DC2E8-5C27-3ECA-1553-8659D9D6A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730BC-5B3E-EFAB-1BD3-E13DB9DDE4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CF01D-B2D0-0CBA-A8F7-BA642C8E5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C6494-8C59-EE05-0FF5-DE460B9B041D}"/>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8" name="Footer Placeholder 7">
            <a:extLst>
              <a:ext uri="{FF2B5EF4-FFF2-40B4-BE49-F238E27FC236}">
                <a16:creationId xmlns:a16="http://schemas.microsoft.com/office/drawing/2014/main" id="{6121FBB3-F41B-BA3F-04D2-8AEBE326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CF6BA-9438-86D8-4731-4FDBACD59E9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4351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E4C-E056-686E-CB94-6C08E5214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DEB6-AF92-5F75-B67E-B745189518D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4" name="Footer Placeholder 3">
            <a:extLst>
              <a:ext uri="{FF2B5EF4-FFF2-40B4-BE49-F238E27FC236}">
                <a16:creationId xmlns:a16="http://schemas.microsoft.com/office/drawing/2014/main" id="{C8AC647A-F5A0-ABF7-A720-98AA38160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0C2998-0FDB-260D-8F37-08DD947336E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6469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AB883-68A8-8A2C-5DCB-B0DDF813CBE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3" name="Footer Placeholder 2">
            <a:extLst>
              <a:ext uri="{FF2B5EF4-FFF2-40B4-BE49-F238E27FC236}">
                <a16:creationId xmlns:a16="http://schemas.microsoft.com/office/drawing/2014/main" id="{03095111-88DD-346A-DFD2-A16E6699C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9B8901-2CC4-2A23-2A20-0F5308467320}"/>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17510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850A-B0CE-47E3-B62E-D2DA69499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2B4AC-9343-6345-E5A8-618502FAA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BF07-5277-2848-4B48-82B2E15DF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3C87E-D1D8-A841-F686-83B51927D82A}"/>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C9864D58-181E-2E07-D806-0C4A2E456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B2EB8-88E8-1C3F-49D4-2D45329AD74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0028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86FFB-5EBF-1B4E-4E73-EE392DC8E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24FF6-52E4-C6F8-FE9D-27FC071A0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19B0D-FC2A-6DE5-E814-B659200C8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2C68-3F9E-B9AB-5EDA-344140010925}"/>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21F25132-A2D5-E3BC-0AFA-D22AE6DC9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05F6A-1D13-4385-DBF2-1922E7628F3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50615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6446-8C2D-2DF2-026B-D6A1A02558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E4CC-7F20-CA0B-FE27-9F81AD7A87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03A1B-8D6A-02D5-3674-FC058B44CA6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A4AD84C-7188-0CE7-111D-C9CF36402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B2CA5-EC7C-6B30-ACD0-E4B643392EF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745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D6490-8E1F-69E7-702F-F4372EC6D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DAFB00-9AB2-3D68-51B2-7D1B2A0C7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22EEC-3C2C-D5E6-A7B3-2B70C518560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6CA8357-A8E1-A56E-149D-CF160E5D4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1E16-54EA-DCFE-BF7D-132E638AA8EC}"/>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72685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D0A1F-9E4C-38C1-44CA-48217A66F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6B99A-F1D9-CB5E-4D08-7510DF44E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F839A-2152-2ECB-945F-95467AFFC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67E9B569-C635-225A-B150-FE60A93E2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775CAD-A5B8-6445-8F32-863594860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F91314-2232-4618-AEA5-B75A9D4CAB9F}" type="slidenum">
              <a:rPr lang="en-US" smtClean="0"/>
              <a:t>‹#›</a:t>
            </a:fld>
            <a:endParaRPr lang="en-US"/>
          </a:p>
        </p:txBody>
      </p:sp>
    </p:spTree>
    <p:extLst>
      <p:ext uri="{BB962C8B-B14F-4D97-AF65-F5344CB8AC3E}">
        <p14:creationId xmlns:p14="http://schemas.microsoft.com/office/powerpoint/2010/main" val="381208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F02AAA-38C2-C2B4-9DCF-0D7B36943E42}"/>
              </a:ext>
            </a:extLst>
          </p:cNvPr>
          <p:cNvSpPr txBox="1"/>
          <p:nvPr/>
        </p:nvSpPr>
        <p:spPr>
          <a:xfrm>
            <a:off x="2784444" y="2624122"/>
            <a:ext cx="6623109"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Working with Big Data</a:t>
            </a:r>
          </a:p>
        </p:txBody>
      </p:sp>
      <p:sp>
        <p:nvSpPr>
          <p:cNvPr id="7" name="TextBox 6">
            <a:extLst>
              <a:ext uri="{FF2B5EF4-FFF2-40B4-BE49-F238E27FC236}">
                <a16:creationId xmlns:a16="http://schemas.microsoft.com/office/drawing/2014/main" id="{4762BF6F-6CEA-5E18-D886-19C6FCE8C811}"/>
              </a:ext>
            </a:extLst>
          </p:cNvPr>
          <p:cNvSpPr txBox="1"/>
          <p:nvPr/>
        </p:nvSpPr>
        <p:spPr>
          <a:xfrm>
            <a:off x="4410217" y="3393563"/>
            <a:ext cx="3371564" cy="369332"/>
          </a:xfrm>
          <a:prstGeom prst="rect">
            <a:avLst/>
          </a:prstGeom>
          <a:noFill/>
        </p:spPr>
        <p:txBody>
          <a:bodyPr wrap="none" rtlCol="0">
            <a:spAutoFit/>
          </a:bodyPr>
          <a:lstStyle/>
          <a:p>
            <a:pPr algn="ctr"/>
            <a:r>
              <a:rPr lang="en-US" b="1" i="1" dirty="0"/>
              <a:t>Shahriar’s Analytical Academy</a:t>
            </a:r>
          </a:p>
        </p:txBody>
      </p:sp>
    </p:spTree>
    <p:extLst>
      <p:ext uri="{BB962C8B-B14F-4D97-AF65-F5344CB8AC3E}">
        <p14:creationId xmlns:p14="http://schemas.microsoft.com/office/powerpoint/2010/main" val="157465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FB58811-47EC-A017-47DE-8742B02062FA}"/>
              </a:ext>
            </a:extLst>
          </p:cNvPr>
          <p:cNvSpPr/>
          <p:nvPr/>
        </p:nvSpPr>
        <p:spPr>
          <a:xfrm>
            <a:off x="0" y="0"/>
            <a:ext cx="359399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Data Collection </a:t>
            </a:r>
          </a:p>
          <a:p>
            <a:pPr algn="ctr"/>
            <a:r>
              <a:rPr lang="en-US" sz="2400" b="1" dirty="0"/>
              <a:t>and Storage</a:t>
            </a:r>
          </a:p>
        </p:txBody>
      </p:sp>
      <p:pic>
        <p:nvPicPr>
          <p:cNvPr id="1028" name="Picture 4">
            <a:extLst>
              <a:ext uri="{FF2B5EF4-FFF2-40B4-BE49-F238E27FC236}">
                <a16:creationId xmlns:a16="http://schemas.microsoft.com/office/drawing/2014/main" id="{6DCF63F7-7C2D-34AF-158B-9DEF407573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845"/>
          <a:stretch/>
        </p:blipFill>
        <p:spPr bwMode="auto">
          <a:xfrm>
            <a:off x="4263633" y="270344"/>
            <a:ext cx="7160735" cy="6512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4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30421-86A3-9116-CB78-15994AF01D7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0694F84-EE66-B5BF-C3C0-E3C71D1C388D}"/>
              </a:ext>
            </a:extLst>
          </p:cNvPr>
          <p:cNvSpPr/>
          <p:nvPr/>
        </p:nvSpPr>
        <p:spPr>
          <a:xfrm>
            <a:off x="0" y="0"/>
            <a:ext cx="359399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Data </a:t>
            </a:r>
          </a:p>
          <a:p>
            <a:pPr algn="ctr"/>
            <a:r>
              <a:rPr lang="en-US" sz="2400" b="1" dirty="0"/>
              <a:t>Processing</a:t>
            </a:r>
          </a:p>
        </p:txBody>
      </p:sp>
      <p:pic>
        <p:nvPicPr>
          <p:cNvPr id="8194" name="Picture 2">
            <a:extLst>
              <a:ext uri="{FF2B5EF4-FFF2-40B4-BE49-F238E27FC236}">
                <a16:creationId xmlns:a16="http://schemas.microsoft.com/office/drawing/2014/main" id="{440D16B1-3C92-9B2B-5F11-EA45B5C7CF0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570"/>
          <a:stretch/>
        </p:blipFill>
        <p:spPr bwMode="auto">
          <a:xfrm>
            <a:off x="3938215" y="644054"/>
            <a:ext cx="7893326" cy="5926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9316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A7A88-3610-B1F7-A970-68C1A85B525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4D71322-696A-AD98-3628-78D7476D8617}"/>
              </a:ext>
            </a:extLst>
          </p:cNvPr>
          <p:cNvSpPr/>
          <p:nvPr/>
        </p:nvSpPr>
        <p:spPr>
          <a:xfrm>
            <a:off x="0" y="0"/>
            <a:ext cx="359399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Data </a:t>
            </a:r>
          </a:p>
          <a:p>
            <a:pPr algn="ctr"/>
            <a:r>
              <a:rPr lang="en-US" sz="2400" b="1" dirty="0"/>
              <a:t>Analysis</a:t>
            </a:r>
          </a:p>
        </p:txBody>
      </p:sp>
      <p:pic>
        <p:nvPicPr>
          <p:cNvPr id="9220" name="Picture 4">
            <a:extLst>
              <a:ext uri="{FF2B5EF4-FFF2-40B4-BE49-F238E27FC236}">
                <a16:creationId xmlns:a16="http://schemas.microsoft.com/office/drawing/2014/main" id="{0366E651-5A04-8E42-42A8-46E270E5F9D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9473"/>
          <a:stretch/>
        </p:blipFill>
        <p:spPr bwMode="auto">
          <a:xfrm>
            <a:off x="3771859" y="659957"/>
            <a:ext cx="7953075" cy="5351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1604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19E38-24C7-9C46-3CA8-350795632DE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2D591DC-1FCA-B104-1280-442B9B5BC4CE}"/>
              </a:ext>
            </a:extLst>
          </p:cNvPr>
          <p:cNvSpPr/>
          <p:nvPr/>
        </p:nvSpPr>
        <p:spPr>
          <a:xfrm>
            <a:off x="0" y="0"/>
            <a:ext cx="359399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Data </a:t>
            </a:r>
          </a:p>
          <a:p>
            <a:pPr algn="ctr"/>
            <a:r>
              <a:rPr lang="en-US" sz="2400" b="1" dirty="0"/>
              <a:t>Integration</a:t>
            </a:r>
          </a:p>
        </p:txBody>
      </p:sp>
      <p:pic>
        <p:nvPicPr>
          <p:cNvPr id="10242" name="Picture 2">
            <a:extLst>
              <a:ext uri="{FF2B5EF4-FFF2-40B4-BE49-F238E27FC236}">
                <a16:creationId xmlns:a16="http://schemas.microsoft.com/office/drawing/2014/main" id="{1BE82527-B8CB-11B7-3DAC-3F7A00B8954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9199"/>
          <a:stretch/>
        </p:blipFill>
        <p:spPr bwMode="auto">
          <a:xfrm>
            <a:off x="3705765" y="1182756"/>
            <a:ext cx="8486235" cy="4492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9688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5C2A7-E8A0-9E35-184F-31199FF3C7D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E21285A-3550-2889-B9A2-33602F2AE43E}"/>
              </a:ext>
            </a:extLst>
          </p:cNvPr>
          <p:cNvSpPr/>
          <p:nvPr/>
        </p:nvSpPr>
        <p:spPr>
          <a:xfrm>
            <a:off x="0" y="0"/>
            <a:ext cx="12192000" cy="5963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Data Security &amp; Governance</a:t>
            </a:r>
          </a:p>
        </p:txBody>
      </p:sp>
      <p:pic>
        <p:nvPicPr>
          <p:cNvPr id="11266" name="Picture 2">
            <a:extLst>
              <a:ext uri="{FF2B5EF4-FFF2-40B4-BE49-F238E27FC236}">
                <a16:creationId xmlns:a16="http://schemas.microsoft.com/office/drawing/2014/main" id="{6D46BB90-BEA3-F7C5-5CE2-296923D646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1671"/>
          <a:stretch/>
        </p:blipFill>
        <p:spPr bwMode="auto">
          <a:xfrm>
            <a:off x="548308" y="1272208"/>
            <a:ext cx="10655080" cy="4719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0168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BFF2D1-BD0E-21FB-3EA5-9C3FEF7862B4}"/>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5 Key Learning Points of this Lesson</a:t>
            </a:r>
          </a:p>
        </p:txBody>
      </p:sp>
      <p:pic>
        <p:nvPicPr>
          <p:cNvPr id="6148" name="Picture 4">
            <a:extLst>
              <a:ext uri="{FF2B5EF4-FFF2-40B4-BE49-F238E27FC236}">
                <a16:creationId xmlns:a16="http://schemas.microsoft.com/office/drawing/2014/main" id="{014F6301-CA1D-0031-A512-DF3EDD24C0D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1644"/>
          <a:stretch/>
        </p:blipFill>
        <p:spPr bwMode="auto">
          <a:xfrm>
            <a:off x="1028307" y="771275"/>
            <a:ext cx="10135386" cy="61860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35F3-AF15-A4B9-2640-A131227CD6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1753B1-A369-1F9E-C78D-93AA81EAC8D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Thank You!</a:t>
            </a:r>
          </a:p>
        </p:txBody>
      </p:sp>
      <p:sp>
        <p:nvSpPr>
          <p:cNvPr id="7" name="TextBox 6">
            <a:extLst>
              <a:ext uri="{FF2B5EF4-FFF2-40B4-BE49-F238E27FC236}">
                <a16:creationId xmlns:a16="http://schemas.microsoft.com/office/drawing/2014/main" id="{907FA6A3-9FF9-C077-B91B-4AE0187EC665}"/>
              </a:ext>
            </a:extLst>
          </p:cNvPr>
          <p:cNvSpPr txBox="1"/>
          <p:nvPr/>
        </p:nvSpPr>
        <p:spPr>
          <a:xfrm>
            <a:off x="4410218" y="3429000"/>
            <a:ext cx="3371564" cy="369332"/>
          </a:xfrm>
          <a:prstGeom prst="rect">
            <a:avLst/>
          </a:prstGeom>
          <a:noFill/>
        </p:spPr>
        <p:txBody>
          <a:bodyPr wrap="none" rtlCol="0">
            <a:spAutoFit/>
          </a:bodyPr>
          <a:lstStyle/>
          <a:p>
            <a:r>
              <a:rPr lang="en-US" b="1" i="1" dirty="0"/>
              <a:t>Shahriar’s Analytical Academy</a:t>
            </a:r>
          </a:p>
        </p:txBody>
      </p:sp>
    </p:spTree>
    <p:extLst>
      <p:ext uri="{BB962C8B-B14F-4D97-AF65-F5344CB8AC3E}">
        <p14:creationId xmlns:p14="http://schemas.microsoft.com/office/powerpoint/2010/main" val="200465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1258</TotalTime>
  <Words>971</Words>
  <Application>Microsoft Office PowerPoint</Application>
  <PresentationFormat>Widescreen</PresentationFormat>
  <Paragraphs>37</Paragraphs>
  <Slides>8</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Shahriar</dc:creator>
  <cp:lastModifiedBy>Md Shahriar</cp:lastModifiedBy>
  <cp:revision>21</cp:revision>
  <dcterms:created xsi:type="dcterms:W3CDTF">2025-03-28T13:19:12Z</dcterms:created>
  <dcterms:modified xsi:type="dcterms:W3CDTF">2025-03-29T16:06:00Z</dcterms:modified>
</cp:coreProperties>
</file>