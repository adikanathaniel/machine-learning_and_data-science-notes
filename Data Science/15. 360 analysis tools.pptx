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7" r:id="rId3"/>
    <p:sldId id="265" r:id="rId4"/>
    <p:sldId id="263" r:id="rId5"/>
    <p:sldId id="264"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849" autoAdjust="0"/>
  </p:normalViewPr>
  <p:slideViewPr>
    <p:cSldViewPr snapToGrid="0">
      <p:cViewPr>
        <p:scale>
          <a:sx n="80" d="100"/>
          <a:sy n="80" d="100"/>
        </p:scale>
        <p:origin x="100" y="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4FE182-DC40-4FFA-88FB-D1E651B9A0D4}" type="datetimeFigureOut">
              <a:rPr lang="en-US" smtClean="0"/>
              <a:t>3/30/2025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0596E-B1B8-4E4E-B8E0-28D941E615DF}" type="slidenum">
              <a:rPr lang="en-US" smtClean="0"/>
              <a:t>‹#›</a:t>
            </a:fld>
            <a:endParaRPr lang="en-US"/>
          </a:p>
        </p:txBody>
      </p:sp>
    </p:spTree>
    <p:extLst>
      <p:ext uri="{BB962C8B-B14F-4D97-AF65-F5344CB8AC3E}">
        <p14:creationId xmlns:p14="http://schemas.microsoft.com/office/powerpoint/2010/main" val="2497663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Excel is a spreadsheet application developed by Microsoft. It is widely recognized as one of the most powerful tools for managing data in various formats. Excel allows users to organize data into rows and columns, making it easy to store, analyze, and visualize information. Users can perform calculations using formulas, create graphs and charts, and even automate tasks using macros. It's particularly useful for business, finance, education, and many other industries where data organization and analysis are essential.</a:t>
            </a:r>
          </a:p>
          <a:p>
            <a:pPr>
              <a:buNone/>
            </a:pPr>
            <a:r>
              <a:rPr lang="en-US" b="1" dirty="0"/>
              <a:t>When to Use Excel?</a:t>
            </a:r>
          </a:p>
          <a:p>
            <a:pPr>
              <a:buNone/>
            </a:pPr>
            <a:r>
              <a:rPr lang="en-US" dirty="0"/>
              <a:t>Excel is best used when you need to handle small to medium-sized datasets that do not require complex processing. For instance, if you're analyzing sales data or creating a budget, Excel offers quick and easy solutions to perform basic data analysis, such as summing values, averaging, or identifying trends. It's also helpful when you need to generate reports or visualize data in the form of graphs or pivot tables. Moreover, if you're cleaning data—removing duplicates or correcting errors—Excel provides an intuitive platform for these tasks.</a:t>
            </a:r>
          </a:p>
          <a:p>
            <a:pPr>
              <a:buNone/>
            </a:pPr>
            <a:r>
              <a:rPr lang="en-US" b="1" dirty="0"/>
              <a:t>Advantages</a:t>
            </a:r>
          </a:p>
          <a:p>
            <a:pPr>
              <a:buFont typeface="+mj-lt"/>
              <a:buAutoNum type="arabicPeriod"/>
            </a:pPr>
            <a:r>
              <a:rPr lang="en-US" b="1" dirty="0"/>
              <a:t>Ease of Use</a:t>
            </a:r>
            <a:r>
              <a:rPr lang="en-US" dirty="0"/>
              <a:t>: Excel is widely recognized for its user-friendly interface. Even beginners can quickly grasp its basic features like entering data, using basic formulas, and creating charts.</a:t>
            </a:r>
          </a:p>
          <a:p>
            <a:pPr>
              <a:buFont typeface="+mj-lt"/>
              <a:buAutoNum type="arabicPeriod"/>
            </a:pPr>
            <a:r>
              <a:rPr lang="en-US" b="1" dirty="0"/>
              <a:t>Versatility</a:t>
            </a:r>
            <a:r>
              <a:rPr lang="en-US" dirty="0"/>
              <a:t>: Excel is a versatile tool suitable for basic analysis, data manipulation, and visualization. It is ideal for tasks such as creating tables, performing simple mathematical operations, and generating various chart types.</a:t>
            </a:r>
          </a:p>
          <a:p>
            <a:pPr>
              <a:buFont typeface="+mj-lt"/>
              <a:buAutoNum type="arabicPeriod"/>
            </a:pPr>
            <a:r>
              <a:rPr lang="en-US" b="1" dirty="0"/>
              <a:t>Data Manipulation</a:t>
            </a:r>
            <a:r>
              <a:rPr lang="en-US" dirty="0"/>
              <a:t>: Excel has powerful built-in features like pivot tables, VLOOKUP, and IF statements, which allow users to perform complex data manipulations and make decisions based on large amounts of data.</a:t>
            </a:r>
          </a:p>
          <a:p>
            <a:pPr>
              <a:buFont typeface="+mj-lt"/>
              <a:buAutoNum type="arabicPeriod"/>
            </a:pPr>
            <a:r>
              <a:rPr lang="en-US" b="1" dirty="0"/>
              <a:t>Wide Availability</a:t>
            </a:r>
            <a:r>
              <a:rPr lang="en-US" dirty="0"/>
              <a:t>: Most organizations use Excel, making it a common tool for collaboration and data sharing. It’s also available as part of the Microsoft Office suite, ensuring compatibility across devices.</a:t>
            </a:r>
          </a:p>
          <a:p>
            <a:pPr>
              <a:buFont typeface="+mj-lt"/>
              <a:buAutoNum type="arabicPeriod"/>
            </a:pPr>
            <a:r>
              <a:rPr lang="en-US" b="1" dirty="0"/>
              <a:t>Integration</a:t>
            </a:r>
            <a:r>
              <a:rPr lang="en-US" dirty="0"/>
              <a:t>: Excel integrates well with other Microsoft tools like Word, PowerPoint, and Access, making it easier to work across various software applications.</a:t>
            </a:r>
          </a:p>
          <a:p>
            <a:pPr>
              <a:buNone/>
            </a:pPr>
            <a:r>
              <a:rPr lang="en-US" b="1" dirty="0"/>
              <a:t>Disadvantages</a:t>
            </a:r>
          </a:p>
          <a:p>
            <a:pPr>
              <a:buFont typeface="+mj-lt"/>
              <a:buAutoNum type="arabicPeriod"/>
            </a:pPr>
            <a:r>
              <a:rPr lang="en-US" b="1" dirty="0"/>
              <a:t>Limited Capacity</a:t>
            </a:r>
            <a:r>
              <a:rPr lang="en-US" dirty="0"/>
              <a:t>: Excel struggles with handling extremely large datasets, especially those that exceed a million rows, where it may experience performance issues.</a:t>
            </a:r>
          </a:p>
          <a:p>
            <a:pPr>
              <a:buFont typeface="+mj-lt"/>
              <a:buAutoNum type="arabicPeriod"/>
            </a:pPr>
            <a:r>
              <a:rPr lang="en-US" b="1" dirty="0"/>
              <a:t>Manual</a:t>
            </a:r>
            <a:r>
              <a:rPr lang="en-US" dirty="0"/>
              <a:t>: Many tasks in Excel, such as data entry and formatting, are manual. This increases the risk of human error, especially when working with large datasets.</a:t>
            </a:r>
          </a:p>
          <a:p>
            <a:pPr>
              <a:buFont typeface="+mj-lt"/>
              <a:buAutoNum type="arabicPeriod"/>
            </a:pPr>
            <a:r>
              <a:rPr lang="en-US" b="1" dirty="0"/>
              <a:t>Lack of Advanced Analytics</a:t>
            </a:r>
            <a:r>
              <a:rPr lang="en-US" dirty="0"/>
              <a:t>: While Excel is great for basic analysis, it is not suitable for advanced tasks like machine learning or big data analytics, which require specialized tools and programming languages.</a:t>
            </a:r>
          </a:p>
          <a:p>
            <a:pPr>
              <a:buFont typeface="+mj-lt"/>
              <a:buAutoNum type="arabicPeriod"/>
            </a:pPr>
            <a:r>
              <a:rPr lang="en-US" b="1" dirty="0"/>
              <a:t>Performance</a:t>
            </a:r>
            <a:r>
              <a:rPr lang="en-US" dirty="0"/>
              <a:t>: Complex formulas, especially those used in larger datasets, can slow down Excel. It may take longer to process the data, reducing efficiency when working with substantial or complicated datasets.</a:t>
            </a:r>
          </a:p>
        </p:txBody>
      </p:sp>
      <p:sp>
        <p:nvSpPr>
          <p:cNvPr id="4" name="Slide Number Placeholder 3"/>
          <p:cNvSpPr>
            <a:spLocks noGrp="1"/>
          </p:cNvSpPr>
          <p:nvPr>
            <p:ph type="sldNum" sz="quarter" idx="5"/>
          </p:nvPr>
        </p:nvSpPr>
        <p:spPr/>
        <p:txBody>
          <a:bodyPr/>
          <a:lstStyle/>
          <a:p>
            <a:fld id="{0090596E-B1B8-4E4E-B8E0-28D941E615DF}" type="slidenum">
              <a:rPr lang="en-US" smtClean="0"/>
              <a:t>2</a:t>
            </a:fld>
            <a:endParaRPr lang="en-US"/>
          </a:p>
        </p:txBody>
      </p:sp>
    </p:spTree>
    <p:extLst>
      <p:ext uri="{BB962C8B-B14F-4D97-AF65-F5344CB8AC3E}">
        <p14:creationId xmlns:p14="http://schemas.microsoft.com/office/powerpoint/2010/main" val="103807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926A5-A240-D9F6-E17F-9D3B04914A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6EF9ED-A98D-E48F-6179-1D6530986B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D305E8-6EC9-1EBE-E700-526024099A5C}"/>
              </a:ext>
            </a:extLst>
          </p:cNvPr>
          <p:cNvSpPr>
            <a:spLocks noGrp="1"/>
          </p:cNvSpPr>
          <p:nvPr>
            <p:ph type="body" idx="1"/>
          </p:nvPr>
        </p:nvSpPr>
        <p:spPr/>
        <p:txBody>
          <a:bodyPr/>
          <a:lstStyle/>
          <a:p>
            <a:pPr>
              <a:buNone/>
            </a:pPr>
            <a:r>
              <a:rPr lang="en-US" dirty="0"/>
              <a:t>IBM SPSS (Statistical Package for the Social Sciences) is a software application used for statistical analysis. It is particularly popular in research fields such as social sciences, marketing, and healthcare. SPSS allows users to perform a wide range of statistical tests and procedures and is known for its user-friendly interface. Researchers and analysts use it to analyze data, perform hypothesis testing, regression analysis, and create high-quality reports with graphs and charts.</a:t>
            </a:r>
          </a:p>
          <a:p>
            <a:pPr>
              <a:buNone/>
            </a:pPr>
            <a:r>
              <a:rPr lang="en-US" b="1" dirty="0"/>
              <a:t>When to Use IBM SPSS?</a:t>
            </a:r>
          </a:p>
          <a:p>
            <a:pPr>
              <a:buNone/>
            </a:pPr>
            <a:r>
              <a:rPr lang="en-US" dirty="0"/>
              <a:t>SPSS is ideal when you need to perform complex statistical analysis or work with large survey datasets. It excels in areas like hypothesis testing, regression analysis, and predictive modeling. SPSS is often used in research and academia to analyze experimental data and summarize findings through descriptive statistics. If you have survey data, SPSS provides an intuitive environment for cleaning, analyzing, and visualizing the results. It’s also useful for anyone who needs to report statistical findings clearly and accurately, thanks to its built-in reporting features.</a:t>
            </a:r>
          </a:p>
          <a:p>
            <a:pPr>
              <a:buNone/>
            </a:pPr>
            <a:r>
              <a:rPr lang="en-US" b="1" dirty="0"/>
              <a:t>Advantages</a:t>
            </a:r>
          </a:p>
          <a:p>
            <a:pPr>
              <a:buFont typeface="+mj-lt"/>
              <a:buAutoNum type="arabicPeriod"/>
            </a:pPr>
            <a:r>
              <a:rPr lang="en-US" b="1" dirty="0"/>
              <a:t>Advanced Statistical Functions</a:t>
            </a:r>
            <a:r>
              <a:rPr lang="en-US" dirty="0"/>
              <a:t>: SPSS provides a wide range of statistical tests, including t-tests, ANOVA, chi-square tests, and advanced regression models. This makes it an excellent tool for researchers and data analysts who need to perform in-depth statistical analysis.</a:t>
            </a:r>
          </a:p>
          <a:p>
            <a:pPr>
              <a:buFont typeface="+mj-lt"/>
              <a:buAutoNum type="arabicPeriod"/>
            </a:pPr>
            <a:r>
              <a:rPr lang="en-US" b="1" dirty="0"/>
              <a:t>Easy-to-Use Interface</a:t>
            </a:r>
            <a:r>
              <a:rPr lang="en-US" dirty="0"/>
              <a:t>: Unlike some statistical software that requires programming knowledge, SPSS provides a graphical interface (GUI) that makes it accessible to non-programmers, which is particularly useful for people without a technical background.</a:t>
            </a:r>
          </a:p>
          <a:p>
            <a:pPr>
              <a:buFont typeface="+mj-lt"/>
              <a:buAutoNum type="arabicPeriod"/>
            </a:pPr>
            <a:r>
              <a:rPr lang="en-US" b="1" dirty="0"/>
              <a:t>Integration</a:t>
            </a:r>
            <a:r>
              <a:rPr lang="en-US" dirty="0"/>
              <a:t>: SPSS can work seamlessly with various data formats such as Excel, CSV, and SQL databases, which is beneficial for those who need to import or export data from other sources.</a:t>
            </a:r>
          </a:p>
          <a:p>
            <a:pPr>
              <a:buFont typeface="+mj-lt"/>
              <a:buAutoNum type="arabicPeriod"/>
            </a:pPr>
            <a:r>
              <a:rPr lang="en-US" b="1" dirty="0"/>
              <a:t>Extensive Documentation</a:t>
            </a:r>
            <a:r>
              <a:rPr lang="en-US" dirty="0"/>
              <a:t>: SPSS comes with comprehensive documentation, tutorials, and customer support, making it easier for users to learn the software and resolve issues when needed.</a:t>
            </a:r>
          </a:p>
          <a:p>
            <a:pPr>
              <a:buFont typeface="+mj-lt"/>
              <a:buAutoNum type="arabicPeriod"/>
            </a:pPr>
            <a:r>
              <a:rPr lang="en-US" b="1" dirty="0"/>
              <a:t>Automated Reports</a:t>
            </a:r>
            <a:r>
              <a:rPr lang="en-US" dirty="0"/>
              <a:t>: SPSS offers features that automate the generation of reports, saving time on repetitive tasks. This is particularly valuable in research projects where regular reporting is required.</a:t>
            </a:r>
          </a:p>
          <a:p>
            <a:pPr>
              <a:buNone/>
            </a:pPr>
            <a:r>
              <a:rPr lang="en-US" b="1" dirty="0"/>
              <a:t>Disadvantages</a:t>
            </a:r>
          </a:p>
          <a:p>
            <a:pPr>
              <a:buFont typeface="+mj-lt"/>
              <a:buAutoNum type="arabicPeriod"/>
            </a:pPr>
            <a:r>
              <a:rPr lang="en-US" b="1" dirty="0"/>
              <a:t>Cost</a:t>
            </a:r>
            <a:r>
              <a:rPr lang="en-US" dirty="0"/>
              <a:t>: Unlike open-source tools like R or Python, SPSS is a paid software. The cost may be prohibitive for smaller organizations, independent researchers, or students.</a:t>
            </a:r>
          </a:p>
          <a:p>
            <a:pPr>
              <a:buFont typeface="+mj-lt"/>
              <a:buAutoNum type="arabicPeriod"/>
            </a:pPr>
            <a:r>
              <a:rPr lang="en-US" b="1" dirty="0"/>
              <a:t>Steep Learning Curve</a:t>
            </a:r>
            <a:r>
              <a:rPr lang="en-US" dirty="0"/>
              <a:t>: While the GUI is user-friendly, mastering SPSS’s advanced features requires some time and effort, especially for users unfamiliar with statistical analysis.</a:t>
            </a:r>
          </a:p>
          <a:p>
            <a:pPr>
              <a:buFont typeface="+mj-lt"/>
              <a:buAutoNum type="arabicPeriod"/>
            </a:pPr>
            <a:r>
              <a:rPr lang="en-US" b="1" dirty="0"/>
              <a:t>Limited Flexibility</a:t>
            </a:r>
            <a:r>
              <a:rPr lang="en-US" dirty="0"/>
              <a:t>: SPSS may not be as customizable as other open-source alternatives like R or Python, especially for more advanced or custom statistical modeling.</a:t>
            </a:r>
          </a:p>
          <a:p>
            <a:pPr>
              <a:buFont typeface="+mj-lt"/>
              <a:buAutoNum type="arabicPeriod"/>
            </a:pPr>
            <a:r>
              <a:rPr lang="en-US" b="1" dirty="0"/>
              <a:t>Less Suitable for Big Data</a:t>
            </a:r>
            <a:r>
              <a:rPr lang="en-US" dirty="0"/>
              <a:t>: SPSS is not designed for handling big data or conducting machine learning tasks. It may struggle with extremely large datasets and is less suitable for real-time data analysis.</a:t>
            </a:r>
          </a:p>
        </p:txBody>
      </p:sp>
      <p:sp>
        <p:nvSpPr>
          <p:cNvPr id="4" name="Slide Number Placeholder 3">
            <a:extLst>
              <a:ext uri="{FF2B5EF4-FFF2-40B4-BE49-F238E27FC236}">
                <a16:creationId xmlns:a16="http://schemas.microsoft.com/office/drawing/2014/main" id="{E17FE9F6-475E-AFBD-9B10-75A1DB73AC4C}"/>
              </a:ext>
            </a:extLst>
          </p:cNvPr>
          <p:cNvSpPr>
            <a:spLocks noGrp="1"/>
          </p:cNvSpPr>
          <p:nvPr>
            <p:ph type="sldNum" sz="quarter" idx="5"/>
          </p:nvPr>
        </p:nvSpPr>
        <p:spPr/>
        <p:txBody>
          <a:bodyPr/>
          <a:lstStyle/>
          <a:p>
            <a:fld id="{0090596E-B1B8-4E4E-B8E0-28D941E615DF}" type="slidenum">
              <a:rPr lang="en-US" smtClean="0"/>
              <a:t>3</a:t>
            </a:fld>
            <a:endParaRPr lang="en-US"/>
          </a:p>
        </p:txBody>
      </p:sp>
    </p:spTree>
    <p:extLst>
      <p:ext uri="{BB962C8B-B14F-4D97-AF65-F5344CB8AC3E}">
        <p14:creationId xmlns:p14="http://schemas.microsoft.com/office/powerpoint/2010/main" val="253658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Excel’s Role in Data Science</a:t>
            </a:r>
          </a:p>
          <a:p>
            <a:pPr>
              <a:buNone/>
            </a:pPr>
            <a:r>
              <a:rPr lang="en-US" dirty="0"/>
              <a:t>Excel is a great tool for getting started with data science, especially for basic analysis, data visualization, and reporting. It’s perfect for handling small datasets and simple calculations. However, it’s not suitable for more advanced tasks like big data processing or machine learning, where specialized tools are required. </a:t>
            </a:r>
          </a:p>
          <a:p>
            <a:pPr>
              <a:buNone/>
            </a:pPr>
            <a:r>
              <a:rPr lang="en-US" b="1" dirty="0"/>
              <a:t>SPSS for Advanced Statistical Analysis</a:t>
            </a:r>
          </a:p>
          <a:p>
            <a:pPr>
              <a:buNone/>
            </a:pPr>
            <a:r>
              <a:rPr lang="en-US" dirty="0"/>
              <a:t>IBM SPSS is a robust tool designed for more complex statistical analysis. It is commonly used in fields like research, social sciences, and healthcare to conduct hypothesis testing, regression analysis, and other sophisticated analyses. SPSS provides a comprehensive set of tools for researchers who need to generate statistically valid results and detailed reports. </a:t>
            </a:r>
          </a:p>
          <a:p>
            <a:pPr>
              <a:buNone/>
            </a:pPr>
            <a:r>
              <a:rPr lang="en-US" b="1" dirty="0"/>
              <a:t>Choosing the Right Tool for the Task</a:t>
            </a:r>
          </a:p>
          <a:p>
            <a:pPr>
              <a:buNone/>
            </a:pPr>
            <a:r>
              <a:rPr lang="en-US" dirty="0"/>
              <a:t>Choosing between Excel and SPSS depends on the task at hand. If you’re dealing with a small dataset that requires basic analysis and visualization, Excel is the right tool. However, if your analysis involves advanced statistical techniques or large datasets, SPSS is more suitable</a:t>
            </a:r>
          </a:p>
          <a:p>
            <a:pPr>
              <a:buNone/>
            </a:pPr>
            <a:r>
              <a:rPr lang="en-US" b="1" dirty="0"/>
              <a:t>Excel’s Limitations</a:t>
            </a:r>
          </a:p>
          <a:p>
            <a:pPr>
              <a:buNone/>
            </a:pPr>
            <a:r>
              <a:rPr lang="en-US" dirty="0"/>
              <a:t>While Excel is incredibly versatile, it has its limitations. Its capacity to handle large datasets is restricted, and complex formulas can slow it down. Additionally, Excel is not ideal for performing advanced statistical analyses or machine learning. </a:t>
            </a:r>
          </a:p>
          <a:p>
            <a:pPr>
              <a:buNone/>
            </a:pPr>
            <a:r>
              <a:rPr lang="en-US" b="1" dirty="0"/>
              <a:t>SPSS’s Strength in Data Science</a:t>
            </a:r>
          </a:p>
          <a:p>
            <a:r>
              <a:rPr lang="en-US" dirty="0"/>
              <a:t>SPSS excels in providing advanced statistical analysis and can handle large datasets, making it ideal for researchers who need to conduct in-depth analysis. Its user-friendly interface and ability to perform complex modeling and testing set it apart from tools like Excel</a:t>
            </a:r>
          </a:p>
        </p:txBody>
      </p:sp>
      <p:sp>
        <p:nvSpPr>
          <p:cNvPr id="4" name="Slide Number Placeholder 3"/>
          <p:cNvSpPr>
            <a:spLocks noGrp="1"/>
          </p:cNvSpPr>
          <p:nvPr>
            <p:ph type="sldNum" sz="quarter" idx="5"/>
          </p:nvPr>
        </p:nvSpPr>
        <p:spPr/>
        <p:txBody>
          <a:bodyPr/>
          <a:lstStyle/>
          <a:p>
            <a:fld id="{0090596E-B1B8-4E4E-B8E0-28D941E615DF}" type="slidenum">
              <a:rPr lang="en-US" smtClean="0"/>
              <a:t>4</a:t>
            </a:fld>
            <a:endParaRPr lang="en-US"/>
          </a:p>
        </p:txBody>
      </p:sp>
    </p:spTree>
    <p:extLst>
      <p:ext uri="{BB962C8B-B14F-4D97-AF65-F5344CB8AC3E}">
        <p14:creationId xmlns:p14="http://schemas.microsoft.com/office/powerpoint/2010/main" val="1638552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64D7B-68EC-3A5D-EF43-D9D9742990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06B0B4-3041-7984-785C-3413E7819C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6E38AF-415C-26EF-9E80-D60968101509}"/>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DD04435-942E-0E65-F622-05ED923D3D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7221B-9F10-95AB-69C5-1D9CDF940FA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426091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3E710-1396-1DBE-B21A-6E5F4DB29A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7D0FFC-810D-E0BE-7F84-FB1DBC9D0E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448A89-7276-CAA3-CC3E-51645337B7B0}"/>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2019B62C-4FC8-3D7F-CA46-51644491C2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030D1-622F-1249-765C-6E46A4EE2CC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22195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C8B56-DFF5-BE41-DE3D-05FD2F3200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044437-5D46-EFD2-CE6E-D245C6CF60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37C1EA-B634-9836-E23E-0C48426B11DC}"/>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D8AEF48-21ED-D969-1990-2DE1C81B0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5EF36A-D445-D428-87D2-6F92FCC4252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701688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2C1F8-6D81-976E-8B0A-1E12208DAE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7F129E-6A21-475A-DFD5-830A3CB55B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74CC03-B6B9-D9AC-E724-B5221209C9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697496-A1D5-707B-B103-3E5D62898952}"/>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6" name="Footer Placeholder 5">
            <a:extLst>
              <a:ext uri="{FF2B5EF4-FFF2-40B4-BE49-F238E27FC236}">
                <a16:creationId xmlns:a16="http://schemas.microsoft.com/office/drawing/2014/main" id="{63119BA9-CC54-F483-0160-95B1D3A32F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86727-9DDC-7A20-56C0-327D2F41232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62229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A69BF-27D4-4A43-C1DE-BDC7AF294A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14209E-ED2F-A8F5-1743-E17B335C11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EDC2E8-5C27-3ECA-1553-8659D9D6A7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8730BC-5B3E-EFAB-1BD3-E13DB9DDE4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CF01D-B2D0-0CBA-A8F7-BA642C8E57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1C6494-8C59-EE05-0FF5-DE460B9B041D}"/>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8" name="Footer Placeholder 7">
            <a:extLst>
              <a:ext uri="{FF2B5EF4-FFF2-40B4-BE49-F238E27FC236}">
                <a16:creationId xmlns:a16="http://schemas.microsoft.com/office/drawing/2014/main" id="{6121FBB3-F41B-BA3F-04D2-8AEBE32620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9CF6BA-9438-86D8-4731-4FDBACD59E9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43516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7EE4C-E056-686E-CB94-6C08E52142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99DEB6-AF92-5F75-B67E-B745189518D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4" name="Footer Placeholder 3">
            <a:extLst>
              <a:ext uri="{FF2B5EF4-FFF2-40B4-BE49-F238E27FC236}">
                <a16:creationId xmlns:a16="http://schemas.microsoft.com/office/drawing/2014/main" id="{C8AC647A-F5A0-ABF7-A720-98AA381602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0C2998-0FDB-260D-8F37-08DD947336E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646968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8AB883-68A8-8A2C-5DCB-B0DDF813CBE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3" name="Footer Placeholder 2">
            <a:extLst>
              <a:ext uri="{FF2B5EF4-FFF2-40B4-BE49-F238E27FC236}">
                <a16:creationId xmlns:a16="http://schemas.microsoft.com/office/drawing/2014/main" id="{03095111-88DD-346A-DFD2-A16E6699C9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9B8901-2CC4-2A23-2A20-0F5308467320}"/>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175100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0850A-B0CE-47E3-B62E-D2DA694999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62B4AC-9343-6345-E5A8-618502FAAF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BF07-5277-2848-4B48-82B2E15DF9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A3C87E-D1D8-A841-F686-83B51927D82A}"/>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6" name="Footer Placeholder 5">
            <a:extLst>
              <a:ext uri="{FF2B5EF4-FFF2-40B4-BE49-F238E27FC236}">
                <a16:creationId xmlns:a16="http://schemas.microsoft.com/office/drawing/2014/main" id="{C9864D58-181E-2E07-D806-0C4A2E456C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4B2EB8-88E8-1C3F-49D4-2D45329AD74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002829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86FFB-5EBF-1B4E-4E73-EE392DC8EA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F24FF6-52E4-C6F8-FE9D-27FC071A00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319B0D-FC2A-6DE5-E814-B659200C8C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452C68-3F9E-B9AB-5EDA-344140010925}"/>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6" name="Footer Placeholder 5">
            <a:extLst>
              <a:ext uri="{FF2B5EF4-FFF2-40B4-BE49-F238E27FC236}">
                <a16:creationId xmlns:a16="http://schemas.microsoft.com/office/drawing/2014/main" id="{21F25132-A2D5-E3BC-0AFA-D22AE6DC91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905F6A-1D13-4385-DBF2-1922E7628F3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506154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96446-8C2D-2DF2-026B-D6A1A02558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B8E4CC-7F20-CA0B-FE27-9F81AD7A87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F03A1B-8D6A-02D5-3674-FC058B44CA6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A4AD84C-7188-0CE7-111D-C9CF36402A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5B2CA5-EC7C-6B30-ACD0-E4B643392EF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74543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2D6490-8E1F-69E7-702F-F4372EC6D2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DAFB00-9AB2-3D68-51B2-7D1B2A0C70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B22EEC-3C2C-D5E6-A7B3-2B70C518560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6CA8357-A8E1-A56E-149D-CF160E5D46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B41E16-54EA-DCFE-BF7D-132E638AA8EC}"/>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726851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ED0A1F-9E4C-38C1-44CA-48217A66F7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16B99A-F1D9-CB5E-4D08-7510DF44E6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1F839A-2152-2ECB-945F-95467AFFCD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67E9B569-C635-225A-B150-FE60A93E28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0775CAD-A5B8-6445-8F32-863594860E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F91314-2232-4618-AEA5-B75A9D4CAB9F}" type="slidenum">
              <a:rPr lang="en-US" smtClean="0"/>
              <a:t>‹#›</a:t>
            </a:fld>
            <a:endParaRPr lang="en-US"/>
          </a:p>
        </p:txBody>
      </p:sp>
    </p:spTree>
    <p:extLst>
      <p:ext uri="{BB962C8B-B14F-4D97-AF65-F5344CB8AC3E}">
        <p14:creationId xmlns:p14="http://schemas.microsoft.com/office/powerpoint/2010/main" val="3812087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BF02AAA-38C2-C2B4-9DCF-0D7B36943E42}"/>
              </a:ext>
            </a:extLst>
          </p:cNvPr>
          <p:cNvSpPr txBox="1"/>
          <p:nvPr/>
        </p:nvSpPr>
        <p:spPr>
          <a:xfrm>
            <a:off x="2784444" y="2483382"/>
            <a:ext cx="6623109" cy="769441"/>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360 Analysis Tools</a:t>
            </a:r>
          </a:p>
        </p:txBody>
      </p:sp>
      <p:sp>
        <p:nvSpPr>
          <p:cNvPr id="7" name="TextBox 6">
            <a:extLst>
              <a:ext uri="{FF2B5EF4-FFF2-40B4-BE49-F238E27FC236}">
                <a16:creationId xmlns:a16="http://schemas.microsoft.com/office/drawing/2014/main" id="{4762BF6F-6CEA-5E18-D886-19C6FCE8C811}"/>
              </a:ext>
            </a:extLst>
          </p:cNvPr>
          <p:cNvSpPr txBox="1"/>
          <p:nvPr/>
        </p:nvSpPr>
        <p:spPr>
          <a:xfrm>
            <a:off x="4410217" y="3393563"/>
            <a:ext cx="3371564" cy="369332"/>
          </a:xfrm>
          <a:prstGeom prst="rect">
            <a:avLst/>
          </a:prstGeom>
          <a:noFill/>
        </p:spPr>
        <p:txBody>
          <a:bodyPr wrap="none" rtlCol="0">
            <a:spAutoFit/>
          </a:bodyPr>
          <a:lstStyle/>
          <a:p>
            <a:pPr algn="ctr"/>
            <a:r>
              <a:rPr lang="en-US" b="1" i="1" dirty="0"/>
              <a:t>Shahriar’s Analytical Academy</a:t>
            </a:r>
          </a:p>
        </p:txBody>
      </p:sp>
    </p:spTree>
    <p:extLst>
      <p:ext uri="{BB962C8B-B14F-4D97-AF65-F5344CB8AC3E}">
        <p14:creationId xmlns:p14="http://schemas.microsoft.com/office/powerpoint/2010/main" val="1574655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FB58811-47EC-A017-47DE-8742B02062FA}"/>
              </a:ext>
            </a:extLst>
          </p:cNvPr>
          <p:cNvSpPr/>
          <p:nvPr/>
        </p:nvSpPr>
        <p:spPr>
          <a:xfrm>
            <a:off x="1987826" y="0"/>
            <a:ext cx="10204174"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Microsoft Excel</a:t>
            </a:r>
          </a:p>
        </p:txBody>
      </p:sp>
      <p:sp>
        <p:nvSpPr>
          <p:cNvPr id="3" name="TextBox 2">
            <a:extLst>
              <a:ext uri="{FF2B5EF4-FFF2-40B4-BE49-F238E27FC236}">
                <a16:creationId xmlns:a16="http://schemas.microsoft.com/office/drawing/2014/main" id="{B60E1C23-960A-31EC-6AAD-2AD005EF6949}"/>
              </a:ext>
            </a:extLst>
          </p:cNvPr>
          <p:cNvSpPr txBox="1"/>
          <p:nvPr/>
        </p:nvSpPr>
        <p:spPr>
          <a:xfrm>
            <a:off x="357808" y="1054961"/>
            <a:ext cx="11322657" cy="923330"/>
          </a:xfrm>
          <a:prstGeom prst="rect">
            <a:avLst/>
          </a:prstGeom>
          <a:noFill/>
        </p:spPr>
        <p:txBody>
          <a:bodyPr wrap="square">
            <a:spAutoFit/>
          </a:bodyPr>
          <a:lstStyle/>
          <a:p>
            <a:r>
              <a:rPr lang="en-US" dirty="0"/>
              <a:t>Excel is a </a:t>
            </a:r>
            <a:r>
              <a:rPr lang="en-US" b="1" dirty="0"/>
              <a:t>spreadsheet application developed by Microsoft</a:t>
            </a:r>
            <a:r>
              <a:rPr lang="en-US" dirty="0"/>
              <a:t>. It is widely used for </a:t>
            </a:r>
            <a:r>
              <a:rPr lang="en-US" b="1" dirty="0"/>
              <a:t>data entry, data analysis, and visualization</a:t>
            </a:r>
            <a:r>
              <a:rPr lang="en-US" dirty="0"/>
              <a:t>. Excel allows users to organize </a:t>
            </a:r>
            <a:r>
              <a:rPr lang="en-US" b="1" dirty="0"/>
              <a:t>data into rows and columns, perform calculations, and create graphs and charts.</a:t>
            </a:r>
          </a:p>
        </p:txBody>
      </p:sp>
      <p:pic>
        <p:nvPicPr>
          <p:cNvPr id="6" name="Picture 10" descr="Analytics software natively connected to Microsoft Excel | Toucan">
            <a:extLst>
              <a:ext uri="{FF2B5EF4-FFF2-40B4-BE49-F238E27FC236}">
                <a16:creationId xmlns:a16="http://schemas.microsoft.com/office/drawing/2014/main" id="{CBD7E1DC-7E52-DAF3-BA3D-65D0B0F3FE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77" y="-89529"/>
            <a:ext cx="1836751" cy="1033172"/>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FF9C502B-5C46-3315-BD35-6E66635FF28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8333" r="55627" b="8872"/>
          <a:stretch/>
        </p:blipFill>
        <p:spPr bwMode="auto">
          <a:xfrm>
            <a:off x="728372" y="2089609"/>
            <a:ext cx="4479732" cy="4571532"/>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AC19CF70-8980-6F02-FE4F-EAF2C4DF873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1972"/>
          <a:stretch/>
        </p:blipFill>
        <p:spPr bwMode="auto">
          <a:xfrm>
            <a:off x="5674581" y="1910261"/>
            <a:ext cx="5267325" cy="49302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1413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932BA-F016-FBD7-F0BF-01EB600B082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01FA17B-5252-281E-BC81-03F890C6007C}"/>
              </a:ext>
            </a:extLst>
          </p:cNvPr>
          <p:cNvSpPr/>
          <p:nvPr/>
        </p:nvSpPr>
        <p:spPr>
          <a:xfrm>
            <a:off x="3053301" y="0"/>
            <a:ext cx="9138698"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IBM SPSS</a:t>
            </a:r>
          </a:p>
        </p:txBody>
      </p:sp>
      <p:sp>
        <p:nvSpPr>
          <p:cNvPr id="3" name="TextBox 2">
            <a:extLst>
              <a:ext uri="{FF2B5EF4-FFF2-40B4-BE49-F238E27FC236}">
                <a16:creationId xmlns:a16="http://schemas.microsoft.com/office/drawing/2014/main" id="{4BDC3527-DB55-0859-66BB-A4285BEE488A}"/>
              </a:ext>
            </a:extLst>
          </p:cNvPr>
          <p:cNvSpPr txBox="1"/>
          <p:nvPr/>
        </p:nvSpPr>
        <p:spPr>
          <a:xfrm>
            <a:off x="333954" y="919789"/>
            <a:ext cx="11322657" cy="923330"/>
          </a:xfrm>
          <a:prstGeom prst="rect">
            <a:avLst/>
          </a:prstGeom>
          <a:noFill/>
        </p:spPr>
        <p:txBody>
          <a:bodyPr wrap="square">
            <a:spAutoFit/>
          </a:bodyPr>
          <a:lstStyle/>
          <a:p>
            <a:r>
              <a:rPr lang="en-US" dirty="0"/>
              <a:t>SPSS (Statistical Package for the Social Sciences) is a software used for </a:t>
            </a:r>
            <a:r>
              <a:rPr lang="en-US" b="1" dirty="0"/>
              <a:t>statistical analysis. </a:t>
            </a:r>
            <a:r>
              <a:rPr lang="en-US" dirty="0"/>
              <a:t>It is highly favored in </a:t>
            </a:r>
            <a:r>
              <a:rPr lang="en-US" b="1" dirty="0"/>
              <a:t>social science, marketing, and healthcare research</a:t>
            </a:r>
            <a:r>
              <a:rPr lang="en-US" dirty="0"/>
              <a:t>. SPSS allows for </a:t>
            </a:r>
            <a:r>
              <a:rPr lang="en-US" b="1" dirty="0"/>
              <a:t>easy data manipulation, statistical analysis, and the creation of high-quality reports and charts.</a:t>
            </a:r>
          </a:p>
        </p:txBody>
      </p:sp>
      <p:pic>
        <p:nvPicPr>
          <p:cNvPr id="2058" name="Picture 10" descr="NGEN IT LTD.">
            <a:extLst>
              <a:ext uri="{FF2B5EF4-FFF2-40B4-BE49-F238E27FC236}">
                <a16:creationId xmlns:a16="http://schemas.microsoft.com/office/drawing/2014/main" id="{C85A1185-5A61-33AF-B762-1EBD4547857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2019"/>
          <a:stretch/>
        </p:blipFill>
        <p:spPr bwMode="auto">
          <a:xfrm>
            <a:off x="-234895" y="-999077"/>
            <a:ext cx="3581400" cy="1826013"/>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a:extLst>
              <a:ext uri="{FF2B5EF4-FFF2-40B4-BE49-F238E27FC236}">
                <a16:creationId xmlns:a16="http://schemas.microsoft.com/office/drawing/2014/main" id="{1D3FEF05-8E2B-6D9D-D6FB-6A32F00FEEA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8097" r="56277" b="9409"/>
          <a:stretch/>
        </p:blipFill>
        <p:spPr bwMode="auto">
          <a:xfrm>
            <a:off x="908850" y="2020080"/>
            <a:ext cx="4288901" cy="4420476"/>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a:extLst>
              <a:ext uri="{FF2B5EF4-FFF2-40B4-BE49-F238E27FC236}">
                <a16:creationId xmlns:a16="http://schemas.microsoft.com/office/drawing/2014/main" id="{AC111833-A963-EC95-3039-A3827ACB3C0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2236"/>
          <a:stretch/>
        </p:blipFill>
        <p:spPr bwMode="auto">
          <a:xfrm>
            <a:off x="5629647" y="1843119"/>
            <a:ext cx="4707049" cy="5020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0242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0BFF2D1-BD0E-21FB-3EA5-9C3FEF7862B4}"/>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5 Key Learning Points of this Lesson</a:t>
            </a:r>
          </a:p>
        </p:txBody>
      </p:sp>
      <p:pic>
        <p:nvPicPr>
          <p:cNvPr id="3076" name="Picture 4">
            <a:extLst>
              <a:ext uri="{FF2B5EF4-FFF2-40B4-BE49-F238E27FC236}">
                <a16:creationId xmlns:a16="http://schemas.microsoft.com/office/drawing/2014/main" id="{10D50A95-964A-35FC-D76C-CB4DA553A2B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323"/>
          <a:stretch/>
        </p:blipFill>
        <p:spPr bwMode="auto">
          <a:xfrm>
            <a:off x="781816" y="866690"/>
            <a:ext cx="10628367" cy="61354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5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E35F3-AF15-A4B9-2640-A131227CD69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61753B1-A369-1F9E-C78D-93AA81EAC8D2}"/>
              </a:ext>
            </a:extLst>
          </p:cNvPr>
          <p:cNvSpPr txBox="1"/>
          <p:nvPr/>
        </p:nvSpPr>
        <p:spPr>
          <a:xfrm>
            <a:off x="2915174" y="2659559"/>
            <a:ext cx="6361652" cy="769441"/>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Thank You!</a:t>
            </a:r>
          </a:p>
        </p:txBody>
      </p:sp>
      <p:sp>
        <p:nvSpPr>
          <p:cNvPr id="7" name="TextBox 6">
            <a:extLst>
              <a:ext uri="{FF2B5EF4-FFF2-40B4-BE49-F238E27FC236}">
                <a16:creationId xmlns:a16="http://schemas.microsoft.com/office/drawing/2014/main" id="{907FA6A3-9FF9-C077-B91B-4AE0187EC665}"/>
              </a:ext>
            </a:extLst>
          </p:cNvPr>
          <p:cNvSpPr txBox="1"/>
          <p:nvPr/>
        </p:nvSpPr>
        <p:spPr>
          <a:xfrm>
            <a:off x="4410218" y="3429000"/>
            <a:ext cx="3371564" cy="369332"/>
          </a:xfrm>
          <a:prstGeom prst="rect">
            <a:avLst/>
          </a:prstGeom>
          <a:noFill/>
        </p:spPr>
        <p:txBody>
          <a:bodyPr wrap="none" rtlCol="0">
            <a:spAutoFit/>
          </a:bodyPr>
          <a:lstStyle/>
          <a:p>
            <a:r>
              <a:rPr lang="en-US" b="1" i="1" dirty="0"/>
              <a:t>Shahriar’s Analytical Academy</a:t>
            </a:r>
          </a:p>
        </p:txBody>
      </p:sp>
    </p:spTree>
    <p:extLst>
      <p:ext uri="{BB962C8B-B14F-4D97-AF65-F5344CB8AC3E}">
        <p14:creationId xmlns:p14="http://schemas.microsoft.com/office/powerpoint/2010/main" val="2004658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1550</TotalTime>
  <Words>1379</Words>
  <Application>Microsoft Office PowerPoint</Application>
  <PresentationFormat>Widescreen</PresentationFormat>
  <Paragraphs>50</Paragraphs>
  <Slides>5</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Shahriar</dc:creator>
  <cp:lastModifiedBy>Md Shahriar</cp:lastModifiedBy>
  <cp:revision>28</cp:revision>
  <dcterms:created xsi:type="dcterms:W3CDTF">2025-03-28T13:19:12Z</dcterms:created>
  <dcterms:modified xsi:type="dcterms:W3CDTF">2025-03-30T10:19:03Z</dcterms:modified>
</cp:coreProperties>
</file>