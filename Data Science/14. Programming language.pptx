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65" r:id="rId4"/>
    <p:sldId id="263"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849" autoAdjust="0"/>
  </p:normalViewPr>
  <p:slideViewPr>
    <p:cSldViewPr snapToGrid="0">
      <p:cViewPr varScale="1">
        <p:scale>
          <a:sx n="80" d="100"/>
          <a:sy n="80"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Python is a popular, high-level programming language known for its simple and readable syntax. It is an interpreted language, which means that code can be executed directly without a separate compilation step. Python is famous for its versatility and is used across many fields, such as web development, data analysis, machine learning, and automation. Its ease of use makes it particularly appealing to beginners and experts alike.</a:t>
            </a:r>
          </a:p>
          <a:p>
            <a:pPr>
              <a:buNone/>
            </a:pPr>
            <a:r>
              <a:rPr lang="en-US" dirty="0"/>
              <a:t>One of the defining features of Python is its support for multiple programming paradigms, including object-oriented, imperative, and functional programming. This allows programmers to write code in various styles depending on the project requirements. Python’s broad scope and simplicity make it one of the most popular programming languages globally.</a:t>
            </a:r>
          </a:p>
          <a:p>
            <a:pPr>
              <a:buNone/>
            </a:pPr>
            <a:r>
              <a:rPr lang="en-US" b="1" dirty="0"/>
              <a:t>When to Use Python?</a:t>
            </a:r>
          </a:p>
          <a:p>
            <a:pPr>
              <a:buNone/>
            </a:pPr>
            <a:r>
              <a:rPr lang="en-US" dirty="0"/>
              <a:t>Python excels in several areas:</a:t>
            </a:r>
          </a:p>
          <a:p>
            <a:pPr>
              <a:buFont typeface="Arial" panose="020B0604020202020204" pitchFamily="34" charset="0"/>
              <a:buChar char="•"/>
            </a:pPr>
            <a:r>
              <a:rPr lang="en-US" b="1" dirty="0"/>
              <a:t>Data Cleaning &amp; Preprocessing</a:t>
            </a:r>
            <a:r>
              <a:rPr lang="en-US" dirty="0"/>
              <a:t>: Libraries like Pandas and NumPy are robust tools for cleaning, manipulating, and preparing large datasets for analysis. Python simplifies tasks like filtering, grouping, and transforming data.</a:t>
            </a:r>
          </a:p>
          <a:p>
            <a:pPr>
              <a:buFont typeface="Arial" panose="020B0604020202020204" pitchFamily="34" charset="0"/>
              <a:buChar char="•"/>
            </a:pPr>
            <a:r>
              <a:rPr lang="en-US" b="1" dirty="0"/>
              <a:t>Machine Learning</a:t>
            </a:r>
            <a:r>
              <a:rPr lang="en-US" dirty="0"/>
              <a:t>: Python’s integration with powerful machine learning libraries such as Scikit-learn, TensorFlow, and </a:t>
            </a:r>
            <a:r>
              <a:rPr lang="en-US" dirty="0" err="1"/>
              <a:t>PyTorch</a:t>
            </a:r>
            <a:r>
              <a:rPr lang="en-US" dirty="0"/>
              <a:t> makes it an excellent choice for building machine learning models, from simple linear regressions to complex deep learning models.</a:t>
            </a:r>
          </a:p>
          <a:p>
            <a:pPr>
              <a:buFont typeface="Arial" panose="020B0604020202020204" pitchFamily="34" charset="0"/>
              <a:buChar char="•"/>
            </a:pPr>
            <a:r>
              <a:rPr lang="en-US" b="1" dirty="0"/>
              <a:t>Data Visualization</a:t>
            </a:r>
            <a:r>
              <a:rPr lang="en-US" dirty="0"/>
              <a:t>: With libraries like Matplotlib, Seaborn, and </a:t>
            </a:r>
            <a:r>
              <a:rPr lang="en-US" dirty="0" err="1"/>
              <a:t>Plotly</a:t>
            </a:r>
            <a:r>
              <a:rPr lang="en-US" dirty="0"/>
              <a:t>, Python provides an easy way to create meaningful data visualizations to communicate insights effectively.</a:t>
            </a:r>
          </a:p>
          <a:p>
            <a:pPr>
              <a:buFont typeface="Arial" panose="020B0604020202020204" pitchFamily="34" charset="0"/>
              <a:buChar char="•"/>
            </a:pPr>
            <a:r>
              <a:rPr lang="en-US" b="1" dirty="0"/>
              <a:t>Automation &amp; Scripting</a:t>
            </a:r>
            <a:r>
              <a:rPr lang="en-US" dirty="0"/>
              <a:t>: Python is often used to automate repetitive tasks such as file management, data extraction, and workflow automation, saving time and improving efficiency.</a:t>
            </a:r>
          </a:p>
          <a:p>
            <a:pPr>
              <a:buFont typeface="Arial" panose="020B0604020202020204" pitchFamily="34" charset="0"/>
              <a:buChar char="•"/>
            </a:pPr>
            <a:r>
              <a:rPr lang="en-US" b="1" dirty="0"/>
              <a:t>Web Scraping</a:t>
            </a:r>
            <a:r>
              <a:rPr lang="en-US" dirty="0"/>
              <a:t>: Python tools like </a:t>
            </a:r>
            <a:r>
              <a:rPr lang="en-US" dirty="0" err="1"/>
              <a:t>BeautifulSoup</a:t>
            </a:r>
            <a:r>
              <a:rPr lang="en-US" dirty="0"/>
              <a:t> and Scrapy make it a popular language for extracting data from websites, enabling users to collect and process web data.</a:t>
            </a:r>
          </a:p>
          <a:p>
            <a:pPr>
              <a:buNone/>
            </a:pPr>
            <a:r>
              <a:rPr lang="en-US" b="1" dirty="0"/>
              <a:t>Advantages of Python</a:t>
            </a:r>
          </a:p>
          <a:p>
            <a:pPr>
              <a:buFont typeface="Arial" panose="020B0604020202020204" pitchFamily="34" charset="0"/>
              <a:buChar char="•"/>
            </a:pPr>
            <a:r>
              <a:rPr lang="en-US" b="1" dirty="0"/>
              <a:t>Ease of Learning and Readability</a:t>
            </a:r>
            <a:r>
              <a:rPr lang="en-US" dirty="0"/>
              <a:t>: Python has a simple syntax, which makes it easy for beginners to understand and write code. Its readability improves the maintainability of code, making it easier for teams to collaborate.</a:t>
            </a:r>
          </a:p>
          <a:p>
            <a:pPr>
              <a:buFont typeface="Arial" panose="020B0604020202020204" pitchFamily="34" charset="0"/>
              <a:buChar char="•"/>
            </a:pPr>
            <a:r>
              <a:rPr lang="en-US" b="1" dirty="0"/>
              <a:t>Large Ecosystem of Libraries</a:t>
            </a:r>
            <a:r>
              <a:rPr lang="en-US" dirty="0"/>
              <a:t>: Python boasts a vast array of libraries for a variety of tasks, including data analysis (Pandas, NumPy), machine learning (TensorFlow, </a:t>
            </a:r>
            <a:r>
              <a:rPr lang="en-US" dirty="0" err="1"/>
              <a:t>PyTorch</a:t>
            </a:r>
            <a:r>
              <a:rPr lang="en-US" dirty="0"/>
              <a:t>), and visualization (Matplotlib, Seaborn), making it a one-stop-shop for most projects.</a:t>
            </a:r>
          </a:p>
          <a:p>
            <a:pPr>
              <a:buFont typeface="Arial" panose="020B0604020202020204" pitchFamily="34" charset="0"/>
              <a:buChar char="•"/>
            </a:pPr>
            <a:r>
              <a:rPr lang="en-US" b="1" dirty="0"/>
              <a:t>Versatile</a:t>
            </a:r>
            <a:r>
              <a:rPr lang="en-US" dirty="0"/>
              <a:t>: Python can be used in many areas such as web development (Django, Flask), scientific computing, artificial intelligence, and more, which makes it a versatile tool in the programming world.</a:t>
            </a:r>
          </a:p>
          <a:p>
            <a:pPr>
              <a:buFont typeface="Arial" panose="020B0604020202020204" pitchFamily="34" charset="0"/>
              <a:buChar char="•"/>
            </a:pPr>
            <a:r>
              <a:rPr lang="en-US" b="1" dirty="0"/>
              <a:t>Community Support</a:t>
            </a:r>
            <a:r>
              <a:rPr lang="en-US" dirty="0"/>
              <a:t>: Python has an extensive community of users, which means access to plenty of online resources, tutorials, and forums. This makes troubleshooting easier and keeps the language continuously evolving.</a:t>
            </a:r>
          </a:p>
          <a:p>
            <a:pPr>
              <a:buNone/>
            </a:pPr>
            <a:r>
              <a:rPr lang="en-US" b="1" dirty="0"/>
              <a:t>Disadvantages of Python</a:t>
            </a:r>
          </a:p>
          <a:p>
            <a:pPr>
              <a:buFont typeface="Arial" panose="020B0604020202020204" pitchFamily="34" charset="0"/>
              <a:buChar char="•"/>
            </a:pPr>
            <a:r>
              <a:rPr lang="en-US" b="1" dirty="0"/>
              <a:t>Speed</a:t>
            </a:r>
            <a:r>
              <a:rPr lang="en-US" dirty="0"/>
              <a:t>: Python tends to be slower than compiled languages like C or Java because it’s an interpreted language. This may not be ideal for time-sensitive tasks or applications that require high performance, such as processing large datasets in real-time.</a:t>
            </a:r>
          </a:p>
          <a:p>
            <a:pPr>
              <a:buFont typeface="Arial" panose="020B0604020202020204" pitchFamily="34" charset="0"/>
              <a:buChar char="•"/>
            </a:pPr>
            <a:r>
              <a:rPr lang="en-US" b="1" dirty="0"/>
              <a:t>Memory Consumption</a:t>
            </a:r>
            <a:r>
              <a:rPr lang="en-US" dirty="0"/>
              <a:t>: Python’s dynamic nature leads to higher memory usage compared to lower-level languages like C or C++. This can be a limiting factor when working with memory-constrained systems.</a:t>
            </a:r>
          </a:p>
          <a:p>
            <a:pPr>
              <a:buFont typeface="Arial" panose="020B0604020202020204" pitchFamily="34" charset="0"/>
              <a:buChar char="•"/>
            </a:pPr>
            <a:r>
              <a:rPr lang="en-US" b="1" dirty="0"/>
              <a:t>Mobile Development</a:t>
            </a:r>
            <a:r>
              <a:rPr lang="en-US" dirty="0"/>
              <a:t>: While Python is great for many applications, it is not commonly used for mobile app development. Other languages like Swift (for iOS) or Kotlin (for Android) are generally preferred for mobile platforms.</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926A5-A240-D9F6-E17F-9D3B04914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EF9ED-A98D-E48F-6179-1D6530986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305E8-6EC9-1EBE-E700-526024099A5C}"/>
              </a:ext>
            </a:extLst>
          </p:cNvPr>
          <p:cNvSpPr>
            <a:spLocks noGrp="1"/>
          </p:cNvSpPr>
          <p:nvPr>
            <p:ph type="body" idx="1"/>
          </p:nvPr>
        </p:nvSpPr>
        <p:spPr/>
        <p:txBody>
          <a:bodyPr/>
          <a:lstStyle/>
          <a:p>
            <a:pPr>
              <a:buNone/>
            </a:pPr>
            <a:r>
              <a:rPr lang="en-US" dirty="0"/>
              <a:t>R is a specialized programming language and software environment designed for statistical computing and data analysis. It is widely used by statisticians, data analysts, and researchers for analyzing data, performing statistical modeling, and visualizing data. R’s strength lies in its ability to handle complex statistical tasks and produce high-quality visualizations, making it an essential tool for anyone working in research-heavy fields.</a:t>
            </a:r>
          </a:p>
          <a:p>
            <a:pPr>
              <a:buNone/>
            </a:pPr>
            <a:r>
              <a:rPr lang="en-US" dirty="0"/>
              <a:t>R is unique in that it offers a vast array of statistical and graphical methods, from linear modeling to time-series analysis. It is open-source and free, with a large number of packages available to extend its functionality.</a:t>
            </a:r>
          </a:p>
          <a:p>
            <a:pPr>
              <a:buNone/>
            </a:pPr>
            <a:r>
              <a:rPr lang="en-US" b="1" dirty="0"/>
              <a:t>When to Use R?</a:t>
            </a:r>
          </a:p>
          <a:p>
            <a:pPr>
              <a:buNone/>
            </a:pPr>
            <a:r>
              <a:rPr lang="en-US" dirty="0"/>
              <a:t>R is particularly effective in situations where detailed statistical analysis and data visualization are required:</a:t>
            </a:r>
          </a:p>
          <a:p>
            <a:pPr>
              <a:buFont typeface="Arial" panose="020B0604020202020204" pitchFamily="34" charset="0"/>
              <a:buChar char="•"/>
            </a:pPr>
            <a:r>
              <a:rPr lang="en-US" b="1" dirty="0"/>
              <a:t>Statistical Analysis</a:t>
            </a:r>
            <a:r>
              <a:rPr lang="en-US" dirty="0"/>
              <a:t>: R’s extensive set of functions for statistical analysis makes it the go-to tool for performing tasks like linear regression, hypothesis testing, and multivariate analysis.</a:t>
            </a:r>
          </a:p>
          <a:p>
            <a:pPr>
              <a:buFont typeface="Arial" panose="020B0604020202020204" pitchFamily="34" charset="0"/>
              <a:buChar char="•"/>
            </a:pPr>
            <a:r>
              <a:rPr lang="en-US" b="1" dirty="0"/>
              <a:t>Data Visualization</a:t>
            </a:r>
            <a:r>
              <a:rPr lang="en-US" dirty="0"/>
              <a:t>: R is known for its advanced data visualization capabilities, particularly through packages like ggplot2. These tools allow users to create highly customizable and aesthetically pleasing visualizations to interpret data clearly.</a:t>
            </a:r>
          </a:p>
          <a:p>
            <a:pPr>
              <a:buFont typeface="Arial" panose="020B0604020202020204" pitchFamily="34" charset="0"/>
              <a:buChar char="•"/>
            </a:pPr>
            <a:r>
              <a:rPr lang="en-US" b="1" dirty="0"/>
              <a:t>Bioinformatics and Research</a:t>
            </a:r>
            <a:r>
              <a:rPr lang="en-US" dirty="0"/>
              <a:t>: R is widely used in fields like bioinformatics, epidemiology, and social sciences. It offers specialized libraries for tasks like gene expression analysis, survival analysis, and epidemiological modeling.</a:t>
            </a:r>
          </a:p>
          <a:p>
            <a:pPr>
              <a:buFont typeface="Arial" panose="020B0604020202020204" pitchFamily="34" charset="0"/>
              <a:buChar char="•"/>
            </a:pPr>
            <a:r>
              <a:rPr lang="en-US" b="1" dirty="0"/>
              <a:t>Time-Series Analysis</a:t>
            </a:r>
            <a:r>
              <a:rPr lang="en-US" dirty="0"/>
              <a:t>: For forecasting and analyzing time-series data, R’s packages like forecast are specifically tailored to handle such tasks, making it the preferred choice for analyzing time-dependent data.</a:t>
            </a:r>
          </a:p>
          <a:p>
            <a:pPr>
              <a:buFont typeface="Arial" panose="020B0604020202020204" pitchFamily="34" charset="0"/>
              <a:buChar char="•"/>
            </a:pPr>
            <a:r>
              <a:rPr lang="en-US" b="1" dirty="0"/>
              <a:t>Academic and Research Work</a:t>
            </a:r>
            <a:r>
              <a:rPr lang="en-US" dirty="0"/>
              <a:t>: Due to its deep statistical capabilities and large number of academic references, R is a favorite tool among researchers and academics.</a:t>
            </a:r>
          </a:p>
          <a:p>
            <a:pPr>
              <a:buNone/>
            </a:pPr>
            <a:r>
              <a:rPr lang="en-US" b="1" dirty="0"/>
              <a:t>Advantages of R</a:t>
            </a:r>
          </a:p>
          <a:p>
            <a:pPr>
              <a:buFont typeface="Arial" panose="020B0604020202020204" pitchFamily="34" charset="0"/>
              <a:buChar char="•"/>
            </a:pPr>
            <a:r>
              <a:rPr lang="en-US" b="1" dirty="0"/>
              <a:t>Superior for Statistical Analysis</a:t>
            </a:r>
            <a:r>
              <a:rPr lang="en-US" dirty="0"/>
              <a:t>: R is specifically built for statistical computing. Its broad array of functions and packages makes it one of the best languages for performing complex statistical analysis.</a:t>
            </a:r>
          </a:p>
          <a:p>
            <a:pPr>
              <a:buFont typeface="Arial" panose="020B0604020202020204" pitchFamily="34" charset="0"/>
              <a:buChar char="•"/>
            </a:pPr>
            <a:r>
              <a:rPr lang="en-US" b="1" dirty="0"/>
              <a:t>Rich Visualization Tools</a:t>
            </a:r>
            <a:r>
              <a:rPr lang="en-US" dirty="0"/>
              <a:t>: With ggplot2 and other packages, R excels in creating high-quality, customizable data visualizations that help users present their findings effectively.</a:t>
            </a:r>
          </a:p>
          <a:p>
            <a:pPr>
              <a:buFont typeface="Arial" panose="020B0604020202020204" pitchFamily="34" charset="0"/>
              <a:buChar char="•"/>
            </a:pPr>
            <a:r>
              <a:rPr lang="en-US" b="1" dirty="0"/>
              <a:t>Extensive Package Ecosystem</a:t>
            </a:r>
            <a:r>
              <a:rPr lang="en-US" dirty="0"/>
              <a:t>: R has a large number of specialized packages for various types of statistical and data analysis tasks, which enables users to perform everything from simple analysis to advanced machine learning.</a:t>
            </a:r>
          </a:p>
          <a:p>
            <a:pPr>
              <a:buFont typeface="Arial" panose="020B0604020202020204" pitchFamily="34" charset="0"/>
              <a:buChar char="•"/>
            </a:pPr>
            <a:r>
              <a:rPr lang="en-US" b="1" dirty="0"/>
              <a:t>Great for Academic Research</a:t>
            </a:r>
            <a:r>
              <a:rPr lang="en-US" dirty="0"/>
              <a:t>: R is favored by academic researchers for its open-source nature, extensiveness, and focus on statistical accuracy, making it ideal for research-intensive applications.</a:t>
            </a:r>
          </a:p>
          <a:p>
            <a:pPr>
              <a:buNone/>
            </a:pPr>
            <a:r>
              <a:rPr lang="en-US" b="1" dirty="0"/>
              <a:t>Disadvantages of R</a:t>
            </a:r>
          </a:p>
          <a:p>
            <a:pPr>
              <a:buFont typeface="Arial" panose="020B0604020202020204" pitchFamily="34" charset="0"/>
              <a:buChar char="•"/>
            </a:pPr>
            <a:r>
              <a:rPr lang="en-US" b="1" dirty="0"/>
              <a:t>Learning Curve</a:t>
            </a:r>
            <a:r>
              <a:rPr lang="en-US" dirty="0"/>
              <a:t>: While R is powerful, its unique syntax and approach to statistical analysis can be challenging for beginners. The learning curve is steeper than that of Python, particularly for those new to programming.</a:t>
            </a:r>
          </a:p>
          <a:p>
            <a:pPr>
              <a:buFont typeface="Arial" panose="020B0604020202020204" pitchFamily="34" charset="0"/>
              <a:buChar char="•"/>
            </a:pPr>
            <a:r>
              <a:rPr lang="en-US" b="1" dirty="0"/>
              <a:t>Limited General-Purpose Programming</a:t>
            </a:r>
            <a:r>
              <a:rPr lang="en-US" dirty="0"/>
              <a:t>: Unlike Python, R is not designed for general-purpose programming tasks such as web development, software development, or automation. It is specialized for statistical work and is not as versatile in other domains.</a:t>
            </a:r>
          </a:p>
          <a:p>
            <a:pPr>
              <a:buFont typeface="Arial" panose="020B0604020202020204" pitchFamily="34" charset="0"/>
              <a:buChar char="•"/>
            </a:pPr>
            <a:r>
              <a:rPr lang="en-US" b="1" dirty="0"/>
              <a:t>Less Efficient with Large Datasets</a:t>
            </a:r>
            <a:r>
              <a:rPr lang="en-US" dirty="0"/>
              <a:t>: R tends to be slower and less memory-efficient than Python, especially when working with large datasets or performing high-performance tasks. Python and other languages tend to perform better in such cases.</a:t>
            </a:r>
          </a:p>
          <a:p>
            <a:pPr>
              <a:buFont typeface="Arial" panose="020B0604020202020204" pitchFamily="34" charset="0"/>
              <a:buChar char="•"/>
            </a:pPr>
            <a:r>
              <a:rPr lang="en-US" b="1" dirty="0"/>
              <a:t>Less Community Support</a:t>
            </a:r>
            <a:r>
              <a:rPr lang="en-US" dirty="0"/>
              <a:t>: While R has an active community, it’s not as large as Python’s. This can sometimes make it harder to find support for non-statistical tasks or more general programming problems.</a:t>
            </a:r>
          </a:p>
        </p:txBody>
      </p:sp>
      <p:sp>
        <p:nvSpPr>
          <p:cNvPr id="4" name="Slide Number Placeholder 3">
            <a:extLst>
              <a:ext uri="{FF2B5EF4-FFF2-40B4-BE49-F238E27FC236}">
                <a16:creationId xmlns:a16="http://schemas.microsoft.com/office/drawing/2014/main" id="{E17FE9F6-475E-AFBD-9B10-75A1DB73AC4C}"/>
              </a:ext>
            </a:extLst>
          </p:cNvPr>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53658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Python</a:t>
            </a:r>
            <a:r>
              <a:rPr lang="en-US" dirty="0"/>
              <a:t> is a versatile, easy-to-learn programming language ideal for tasks like data manipulation, machine learning, and automation. It has a rich ecosystem of libraries that support various fields, including web scraping, data science, and general-purpose programming.</a:t>
            </a:r>
          </a:p>
          <a:p>
            <a:pPr>
              <a:buNone/>
            </a:pPr>
            <a:r>
              <a:rPr lang="en-US" b="1" dirty="0"/>
              <a:t>R</a:t>
            </a:r>
            <a:r>
              <a:rPr lang="en-US" dirty="0"/>
              <a:t> is specifically tailored for statistical computing and is the preferred choice for conducting complex statistical analysis and creating detailed visualizations. Its ecosystem of packages makes it a powerful tool for research, bioinformatics, and time-series analysis.</a:t>
            </a:r>
          </a:p>
          <a:p>
            <a:pPr>
              <a:buNone/>
            </a:pPr>
            <a:r>
              <a:rPr lang="en-US" b="1" dirty="0"/>
              <a:t>Python</a:t>
            </a:r>
            <a:r>
              <a:rPr lang="en-US" dirty="0"/>
              <a:t> offers a broad range of uses beyond data science, such as web development and automation, making it a more general-purpose language. Its large community and ease of learning make it a popular choice for beginners and professionals.</a:t>
            </a:r>
          </a:p>
          <a:p>
            <a:r>
              <a:rPr lang="en-US" b="1" dirty="0"/>
              <a:t>R</a:t>
            </a:r>
            <a:r>
              <a:rPr lang="en-US" dirty="0"/>
              <a:t> shines in specialized tasks related to statistics and data visualization, and is highly regarded in academic and research circles. While it may not be as versatile as Python, it excels in its niche, especially for those focused on data analysis and research-heavy applications.</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4" y="2483382"/>
            <a:ext cx="6623109"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Programming Language</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B58811-47EC-A017-47DE-8742B02062FA}"/>
              </a:ext>
            </a:extLst>
          </p:cNvPr>
          <p:cNvSpPr/>
          <p:nvPr/>
        </p:nvSpPr>
        <p:spPr>
          <a:xfrm>
            <a:off x="1987826" y="0"/>
            <a:ext cx="10204174"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Python</a:t>
            </a:r>
          </a:p>
        </p:txBody>
      </p:sp>
      <p:sp>
        <p:nvSpPr>
          <p:cNvPr id="3" name="TextBox 2">
            <a:extLst>
              <a:ext uri="{FF2B5EF4-FFF2-40B4-BE49-F238E27FC236}">
                <a16:creationId xmlns:a16="http://schemas.microsoft.com/office/drawing/2014/main" id="{B60E1C23-960A-31EC-6AAD-2AD005EF6949}"/>
              </a:ext>
            </a:extLst>
          </p:cNvPr>
          <p:cNvSpPr txBox="1"/>
          <p:nvPr/>
        </p:nvSpPr>
        <p:spPr>
          <a:xfrm>
            <a:off x="357808" y="1054961"/>
            <a:ext cx="11322657" cy="923330"/>
          </a:xfrm>
          <a:prstGeom prst="rect">
            <a:avLst/>
          </a:prstGeom>
          <a:noFill/>
        </p:spPr>
        <p:txBody>
          <a:bodyPr wrap="square">
            <a:spAutoFit/>
          </a:bodyPr>
          <a:lstStyle/>
          <a:p>
            <a:pPr algn="just"/>
            <a:r>
              <a:rPr lang="en-US" dirty="0"/>
              <a:t>Python is a </a:t>
            </a:r>
            <a:r>
              <a:rPr lang="en-US" b="1" dirty="0"/>
              <a:t>high-level, interpreted programming language </a:t>
            </a:r>
            <a:r>
              <a:rPr lang="en-US" dirty="0"/>
              <a:t>known for its </a:t>
            </a:r>
            <a:r>
              <a:rPr lang="en-US" b="1" dirty="0"/>
              <a:t>readability and ease of use</a:t>
            </a:r>
            <a:r>
              <a:rPr lang="en-US" dirty="0"/>
              <a:t>. It is widely used in </a:t>
            </a:r>
            <a:r>
              <a:rPr lang="en-US" b="1" dirty="0"/>
              <a:t>data science, machine learning, web development, and automation</a:t>
            </a:r>
            <a:r>
              <a:rPr lang="en-US" dirty="0"/>
              <a:t>. Python supports multiple programming paradigms including </a:t>
            </a:r>
            <a:r>
              <a:rPr lang="en-US" b="1" dirty="0"/>
              <a:t>object-oriented, imperative, and functional programming</a:t>
            </a:r>
            <a:r>
              <a:rPr lang="en-US" dirty="0"/>
              <a:t>.</a:t>
            </a:r>
          </a:p>
        </p:txBody>
      </p:sp>
      <p:pic>
        <p:nvPicPr>
          <p:cNvPr id="1026" name="Picture 2" descr="Why Use Python? - Full Stack Python">
            <a:extLst>
              <a:ext uri="{FF2B5EF4-FFF2-40B4-BE49-F238E27FC236}">
                <a16:creationId xmlns:a16="http://schemas.microsoft.com/office/drawing/2014/main" id="{2B2B55B0-4B47-4CB2-E29A-00BEB9A41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28" y="0"/>
            <a:ext cx="2143953" cy="699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D92F65F-0BD2-3875-65CC-472AD19C056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6667" r="55440" b="8290"/>
          <a:stretch/>
        </p:blipFill>
        <p:spPr bwMode="auto">
          <a:xfrm>
            <a:off x="1172362" y="2089609"/>
            <a:ext cx="3815009" cy="446068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6">
            <a:extLst>
              <a:ext uri="{FF2B5EF4-FFF2-40B4-BE49-F238E27FC236}">
                <a16:creationId xmlns:a16="http://schemas.microsoft.com/office/drawing/2014/main" id="{0CD858EE-1D0E-3D3A-6BC7-2F4B1D569C9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873"/>
          <a:stretch/>
        </p:blipFill>
        <p:spPr bwMode="auto">
          <a:xfrm>
            <a:off x="5529677" y="1978290"/>
            <a:ext cx="5267325" cy="4879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932BA-F016-FBD7-F0BF-01EB600B082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1FA17B-5252-281E-BC81-03F890C6007C}"/>
              </a:ext>
            </a:extLst>
          </p:cNvPr>
          <p:cNvSpPr/>
          <p:nvPr/>
        </p:nvSpPr>
        <p:spPr>
          <a:xfrm>
            <a:off x="1439186" y="0"/>
            <a:ext cx="10752813"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R – programming </a:t>
            </a:r>
          </a:p>
        </p:txBody>
      </p:sp>
      <p:sp>
        <p:nvSpPr>
          <p:cNvPr id="3" name="TextBox 2">
            <a:extLst>
              <a:ext uri="{FF2B5EF4-FFF2-40B4-BE49-F238E27FC236}">
                <a16:creationId xmlns:a16="http://schemas.microsoft.com/office/drawing/2014/main" id="{4BDC3527-DB55-0859-66BB-A4285BEE488A}"/>
              </a:ext>
            </a:extLst>
          </p:cNvPr>
          <p:cNvSpPr txBox="1"/>
          <p:nvPr/>
        </p:nvSpPr>
        <p:spPr>
          <a:xfrm>
            <a:off x="333954" y="919789"/>
            <a:ext cx="11322657" cy="1200329"/>
          </a:xfrm>
          <a:prstGeom prst="rect">
            <a:avLst/>
          </a:prstGeom>
          <a:noFill/>
        </p:spPr>
        <p:txBody>
          <a:bodyPr wrap="square">
            <a:spAutoFit/>
          </a:bodyPr>
          <a:lstStyle/>
          <a:p>
            <a:pPr algn="just"/>
            <a:r>
              <a:rPr lang="en-US" dirty="0"/>
              <a:t>R is a programming language is widely used by </a:t>
            </a:r>
            <a:r>
              <a:rPr lang="en-US" b="1" dirty="0"/>
              <a:t>statisticians, data analysts, and researchers for data analysis, statistical modeling, and data visualization</a:t>
            </a:r>
            <a:r>
              <a:rPr lang="en-US" dirty="0"/>
              <a:t>. R provides a comprehensive set of </a:t>
            </a:r>
            <a:r>
              <a:rPr lang="en-US" b="1" dirty="0"/>
              <a:t>statistical and graphical methods, including linear and nonlinear modeling, classical statistical tests, time-series analysis, and clustering</a:t>
            </a:r>
            <a:r>
              <a:rPr lang="en-US" dirty="0"/>
              <a:t>.</a:t>
            </a:r>
          </a:p>
        </p:txBody>
      </p:sp>
      <p:pic>
        <p:nvPicPr>
          <p:cNvPr id="2052" name="Picture 4" descr="R (programming language) - Wikipedia">
            <a:extLst>
              <a:ext uri="{FF2B5EF4-FFF2-40B4-BE49-F238E27FC236}">
                <a16:creationId xmlns:a16="http://schemas.microsoft.com/office/drawing/2014/main" id="{1805D497-5EA3-AC37-AEB1-28CF74BE5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754" y="0"/>
            <a:ext cx="891332" cy="6908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955C9D6B-E1E7-009B-06D8-5340A277807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8729" r="54699" b="10498"/>
          <a:stretch/>
        </p:blipFill>
        <p:spPr bwMode="auto">
          <a:xfrm>
            <a:off x="593201" y="2120117"/>
            <a:ext cx="4637548" cy="432043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627A6E1-2C8E-D0D7-BE98-F355024B81F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539"/>
          <a:stretch/>
        </p:blipFill>
        <p:spPr bwMode="auto">
          <a:xfrm>
            <a:off x="5787340" y="2120117"/>
            <a:ext cx="4645813" cy="4320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24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4 Key Learning Points of this Lesson</a:t>
            </a:r>
          </a:p>
        </p:txBody>
      </p:sp>
      <p:pic>
        <p:nvPicPr>
          <p:cNvPr id="3074" name="Picture 2">
            <a:extLst>
              <a:ext uri="{FF2B5EF4-FFF2-40B4-BE49-F238E27FC236}">
                <a16:creationId xmlns:a16="http://schemas.microsoft.com/office/drawing/2014/main" id="{DB4360EE-02D6-B445-447C-1C7A02BC0E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666"/>
          <a:stretch/>
        </p:blipFill>
        <p:spPr bwMode="auto">
          <a:xfrm>
            <a:off x="1557172" y="882594"/>
            <a:ext cx="9077656" cy="6314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1529</TotalTime>
  <Words>1476</Words>
  <Application>Microsoft Office PowerPoint</Application>
  <PresentationFormat>Widescreen</PresentationFormat>
  <Paragraphs>53</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27</cp:revision>
  <dcterms:created xsi:type="dcterms:W3CDTF">2025-03-28T13:19:12Z</dcterms:created>
  <dcterms:modified xsi:type="dcterms:W3CDTF">2025-03-30T09:58:17Z</dcterms:modified>
</cp:coreProperties>
</file>