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59" r:id="rId4"/>
    <p:sldId id="260" r:id="rId5"/>
    <p:sldId id="263" r:id="rId6"/>
    <p:sldId id="264"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27100" autoAdjust="0"/>
  </p:normalViewPr>
  <p:slideViewPr>
    <p:cSldViewPr snapToGrid="0">
      <p:cViewPr>
        <p:scale>
          <a:sx n="80" d="100"/>
          <a:sy n="80" d="100"/>
        </p:scale>
        <p:origin x="100"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D4FE182-DC40-4FFA-88FB-D1E651B9A0D4}" type="datetimeFigureOut">
              <a:rPr lang="en-US" smtClean="0"/>
              <a:t>3/30/2025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90596E-B1B8-4E4E-B8E0-28D941E615DF}" type="slidenum">
              <a:rPr lang="en-US" smtClean="0"/>
              <a:t>‹#›</a:t>
            </a:fld>
            <a:endParaRPr lang="en-US"/>
          </a:p>
        </p:txBody>
      </p:sp>
    </p:spTree>
    <p:extLst>
      <p:ext uri="{BB962C8B-B14F-4D97-AF65-F5344CB8AC3E}">
        <p14:creationId xmlns:p14="http://schemas.microsoft.com/office/powerpoint/2010/main" val="24976635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Data Modeling Definition:</a:t>
            </a:r>
            <a:r>
              <a:rPr lang="en-US" dirty="0"/>
              <a:t> Data modeling is the process of creating a structured framework that organizes and defines the data within a system. It represents the data's relationships, properties, and constraints. Essentially, data modeling is about creating a visual or conceptual representation of how data elements interact within a database or system. The goal is to make data accessible, understandable, and usable for analysis or operational purposes.</a:t>
            </a:r>
          </a:p>
          <a:p>
            <a:pPr>
              <a:buNone/>
            </a:pPr>
            <a:r>
              <a:rPr lang="en-US" dirty="0"/>
              <a:t>Data models can be thought of as blueprints for databases. Just as an architect draws plans for a building, data modeling helps design how information should be structured and how different pieces of information connect with one another.</a:t>
            </a:r>
          </a:p>
          <a:p>
            <a:pPr>
              <a:buNone/>
            </a:pPr>
            <a:r>
              <a:rPr lang="en-US" b="1" dirty="0"/>
              <a:t>Key Importance:</a:t>
            </a:r>
            <a:endParaRPr lang="en-US" dirty="0"/>
          </a:p>
          <a:p>
            <a:pPr>
              <a:buFont typeface="+mj-lt"/>
              <a:buAutoNum type="arabicPeriod"/>
            </a:pPr>
            <a:r>
              <a:rPr lang="en-US" b="1" dirty="0"/>
              <a:t>Ensures Data Integrity</a:t>
            </a:r>
            <a:r>
              <a:rPr lang="en-US" dirty="0"/>
              <a:t>: A key aspect of data modeling is ensuring that the data is consistent and accurate. By defining clear relationships between data entities, it helps maintain the integrity of the data. For instance, if you are building a customer database, it’s important to ensure that customer information is linked to their purchase history correctly, preserving data accuracy and avoiding data duplication.</a:t>
            </a:r>
          </a:p>
          <a:p>
            <a:pPr>
              <a:buFont typeface="+mj-lt"/>
              <a:buAutoNum type="arabicPeriod"/>
            </a:pPr>
            <a:r>
              <a:rPr lang="en-US" b="1" dirty="0"/>
              <a:t>Facilitates Predictive Analysis</a:t>
            </a:r>
            <a:r>
              <a:rPr lang="en-US" dirty="0"/>
              <a:t>: A well-designed model makes it easier to use historical data to make predictions. Structured data allows analysts to apply machine learning or statistical techniques effectively, enabling organizations to forecast future trends, customer behavior, or potential risks.</a:t>
            </a:r>
          </a:p>
          <a:p>
            <a:pPr>
              <a:buFont typeface="+mj-lt"/>
              <a:buAutoNum type="arabicPeriod"/>
            </a:pPr>
            <a:r>
              <a:rPr lang="en-US" b="1" dirty="0"/>
              <a:t>Streamlines Data Management</a:t>
            </a:r>
            <a:r>
              <a:rPr lang="en-US" dirty="0"/>
              <a:t>: By organizing the data in a meaningful way, it becomes much easier to store, retrieve, and process. For instance, data modeling allows systems to efficiently query information, perform transactions, or manage data in large systems, which improves the overall performance of data-driven applications.</a:t>
            </a:r>
          </a:p>
        </p:txBody>
      </p:sp>
      <p:sp>
        <p:nvSpPr>
          <p:cNvPr id="4" name="Slide Number Placeholder 3"/>
          <p:cNvSpPr>
            <a:spLocks noGrp="1"/>
          </p:cNvSpPr>
          <p:nvPr>
            <p:ph type="sldNum" sz="quarter" idx="5"/>
          </p:nvPr>
        </p:nvSpPr>
        <p:spPr/>
        <p:txBody>
          <a:bodyPr/>
          <a:lstStyle/>
          <a:p>
            <a:fld id="{0090596E-B1B8-4E4E-B8E0-28D941E615DF}" type="slidenum">
              <a:rPr lang="en-US" smtClean="0"/>
              <a:t>2</a:t>
            </a:fld>
            <a:endParaRPr lang="en-US"/>
          </a:p>
        </p:txBody>
      </p:sp>
    </p:spTree>
    <p:extLst>
      <p:ext uri="{BB962C8B-B14F-4D97-AF65-F5344CB8AC3E}">
        <p14:creationId xmlns:p14="http://schemas.microsoft.com/office/powerpoint/2010/main" val="103807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Data Quality:</a:t>
            </a:r>
            <a:r>
              <a:rPr lang="en-US" dirty="0"/>
              <a:t> Data quality is a crucial factor in predictive modeling. If the data is inaccurate or inconsistent, predictions will be unreliable. Ensuring that the data is clean, free of errors, and properly formatted is the first step. Missing data should be handled carefully, either by imputation (filling in missing values) or removing the affected records to avoid distorting the results.</a:t>
            </a:r>
          </a:p>
          <a:p>
            <a:pPr>
              <a:buNone/>
            </a:pPr>
            <a:r>
              <a:rPr lang="en-US" b="1" dirty="0"/>
              <a:t>Relevance of Features:</a:t>
            </a:r>
            <a:r>
              <a:rPr lang="en-US" dirty="0"/>
              <a:t> Feature selection and engineering are key in improving the model’s performance. The features or variables used in a model should directly contribute to predicting the outcome. Irrelevant features can introduce noise, reducing the model's accuracy. Feature engineering involves transforming raw data into a format that makes it more suitable for analysis, such as scaling variables or creating interaction terms between features.</a:t>
            </a:r>
          </a:p>
          <a:p>
            <a:pPr>
              <a:buNone/>
            </a:pPr>
            <a:r>
              <a:rPr lang="en-US" b="1" dirty="0"/>
              <a:t>Data Distribution:</a:t>
            </a:r>
            <a:r>
              <a:rPr lang="en-US" dirty="0"/>
              <a:t> Understanding the distribution of data is essential because different types of models require specific assumptions about the data’s distribution. For instance, linear regression assumes that data follows a normal distribution. If the data is skewed, transformations might be necessary. Outliers can distort predictions and should be identified and treated appropriately.</a:t>
            </a:r>
          </a:p>
          <a:p>
            <a:pPr>
              <a:buNone/>
            </a:pPr>
            <a:r>
              <a:rPr lang="en-US" b="1" dirty="0"/>
              <a:t>Scalability:</a:t>
            </a:r>
            <a:r>
              <a:rPr lang="en-US" dirty="0"/>
              <a:t> Scalability refers to the ability of the model to handle large datasets. As data volumes grow, the model should still be able to process and make predictions in a reasonable time frame. Computational efficiency is key, and some algorithms are more efficient than others in terms of memory and processing time. When working with big data, machine learning models like decision trees or neural networks might be more scalable than traditional statistical models.</a:t>
            </a:r>
          </a:p>
          <a:p>
            <a:r>
              <a:rPr lang="en-US" b="1" dirty="0"/>
              <a:t>Choice of Algorithm:</a:t>
            </a:r>
            <a:r>
              <a:rPr lang="en-US" dirty="0"/>
              <a:t> Selecting the right algorithm depends on the problem you are trying to solve. For classification tasks, you might use logistic regression, decision trees, or support vector machines. For regression tasks, linear regression might be suitable. Machine learning models are more flexible and can handle non-linear relationships better than statistical models, which are often limited to specific distributions or patterns.</a:t>
            </a:r>
          </a:p>
        </p:txBody>
      </p:sp>
      <p:sp>
        <p:nvSpPr>
          <p:cNvPr id="4" name="Slide Number Placeholder 3"/>
          <p:cNvSpPr>
            <a:spLocks noGrp="1"/>
          </p:cNvSpPr>
          <p:nvPr>
            <p:ph type="sldNum" sz="quarter" idx="5"/>
          </p:nvPr>
        </p:nvSpPr>
        <p:spPr/>
        <p:txBody>
          <a:bodyPr/>
          <a:lstStyle/>
          <a:p>
            <a:fld id="{0090596E-B1B8-4E4E-B8E0-28D941E615DF}" type="slidenum">
              <a:rPr lang="en-US" smtClean="0"/>
              <a:t>3</a:t>
            </a:fld>
            <a:endParaRPr lang="en-US"/>
          </a:p>
        </p:txBody>
      </p:sp>
    </p:spTree>
    <p:extLst>
      <p:ext uri="{BB962C8B-B14F-4D97-AF65-F5344CB8AC3E}">
        <p14:creationId xmlns:p14="http://schemas.microsoft.com/office/powerpoint/2010/main" val="24017867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Definition:</a:t>
            </a:r>
            <a:endParaRPr lang="en-US" dirty="0"/>
          </a:p>
          <a:p>
            <a:pPr>
              <a:buFont typeface="Arial" panose="020B0604020202020204" pitchFamily="34" charset="0"/>
              <a:buChar char="•"/>
            </a:pPr>
            <a:r>
              <a:rPr lang="en-US" dirty="0"/>
              <a:t>Statistical models are rooted in classical statistics and are typically focused on understanding the relationships between variables. They rely on statistical techniques like hypothesis testing, regression analysis, or ANOVA to make inferences about the data.</a:t>
            </a:r>
          </a:p>
          <a:p>
            <a:pPr>
              <a:buFont typeface="Arial" panose="020B0604020202020204" pitchFamily="34" charset="0"/>
              <a:buChar char="•"/>
            </a:pPr>
            <a:r>
              <a:rPr lang="en-US" dirty="0"/>
              <a:t>Machine learning models, on the other hand, involve algorithms that allow the system to "learn" from the data. These models improve over time by refining their predictions based on the input data they receive, often without requiring explicit programming for every situation.</a:t>
            </a:r>
          </a:p>
          <a:p>
            <a:pPr>
              <a:buNone/>
            </a:pPr>
            <a:r>
              <a:rPr lang="en-US" b="1" dirty="0"/>
              <a:t>Purpose:</a:t>
            </a:r>
            <a:endParaRPr lang="en-US" dirty="0"/>
          </a:p>
          <a:p>
            <a:pPr>
              <a:buFont typeface="Arial" panose="020B0604020202020204" pitchFamily="34" charset="0"/>
              <a:buChar char="•"/>
            </a:pPr>
            <a:r>
              <a:rPr lang="en-US" dirty="0"/>
              <a:t>Statistical models are often used when the goal is to understand the underlying relationships within data and make inferences about those relationships, such as in hypothesis testing or determining correlation.</a:t>
            </a:r>
          </a:p>
          <a:p>
            <a:pPr>
              <a:buFont typeface="Arial" panose="020B0604020202020204" pitchFamily="34" charset="0"/>
              <a:buChar char="•"/>
            </a:pPr>
            <a:r>
              <a:rPr lang="en-US" dirty="0"/>
              <a:t>Machine learning models are used for more complex tasks like predicting outcomes or classifying data. They are ideal for tasks where the goal is to identify patterns or make predictions from large and diverse datasets.</a:t>
            </a:r>
          </a:p>
          <a:p>
            <a:pPr>
              <a:buNone/>
            </a:pPr>
            <a:r>
              <a:rPr lang="en-US" b="1" dirty="0"/>
              <a:t>Data Assumptions:</a:t>
            </a:r>
            <a:endParaRPr lang="en-US" dirty="0"/>
          </a:p>
          <a:p>
            <a:pPr>
              <a:buFont typeface="Arial" panose="020B0604020202020204" pitchFamily="34" charset="0"/>
              <a:buChar char="•"/>
            </a:pPr>
            <a:r>
              <a:rPr lang="en-US" dirty="0"/>
              <a:t>Statistical models often assume that the data follows a specific distribution (such as a normal distribution), and the model’s effectiveness is dependent on these assumptions. For example, linear regression assumes linearity and normality of errors.</a:t>
            </a:r>
          </a:p>
          <a:p>
            <a:pPr>
              <a:buFont typeface="Arial" panose="020B0604020202020204" pitchFamily="34" charset="0"/>
              <a:buChar char="•"/>
            </a:pPr>
            <a:r>
              <a:rPr lang="en-US" dirty="0"/>
              <a:t>Machine learning models, particularly non-parametric ones, make minimal assumptions about the data, allowing them to work with various types of data without the need for strict assumptions.</a:t>
            </a:r>
          </a:p>
          <a:p>
            <a:pPr>
              <a:buNone/>
            </a:pPr>
            <a:r>
              <a:rPr lang="en-US" b="1" dirty="0"/>
              <a:t>Model Complexity:</a:t>
            </a:r>
            <a:endParaRPr lang="en-US" dirty="0"/>
          </a:p>
          <a:p>
            <a:pPr>
              <a:buFont typeface="Arial" panose="020B0604020202020204" pitchFamily="34" charset="0"/>
              <a:buChar char="•"/>
            </a:pPr>
            <a:r>
              <a:rPr lang="en-US" dirty="0"/>
              <a:t>Statistical models tend to be simpler and easier to interpret. For instance, a linear regression model shows clear coefficients, which makes it easy to understand the relationship between the dependent and independent variables.</a:t>
            </a:r>
          </a:p>
          <a:p>
            <a:pPr>
              <a:buFont typeface="Arial" panose="020B0604020202020204" pitchFamily="34" charset="0"/>
              <a:buChar char="•"/>
            </a:pPr>
            <a:r>
              <a:rPr lang="en-US" dirty="0"/>
              <a:t>Machine learning models can handle more complex data patterns and high-dimensional datasets. While they can be more accurate, they also tend to be less interpretable, especially in cases like neural networks, where the model’s internal workings are harder to understand.</a:t>
            </a:r>
          </a:p>
          <a:p>
            <a:pPr>
              <a:buNone/>
            </a:pPr>
            <a:r>
              <a:rPr lang="en-US" b="1" dirty="0"/>
              <a:t>Example Techniques:</a:t>
            </a:r>
            <a:endParaRPr lang="en-US" dirty="0"/>
          </a:p>
          <a:p>
            <a:pPr>
              <a:buFont typeface="Arial" panose="020B0604020202020204" pitchFamily="34" charset="0"/>
              <a:buChar char="•"/>
            </a:pPr>
            <a:r>
              <a:rPr lang="en-US" dirty="0"/>
              <a:t>Statistical techniques like linear regression, ANOVA, and logistic regression are common in statistical modeling. These techniques are relatively simple and used for inferential purposes.</a:t>
            </a:r>
          </a:p>
          <a:p>
            <a:pPr>
              <a:buFont typeface="Arial" panose="020B0604020202020204" pitchFamily="34" charset="0"/>
              <a:buChar char="•"/>
            </a:pPr>
            <a:r>
              <a:rPr lang="en-US" dirty="0"/>
              <a:t>Machine learning techniques such as decision trees, random forests, support vector machines, and neural networks are more complex and are commonly used for tasks like classification, regression, and anomaly detection.</a:t>
            </a:r>
          </a:p>
        </p:txBody>
      </p:sp>
      <p:sp>
        <p:nvSpPr>
          <p:cNvPr id="4" name="Slide Number Placeholder 3"/>
          <p:cNvSpPr>
            <a:spLocks noGrp="1"/>
          </p:cNvSpPr>
          <p:nvPr>
            <p:ph type="sldNum" sz="quarter" idx="5"/>
          </p:nvPr>
        </p:nvSpPr>
        <p:spPr/>
        <p:txBody>
          <a:bodyPr/>
          <a:lstStyle/>
          <a:p>
            <a:fld id="{0090596E-B1B8-4E4E-B8E0-28D941E615DF}" type="slidenum">
              <a:rPr lang="en-US" smtClean="0"/>
              <a:t>4</a:t>
            </a:fld>
            <a:endParaRPr lang="en-US"/>
          </a:p>
        </p:txBody>
      </p:sp>
    </p:spTree>
    <p:extLst>
      <p:ext uri="{BB962C8B-B14F-4D97-AF65-F5344CB8AC3E}">
        <p14:creationId xmlns:p14="http://schemas.microsoft.com/office/powerpoint/2010/main" val="2398993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b="1" dirty="0"/>
              <a:t>Importance of Data Modeling:</a:t>
            </a:r>
            <a:r>
              <a:rPr lang="en-US" dirty="0"/>
              <a:t> Data modeling is vital for organizing and structuring data in a way that makes it usable and valuable for analysis. By establishing a solid data model, organizations can ensure that their data is organized correctly, which helps in efficient querying, analysis, and decision-making processes.</a:t>
            </a:r>
          </a:p>
          <a:p>
            <a:pPr>
              <a:buNone/>
            </a:pPr>
            <a:r>
              <a:rPr lang="en-US" b="1" dirty="0"/>
              <a:t>Considerations for Predictive Analysis:</a:t>
            </a:r>
            <a:r>
              <a:rPr lang="en-US" dirty="0"/>
              <a:t> For predictive analysis to be effective, several factors need to be considered, including data quality, relevance of features, and the choice of algorithms. The right combination of these elements ensures that models can make reliable and accurate predictions.</a:t>
            </a:r>
          </a:p>
          <a:p>
            <a:pPr>
              <a:buNone/>
            </a:pPr>
            <a:r>
              <a:rPr lang="en-US" b="1" dirty="0"/>
              <a:t>Differences Between Statistical and Machine Learning Models:</a:t>
            </a:r>
            <a:r>
              <a:rPr lang="en-US" dirty="0"/>
              <a:t> While statistical models focus on hypothesis testing and interpreting data based on established distributions, machine learning models are focused on making predictions and recognizing patterns, often with fewer assumptions about the data.</a:t>
            </a:r>
          </a:p>
          <a:p>
            <a:pPr>
              <a:buNone/>
            </a:pPr>
            <a:r>
              <a:rPr lang="en-US" b="1" dirty="0"/>
              <a:t>The Role of Algorithms in Data Modeling:</a:t>
            </a:r>
            <a:r>
              <a:rPr lang="en-US" dirty="0"/>
              <a:t> Choosing the correct algorithm is crucial. Statistical models use simpler techniques like regression, while machine learning models use more advanced techniques like neural networks. The choice of algorithm directly influences the model’s ability to predict and interpret data accurately.</a:t>
            </a:r>
          </a:p>
          <a:p>
            <a:r>
              <a:rPr lang="en-US" b="1" dirty="0"/>
              <a:t>Iterative Process of Model Building:</a:t>
            </a:r>
            <a:r>
              <a:rPr lang="en-US" dirty="0"/>
              <a:t> Data modeling is not a one-time activity. It’s an iterative process where models are continually tested, evaluated, and refined to improve their accuracy and performance. </a:t>
            </a:r>
            <a:r>
              <a:rPr lang="en-US"/>
              <a:t>This refinement can involve adjusting features, trying different algorithms, or revisiting data quality.</a:t>
            </a:r>
          </a:p>
        </p:txBody>
      </p:sp>
      <p:sp>
        <p:nvSpPr>
          <p:cNvPr id="4" name="Slide Number Placeholder 3"/>
          <p:cNvSpPr>
            <a:spLocks noGrp="1"/>
          </p:cNvSpPr>
          <p:nvPr>
            <p:ph type="sldNum" sz="quarter" idx="5"/>
          </p:nvPr>
        </p:nvSpPr>
        <p:spPr/>
        <p:txBody>
          <a:bodyPr/>
          <a:lstStyle/>
          <a:p>
            <a:fld id="{0090596E-B1B8-4E4E-B8E0-28D941E615DF}" type="slidenum">
              <a:rPr lang="en-US" smtClean="0"/>
              <a:t>5</a:t>
            </a:fld>
            <a:endParaRPr lang="en-US"/>
          </a:p>
        </p:txBody>
      </p:sp>
    </p:spTree>
    <p:extLst>
      <p:ext uri="{BB962C8B-B14F-4D97-AF65-F5344CB8AC3E}">
        <p14:creationId xmlns:p14="http://schemas.microsoft.com/office/powerpoint/2010/main" val="1638552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364D7B-68EC-3A5D-EF43-D9D9742990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B06B0B4-3041-7984-785C-3413E7819C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D6E38AF-415C-26EF-9E80-D60968101509}"/>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BDD04435-942E-0E65-F622-05ED923D3D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D67221B-9F10-95AB-69C5-1D9CDF940FA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426091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3E710-1396-1DBE-B21A-6E5F4DB29AE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7D0FFC-810D-E0BE-7F84-FB1DBC9D0E7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448A89-7276-CAA3-CC3E-51645337B7B0}"/>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2019B62C-4FC8-3D7F-CA46-51644491C2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A030D1-622F-1249-765C-6E46A4EE2CC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2219522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C8B56-DFF5-BE41-DE3D-05FD2F3200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044437-5D46-EFD2-CE6E-D245C6CF607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37C1EA-B634-9836-E23E-0C48426B11DC}"/>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BD8AEF48-21ED-D969-1990-2DE1C81B0A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45EF36A-D445-D428-87D2-6F92FCC4252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701688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62C1F8-6D81-976E-8B0A-1E12208DAEF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A7F129E-6A21-475A-DFD5-830A3CB55B8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474CC03-B6B9-D9AC-E724-B5221209C9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697496-A1D5-707B-B103-3E5D62898952}"/>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6" name="Footer Placeholder 5">
            <a:extLst>
              <a:ext uri="{FF2B5EF4-FFF2-40B4-BE49-F238E27FC236}">
                <a16:creationId xmlns:a16="http://schemas.microsoft.com/office/drawing/2014/main" id="{63119BA9-CC54-F483-0160-95B1D3A32F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F286727-9DDC-7A20-56C0-327D2F41232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622295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A69BF-27D4-4A43-C1DE-BDC7AF294A8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114209E-ED2F-A8F5-1743-E17B335C112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EDC2E8-5C27-3ECA-1553-8659D9D6A73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38730BC-5B3E-EFAB-1BD3-E13DB9DDE40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FCF01D-B2D0-0CBA-A8F7-BA642C8E574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51C6494-8C59-EE05-0FF5-DE460B9B041D}"/>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8" name="Footer Placeholder 7">
            <a:extLst>
              <a:ext uri="{FF2B5EF4-FFF2-40B4-BE49-F238E27FC236}">
                <a16:creationId xmlns:a16="http://schemas.microsoft.com/office/drawing/2014/main" id="{6121FBB3-F41B-BA3F-04D2-8AEBE32620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9CF6BA-9438-86D8-4731-4FDBACD59E9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435162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47EE4C-E056-686E-CB94-6C08E521420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D99DEB6-AF92-5F75-B67E-B745189518D7}"/>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4" name="Footer Placeholder 3">
            <a:extLst>
              <a:ext uri="{FF2B5EF4-FFF2-40B4-BE49-F238E27FC236}">
                <a16:creationId xmlns:a16="http://schemas.microsoft.com/office/drawing/2014/main" id="{C8AC647A-F5A0-ABF7-A720-98AA381602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B0C2998-0FDB-260D-8F37-08DD947336E3}"/>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36469688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8AB883-68A8-8A2C-5DCB-B0DDF813CBE7}"/>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3" name="Footer Placeholder 2">
            <a:extLst>
              <a:ext uri="{FF2B5EF4-FFF2-40B4-BE49-F238E27FC236}">
                <a16:creationId xmlns:a16="http://schemas.microsoft.com/office/drawing/2014/main" id="{03095111-88DD-346A-DFD2-A16E6699C9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39B8901-2CC4-2A23-2A20-0F5308467320}"/>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1751005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40850A-B0CE-47E3-B62E-D2DA694999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662B4AC-9343-6345-E5A8-618502FAAF2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121BF07-5277-2848-4B48-82B2E15DF9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A3C87E-D1D8-A841-F686-83B51927D82A}"/>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6" name="Footer Placeholder 5">
            <a:extLst>
              <a:ext uri="{FF2B5EF4-FFF2-40B4-BE49-F238E27FC236}">
                <a16:creationId xmlns:a16="http://schemas.microsoft.com/office/drawing/2014/main" id="{C9864D58-181E-2E07-D806-0C4A2E456C8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34B2EB8-88E8-1C3F-49D4-2D45329AD741}"/>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0028290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86FFB-5EBF-1B4E-4E73-EE392DC8EA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FF24FF6-52E4-C6F8-FE9D-27FC071A00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319B0D-FC2A-6DE5-E814-B659200C8C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A452C68-3F9E-B9AB-5EDA-344140010925}"/>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6" name="Footer Placeholder 5">
            <a:extLst>
              <a:ext uri="{FF2B5EF4-FFF2-40B4-BE49-F238E27FC236}">
                <a16:creationId xmlns:a16="http://schemas.microsoft.com/office/drawing/2014/main" id="{21F25132-A2D5-E3BC-0AFA-D22AE6DC91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905F6A-1D13-4385-DBF2-1922E7628F39}"/>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2506154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96446-8C2D-2DF2-026B-D6A1A02558A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B8E4CC-7F20-CA0B-FE27-9F81AD7A87F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0F03A1B-8D6A-02D5-3674-FC058B44CA67}"/>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BA4AD84C-7188-0CE7-111D-C9CF36402A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5B2CA5-EC7C-6B30-ACD0-E4B643392EFB}"/>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4745433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12D6490-8E1F-69E7-702F-F4372EC6D25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7DAFB00-9AB2-3D68-51B2-7D1B2A0C70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9B22EEC-3C2C-D5E6-A7B3-2B70C5185607}"/>
              </a:ext>
            </a:extLst>
          </p:cNvPr>
          <p:cNvSpPr>
            <a:spLocks noGrp="1"/>
          </p:cNvSpPr>
          <p:nvPr>
            <p:ph type="dt" sz="half" idx="10"/>
          </p:nvPr>
        </p:nvSpPr>
        <p:spPr/>
        <p:txBody>
          <a:body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B6CA8357-A8E1-A56E-149D-CF160E5D46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B41E16-54EA-DCFE-BF7D-132E638AA8EC}"/>
              </a:ext>
            </a:extLst>
          </p:cNvPr>
          <p:cNvSpPr>
            <a:spLocks noGrp="1"/>
          </p:cNvSpPr>
          <p:nvPr>
            <p:ph type="sldNum" sz="quarter" idx="12"/>
          </p:nvPr>
        </p:nvSpPr>
        <p:spPr/>
        <p:txBody>
          <a:bodyPr/>
          <a:lstStyle/>
          <a:p>
            <a:fld id="{D7F91314-2232-4618-AEA5-B75A9D4CAB9F}" type="slidenum">
              <a:rPr lang="en-US" smtClean="0"/>
              <a:t>‹#›</a:t>
            </a:fld>
            <a:endParaRPr lang="en-US"/>
          </a:p>
        </p:txBody>
      </p:sp>
    </p:spTree>
    <p:extLst>
      <p:ext uri="{BB962C8B-B14F-4D97-AF65-F5344CB8AC3E}">
        <p14:creationId xmlns:p14="http://schemas.microsoft.com/office/powerpoint/2010/main" val="1726851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ED0A1F-9E4C-38C1-44CA-48217A66F7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216B99A-F1D9-CB5E-4D08-7510DF44E6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1F839A-2152-2ECB-945F-95467AFFCD8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954AE3-3E78-4E34-9BC4-37D5ABC21548}" type="datetimeFigureOut">
              <a:rPr lang="en-US" smtClean="0"/>
              <a:t>3/30/2025</a:t>
            </a:fld>
            <a:endParaRPr lang="en-US"/>
          </a:p>
        </p:txBody>
      </p:sp>
      <p:sp>
        <p:nvSpPr>
          <p:cNvPr id="5" name="Footer Placeholder 4">
            <a:extLst>
              <a:ext uri="{FF2B5EF4-FFF2-40B4-BE49-F238E27FC236}">
                <a16:creationId xmlns:a16="http://schemas.microsoft.com/office/drawing/2014/main" id="{67E9B569-C635-225A-B150-FE60A93E284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0775CAD-A5B8-6445-8F32-863594860E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7F91314-2232-4618-AEA5-B75A9D4CAB9F}" type="slidenum">
              <a:rPr lang="en-US" smtClean="0"/>
              <a:t>‹#›</a:t>
            </a:fld>
            <a:endParaRPr lang="en-US"/>
          </a:p>
        </p:txBody>
      </p:sp>
    </p:spTree>
    <p:extLst>
      <p:ext uri="{BB962C8B-B14F-4D97-AF65-F5344CB8AC3E}">
        <p14:creationId xmlns:p14="http://schemas.microsoft.com/office/powerpoint/2010/main" val="38120875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BF02AAA-38C2-C2B4-9DCF-0D7B36943E42}"/>
              </a:ext>
            </a:extLst>
          </p:cNvPr>
          <p:cNvSpPr txBox="1"/>
          <p:nvPr/>
        </p:nvSpPr>
        <p:spPr>
          <a:xfrm>
            <a:off x="2784445" y="1982450"/>
            <a:ext cx="6623109" cy="1446550"/>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Data</a:t>
            </a:r>
          </a:p>
          <a:p>
            <a:pPr algn="ctr"/>
            <a:r>
              <a:rPr lang="en-US" sz="4400" b="1" dirty="0">
                <a:ln w="0"/>
                <a:solidFill>
                  <a:schemeClr val="accent1"/>
                </a:solidFill>
                <a:effectLst>
                  <a:outerShdw blurRad="38100" dist="25400" dir="5400000" algn="ctr" rotWithShape="0">
                    <a:srgbClr val="6E747A">
                      <a:alpha val="43000"/>
                    </a:srgbClr>
                  </a:outerShdw>
                </a:effectLst>
              </a:rPr>
              <a:t>Modeling</a:t>
            </a:r>
          </a:p>
        </p:txBody>
      </p:sp>
      <p:sp>
        <p:nvSpPr>
          <p:cNvPr id="7" name="TextBox 6">
            <a:extLst>
              <a:ext uri="{FF2B5EF4-FFF2-40B4-BE49-F238E27FC236}">
                <a16:creationId xmlns:a16="http://schemas.microsoft.com/office/drawing/2014/main" id="{4762BF6F-6CEA-5E18-D886-19C6FCE8C811}"/>
              </a:ext>
            </a:extLst>
          </p:cNvPr>
          <p:cNvSpPr txBox="1"/>
          <p:nvPr/>
        </p:nvSpPr>
        <p:spPr>
          <a:xfrm>
            <a:off x="4410217" y="3393563"/>
            <a:ext cx="3371564" cy="369332"/>
          </a:xfrm>
          <a:prstGeom prst="rect">
            <a:avLst/>
          </a:prstGeom>
          <a:noFill/>
        </p:spPr>
        <p:txBody>
          <a:bodyPr wrap="none" rtlCol="0">
            <a:spAutoFit/>
          </a:bodyPr>
          <a:lstStyle/>
          <a:p>
            <a:pPr algn="ctr"/>
            <a:r>
              <a:rPr lang="en-US" b="1" i="1" dirty="0"/>
              <a:t>Shahriar’s Analytical Academy</a:t>
            </a:r>
          </a:p>
        </p:txBody>
      </p:sp>
    </p:spTree>
    <p:extLst>
      <p:ext uri="{BB962C8B-B14F-4D97-AF65-F5344CB8AC3E}">
        <p14:creationId xmlns:p14="http://schemas.microsoft.com/office/powerpoint/2010/main" val="1574655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584349D-7E60-1617-0AEE-D604AF6ABC71}"/>
              </a:ext>
            </a:extLst>
          </p:cNvPr>
          <p:cNvSpPr txBox="1"/>
          <p:nvPr/>
        </p:nvSpPr>
        <p:spPr>
          <a:xfrm>
            <a:off x="363284" y="2449108"/>
            <a:ext cx="4590379" cy="2308324"/>
          </a:xfrm>
          <a:prstGeom prst="rect">
            <a:avLst/>
          </a:prstGeom>
          <a:noFill/>
        </p:spPr>
        <p:txBody>
          <a:bodyPr wrap="square">
            <a:spAutoFit/>
          </a:bodyPr>
          <a:lstStyle/>
          <a:p>
            <a:pPr algn="ctr"/>
            <a:r>
              <a:rPr lang="en-US" dirty="0"/>
              <a:t>Data modeling is the </a:t>
            </a:r>
            <a:r>
              <a:rPr lang="en-US" b="1" dirty="0"/>
              <a:t>process of designing a conceptual framework that organizes and structures data</a:t>
            </a:r>
            <a:r>
              <a:rPr lang="en-US" dirty="0"/>
              <a:t>. </a:t>
            </a:r>
          </a:p>
          <a:p>
            <a:pPr algn="ctr"/>
            <a:endParaRPr lang="en-US" dirty="0"/>
          </a:p>
          <a:p>
            <a:pPr algn="ctr"/>
            <a:r>
              <a:rPr lang="en-US" dirty="0"/>
              <a:t>This step involves </a:t>
            </a:r>
            <a:r>
              <a:rPr lang="en-US" b="1" dirty="0"/>
              <a:t>creating a model or blueprint that represents the relationships and attributes </a:t>
            </a:r>
            <a:r>
              <a:rPr lang="en-US" dirty="0"/>
              <a:t>of the data for efficient storage, access, and analysis.</a:t>
            </a:r>
            <a:endParaRPr lang="en-US" b="1" dirty="0"/>
          </a:p>
        </p:txBody>
      </p:sp>
      <p:sp>
        <p:nvSpPr>
          <p:cNvPr id="5" name="Rectangle 4">
            <a:extLst>
              <a:ext uri="{FF2B5EF4-FFF2-40B4-BE49-F238E27FC236}">
                <a16:creationId xmlns:a16="http://schemas.microsoft.com/office/drawing/2014/main" id="{DFB58811-47EC-A017-47DE-8742B02062FA}"/>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Data Modeling</a:t>
            </a:r>
          </a:p>
        </p:txBody>
      </p:sp>
      <p:pic>
        <p:nvPicPr>
          <p:cNvPr id="1034" name="Picture 10">
            <a:extLst>
              <a:ext uri="{FF2B5EF4-FFF2-40B4-BE49-F238E27FC236}">
                <a16:creationId xmlns:a16="http://schemas.microsoft.com/office/drawing/2014/main" id="{6FE29401-50D4-3B65-3134-7BFC1AEB3C9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5559"/>
          <a:stretch/>
        </p:blipFill>
        <p:spPr bwMode="auto">
          <a:xfrm>
            <a:off x="4953663" y="795130"/>
            <a:ext cx="7238337" cy="62232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14138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F756C07-3300-4F45-E9A5-9BAAB88A33B8}"/>
              </a:ext>
            </a:extLst>
          </p:cNvPr>
          <p:cNvSpPr/>
          <p:nvPr/>
        </p:nvSpPr>
        <p:spPr>
          <a:xfrm>
            <a:off x="-1" y="0"/>
            <a:ext cx="12192001" cy="65200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Key Factors to Consider </a:t>
            </a:r>
          </a:p>
        </p:txBody>
      </p:sp>
      <p:pic>
        <p:nvPicPr>
          <p:cNvPr id="2056" name="Picture 8">
            <a:extLst>
              <a:ext uri="{FF2B5EF4-FFF2-40B4-BE49-F238E27FC236}">
                <a16:creationId xmlns:a16="http://schemas.microsoft.com/office/drawing/2014/main" id="{02DAD835-9DAE-8011-07EE-5F7042F15DF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8654"/>
          <a:stretch/>
        </p:blipFill>
        <p:spPr bwMode="auto">
          <a:xfrm>
            <a:off x="993291" y="1097279"/>
            <a:ext cx="10205417" cy="51654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4303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C2E5351-9150-A7A5-0B46-982853248D5B}"/>
              </a:ext>
            </a:extLst>
          </p:cNvPr>
          <p:cNvSpPr/>
          <p:nvPr/>
        </p:nvSpPr>
        <p:spPr>
          <a:xfrm>
            <a:off x="0" y="0"/>
            <a:ext cx="12192000" cy="6291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Two types of Data modeling</a:t>
            </a:r>
          </a:p>
        </p:txBody>
      </p:sp>
      <p:pic>
        <p:nvPicPr>
          <p:cNvPr id="5" name="Picture 4">
            <a:extLst>
              <a:ext uri="{FF2B5EF4-FFF2-40B4-BE49-F238E27FC236}">
                <a16:creationId xmlns:a16="http://schemas.microsoft.com/office/drawing/2014/main" id="{EBA06DF4-594C-7630-973E-CAEDC583F922}"/>
              </a:ext>
            </a:extLst>
          </p:cNvPr>
          <p:cNvPicPr>
            <a:picLocks noChangeAspect="1"/>
          </p:cNvPicPr>
          <p:nvPr/>
        </p:nvPicPr>
        <p:blipFill>
          <a:blip r:embed="rId3"/>
          <a:stretch>
            <a:fillRect/>
          </a:stretch>
        </p:blipFill>
        <p:spPr>
          <a:xfrm>
            <a:off x="629930" y="1265723"/>
            <a:ext cx="10780271" cy="4761366"/>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4214576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0BFF2D1-BD0E-21FB-3EA5-9C3FEF7862B4}"/>
              </a:ext>
            </a:extLst>
          </p:cNvPr>
          <p:cNvSpPr/>
          <p:nvPr/>
        </p:nvSpPr>
        <p:spPr>
          <a:xfrm>
            <a:off x="0" y="0"/>
            <a:ext cx="12192000" cy="68789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bg1"/>
                </a:solidFill>
              </a:rPr>
              <a:t>5 Key Learning Points of this Lesson</a:t>
            </a:r>
          </a:p>
        </p:txBody>
      </p:sp>
      <p:pic>
        <p:nvPicPr>
          <p:cNvPr id="4104" name="Picture 8">
            <a:extLst>
              <a:ext uri="{FF2B5EF4-FFF2-40B4-BE49-F238E27FC236}">
                <a16:creationId xmlns:a16="http://schemas.microsoft.com/office/drawing/2014/main" id="{58AEBF69-EE0B-50FA-C5FD-5690D0B1A5A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2023"/>
          <a:stretch/>
        </p:blipFill>
        <p:spPr bwMode="auto">
          <a:xfrm>
            <a:off x="630680" y="803081"/>
            <a:ext cx="10946419" cy="62992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54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E35F3-AF15-A4B9-2640-A131227CD697}"/>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D61753B1-A369-1F9E-C78D-93AA81EAC8D2}"/>
              </a:ext>
            </a:extLst>
          </p:cNvPr>
          <p:cNvSpPr txBox="1"/>
          <p:nvPr/>
        </p:nvSpPr>
        <p:spPr>
          <a:xfrm>
            <a:off x="2915174" y="2659559"/>
            <a:ext cx="6361652" cy="769441"/>
          </a:xfrm>
          <a:prstGeom prst="rect">
            <a:avLst/>
          </a:prstGeom>
          <a:noFill/>
        </p:spPr>
        <p:txBody>
          <a:bodyPr wrap="square" rtlCol="0">
            <a:spAutoFit/>
          </a:bodyPr>
          <a:lstStyle/>
          <a:p>
            <a:pPr algn="ctr"/>
            <a:r>
              <a:rPr lang="en-US" sz="4400" b="1" dirty="0">
                <a:ln w="0"/>
                <a:solidFill>
                  <a:schemeClr val="accent1"/>
                </a:solidFill>
                <a:effectLst>
                  <a:outerShdw blurRad="38100" dist="25400" dir="5400000" algn="ctr" rotWithShape="0">
                    <a:srgbClr val="6E747A">
                      <a:alpha val="43000"/>
                    </a:srgbClr>
                  </a:outerShdw>
                </a:effectLst>
              </a:rPr>
              <a:t>Thank You!</a:t>
            </a:r>
          </a:p>
        </p:txBody>
      </p:sp>
      <p:sp>
        <p:nvSpPr>
          <p:cNvPr id="7" name="TextBox 6">
            <a:extLst>
              <a:ext uri="{FF2B5EF4-FFF2-40B4-BE49-F238E27FC236}">
                <a16:creationId xmlns:a16="http://schemas.microsoft.com/office/drawing/2014/main" id="{907FA6A3-9FF9-C077-B91B-4AE0187EC665}"/>
              </a:ext>
            </a:extLst>
          </p:cNvPr>
          <p:cNvSpPr txBox="1"/>
          <p:nvPr/>
        </p:nvSpPr>
        <p:spPr>
          <a:xfrm>
            <a:off x="4410218" y="3429000"/>
            <a:ext cx="3371564" cy="369332"/>
          </a:xfrm>
          <a:prstGeom prst="rect">
            <a:avLst/>
          </a:prstGeom>
          <a:noFill/>
        </p:spPr>
        <p:txBody>
          <a:bodyPr wrap="none" rtlCol="0">
            <a:spAutoFit/>
          </a:bodyPr>
          <a:lstStyle/>
          <a:p>
            <a:r>
              <a:rPr lang="en-US" b="1" i="1" dirty="0"/>
              <a:t>Shahriar’s Analytical Academy</a:t>
            </a:r>
          </a:p>
        </p:txBody>
      </p:sp>
    </p:spTree>
    <p:extLst>
      <p:ext uri="{BB962C8B-B14F-4D97-AF65-F5344CB8AC3E}">
        <p14:creationId xmlns:p14="http://schemas.microsoft.com/office/powerpoint/2010/main" val="20046583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1471</TotalTime>
  <Words>1359</Words>
  <Application>Microsoft Office PowerPoint</Application>
  <PresentationFormat>Widescreen</PresentationFormat>
  <Paragraphs>47</Paragraphs>
  <Slides>6</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Md Shahriar</dc:creator>
  <cp:lastModifiedBy>Md Shahriar</cp:lastModifiedBy>
  <cp:revision>27</cp:revision>
  <dcterms:created xsi:type="dcterms:W3CDTF">2025-03-28T13:19:12Z</dcterms:created>
  <dcterms:modified xsi:type="dcterms:W3CDTF">2025-03-30T15:41:35Z</dcterms:modified>
</cp:coreProperties>
</file>