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0" r:id="rId4"/>
    <p:sldId id="265" r:id="rId5"/>
    <p:sldId id="259"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31803" autoAdjust="0"/>
  </p:normalViewPr>
  <p:slideViewPr>
    <p:cSldViewPr snapToGrid="0">
      <p:cViewPr>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Definition of Model Evaluation:</a:t>
            </a:r>
            <a:r>
              <a:rPr lang="en-US" dirty="0"/>
              <a:t> Model evaluation is the process of assessing how well a machine learning model performs on data it hasn’t seen before. This step is essential in determining the accuracy and reliability of a model's predictions. It helps in identifying areas for improvement, such as overfitting (where the model is too specific to the training data) or underfitting (where the model is too simple to capture the underlying data patterns). Evaluation metrics help to gauge how well the model can generalize to new data and make accurate predictions.</a:t>
            </a:r>
          </a:p>
          <a:p>
            <a:pPr>
              <a:buNone/>
            </a:pPr>
            <a:r>
              <a:rPr lang="en-US" b="1" dirty="0"/>
              <a:t>Why Model Evaluation Is Necessary?</a:t>
            </a:r>
          </a:p>
          <a:p>
            <a:pPr>
              <a:buFont typeface="+mj-lt"/>
              <a:buAutoNum type="arabicPeriod"/>
            </a:pPr>
            <a:r>
              <a:rPr lang="en-US" b="1" dirty="0"/>
              <a:t>Performance Assessment:</a:t>
            </a:r>
            <a:r>
              <a:rPr lang="en-US" dirty="0"/>
              <a:t> Model evaluation is crucial for understanding how well a trained model can make predictions on new, unseen data. During training, the model learns from existing data, but the ultimate goal is to make predictions on data that it hasn't encountered before. </a:t>
            </a:r>
            <a:r>
              <a:rPr lang="en-US" b="1" dirty="0"/>
              <a:t>Identifying Overfitting/Underfitting:</a:t>
            </a:r>
            <a:r>
              <a:rPr lang="en-US" dirty="0"/>
              <a:t> Model evaluation helps in identifying whether a model suffers from overfitting or underfitting:</a:t>
            </a:r>
          </a:p>
          <a:p>
            <a:pPr marL="742950" lvl="1" indent="-285750">
              <a:buFont typeface="+mj-lt"/>
              <a:buAutoNum type="arabicPeriod"/>
            </a:pPr>
            <a:r>
              <a:rPr lang="en-US" b="1" dirty="0"/>
              <a:t>Overfitting</a:t>
            </a:r>
            <a:r>
              <a:rPr lang="en-US" dirty="0"/>
              <a:t> occurs when the model learns too much from the training data, capturing noise or irrelevant patterns, and thus fails to generalize to new data. This leads to excellent performance on the training set but poor performance on unseen data.</a:t>
            </a:r>
          </a:p>
          <a:p>
            <a:pPr marL="742950" lvl="1" indent="-285750">
              <a:buFont typeface="+mj-lt"/>
              <a:buAutoNum type="arabicPeriod"/>
            </a:pPr>
            <a:r>
              <a:rPr lang="en-US" b="1" dirty="0"/>
              <a:t>Underfitting</a:t>
            </a:r>
            <a:r>
              <a:rPr lang="en-US" dirty="0"/>
              <a:t> occurs when the model is too simplistic and cannot capture the patterns in the data, leading to poor performance on both training and unseen data. Evaluating the model using different metrics and datasets helps identify and correct these issues by adjusting the model's complexity or improving the data.</a:t>
            </a:r>
          </a:p>
          <a:p>
            <a:pPr>
              <a:buFont typeface="+mj-lt"/>
              <a:buAutoNum type="arabicPeriod"/>
            </a:pPr>
            <a:r>
              <a:rPr lang="en-US" b="1" dirty="0"/>
              <a:t>Improving the Model:</a:t>
            </a:r>
            <a:r>
              <a:rPr lang="en-US" dirty="0"/>
              <a:t> Evaluation results provide valuable feedback for model improvement. If the model is underperforming, the evaluation metrics will highlight which areas need attention. For instance, feature engineering might be necessary to better represent the data or the model’s hyperparameters might need to be tuned for better accuracy. </a:t>
            </a:r>
            <a:r>
              <a:rPr lang="en-US" b="1" dirty="0"/>
              <a:t>Objective Comparison:</a:t>
            </a:r>
            <a:r>
              <a:rPr lang="en-US" dirty="0"/>
              <a:t> Evaluating multiple models allows you to compare their performance in a systematic and objective manner. By using consistent evaluation metrics, you can select the best-performing model for your specific task</a:t>
            </a:r>
          </a:p>
          <a:p>
            <a:pPr>
              <a:buFont typeface="+mj-lt"/>
              <a:buAutoNum type="arabicPeriod"/>
            </a:pPr>
            <a:r>
              <a:rPr lang="en-US" b="1" dirty="0"/>
              <a:t>Decision Making:</a:t>
            </a:r>
            <a:r>
              <a:rPr lang="en-US" dirty="0"/>
              <a:t> Evaluation metrics are essential for making informed decisions about model selection, deployment, and future iterations. Based on the evaluation, you can decide which model to deploy in production or which areas to focus on for further development</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 Mean Absolute Error (MAE):</a:t>
            </a:r>
          </a:p>
          <a:p>
            <a:pPr>
              <a:buNone/>
            </a:pPr>
            <a:r>
              <a:rPr lang="en-US" b="1" dirty="0"/>
              <a:t>Definition:</a:t>
            </a:r>
            <a:r>
              <a:rPr lang="en-US" dirty="0"/>
              <a:t> MAE is the average of the absolute differences between the predicted values and the actual values. It is calculated by summing the absolute errors and dividing by the number of data points.</a:t>
            </a:r>
          </a:p>
          <a:p>
            <a:pPr>
              <a:buNone/>
            </a:pPr>
            <a:r>
              <a:rPr lang="en-US" b="1" dirty="0"/>
              <a:t>Interpretation:</a:t>
            </a:r>
            <a:r>
              <a:rPr lang="en-US" dirty="0"/>
              <a:t> MAE provides an easily understandable measure of error by showing the average magnitude of errors in the model’s predictions. Since it takes the absolute difference, it is less sensitive to large errors or outliers, making it a more robust measure when there are some extreme values in the dataset.</a:t>
            </a:r>
          </a:p>
          <a:p>
            <a:pPr>
              <a:buNone/>
            </a:pPr>
            <a:r>
              <a:rPr lang="en-US" b="1" dirty="0"/>
              <a:t>Use Case:</a:t>
            </a:r>
            <a:r>
              <a:rPr lang="en-US" dirty="0"/>
              <a:t> MAE is useful when you want an intuitive measure of average prediction error that does not disproportionately penalize large errors. It’s often used in situations where large errors are less critical, such as estimating average sales in a business.</a:t>
            </a:r>
          </a:p>
          <a:p>
            <a:pPr>
              <a:buNone/>
            </a:pPr>
            <a:r>
              <a:rPr lang="en-US" b="1" dirty="0"/>
              <a:t>2. Mean Squared Error (MSE):</a:t>
            </a:r>
          </a:p>
          <a:p>
            <a:pPr>
              <a:buNone/>
            </a:pPr>
            <a:r>
              <a:rPr lang="en-US" b="1" dirty="0"/>
              <a:t>Definition:</a:t>
            </a:r>
            <a:r>
              <a:rPr lang="en-US" dirty="0"/>
              <a:t> MSE is the average of the squared differences between predicted values and actual values. It is calculated by squaring the errors (differences between predicted and actual values), summing them, and then dividing by the number of data points.</a:t>
            </a:r>
          </a:p>
          <a:p>
            <a:pPr>
              <a:buNone/>
            </a:pPr>
            <a:r>
              <a:rPr lang="en-US" b="1" dirty="0"/>
              <a:t>Interpretation:</a:t>
            </a:r>
            <a:r>
              <a:rPr lang="en-US" dirty="0"/>
              <a:t> MSE is more sensitive to outliers than MAE. By squaring the errors, larger errors are penalized more heavily. This makes MSE particularly useful when large errors are undesirable or have a significant impact on the model's performance.</a:t>
            </a:r>
          </a:p>
          <a:p>
            <a:pPr>
              <a:buNone/>
            </a:pPr>
            <a:r>
              <a:rPr lang="en-US" b="1" dirty="0"/>
              <a:t>Use Case:</a:t>
            </a:r>
            <a:r>
              <a:rPr lang="en-US" dirty="0"/>
              <a:t> MSE is often used in cases where larger errors are particularly costly, such as in medical predictions or financial forecasting. It helps to focus the model on minimizing large prediction errors.</a:t>
            </a:r>
          </a:p>
          <a:p>
            <a:pPr>
              <a:buNone/>
            </a:pPr>
            <a:r>
              <a:rPr lang="en-US" b="1" dirty="0"/>
              <a:t>3. Root Mean Squared Error (RMSE):</a:t>
            </a:r>
          </a:p>
          <a:p>
            <a:pPr>
              <a:buNone/>
            </a:pPr>
            <a:r>
              <a:rPr lang="en-US" b="1" dirty="0"/>
              <a:t>Definition:</a:t>
            </a:r>
            <a:r>
              <a:rPr lang="en-US" dirty="0"/>
              <a:t> RMSE is the square root of the Mean Squared Error. It provides error values in the same unit as the original data, making it easier to interpret compared to MSE.</a:t>
            </a:r>
          </a:p>
          <a:p>
            <a:pPr>
              <a:buNone/>
            </a:pPr>
            <a:r>
              <a:rPr lang="en-US" b="1" dirty="0"/>
              <a:t>Interpretation:</a:t>
            </a:r>
            <a:r>
              <a:rPr lang="en-US" dirty="0"/>
              <a:t> RMSE is a more intuitive measure because the error is presented in the same scale as the dependent variable. Like MSE, RMSE penalizes larger errors more than smaller ones, but the square root transformation makes the metric easier to relate to real-world data.</a:t>
            </a:r>
          </a:p>
          <a:p>
            <a:pPr>
              <a:buNone/>
            </a:pPr>
            <a:r>
              <a:rPr lang="en-US" b="1" dirty="0"/>
              <a:t>Use Case:</a:t>
            </a:r>
            <a:r>
              <a:rPr lang="en-US" dirty="0"/>
              <a:t> RMSE is often used when you need a metric that reflects the actual magnitude of prediction errors. For example, in a weather prediction model, the RMSE would represent the average magnitude of the prediction error in degrees, making it easier to interpret by meteorologists.</a:t>
            </a:r>
          </a:p>
          <a:p>
            <a:pPr>
              <a:buNone/>
            </a:pPr>
            <a:r>
              <a:rPr lang="en-US" b="1" dirty="0"/>
              <a:t>4. R-squared (Coefficient of Determination):</a:t>
            </a:r>
          </a:p>
          <a:p>
            <a:pPr>
              <a:buNone/>
            </a:pPr>
            <a:r>
              <a:rPr lang="en-US" b="1" dirty="0"/>
              <a:t>Definition:</a:t>
            </a:r>
            <a:r>
              <a:rPr lang="en-US" dirty="0"/>
              <a:t> R-squared is a statistical measure that represents the proportion of the variance in the dependent variable that is explained by the independent variables in the model. It is a percentage that ranges from 0 to 100% (0 to 1 in decimal form).</a:t>
            </a:r>
          </a:p>
          <a:p>
            <a:pPr>
              <a:buNone/>
            </a:pPr>
            <a:r>
              <a:rPr lang="en-US" b="1" dirty="0"/>
              <a:t>Interpretation:</a:t>
            </a:r>
            <a:r>
              <a:rPr lang="en-US" dirty="0"/>
              <a:t> An R-squared value closer to 1 indicates that the model explains a large portion of the variance in the data, meaning the model fits the data well. An R-squared value closer to 0 indicates a poor fit, where the model explains little of the variance. R-squared tells us how well the model captures the variability of the data but does not directly measure the model's accuracy in predicting new, unseen data.</a:t>
            </a:r>
          </a:p>
          <a:p>
            <a:pPr>
              <a:buNone/>
            </a:pPr>
            <a:r>
              <a:rPr lang="en-US" b="1" dirty="0"/>
              <a:t>Use Case:</a:t>
            </a:r>
            <a:r>
              <a:rPr lang="en-US" dirty="0"/>
              <a:t> R-squared is useful when you want to understand how well the independent variables in the model explain the variability in the dependent variable. It is commonly used in linear regression models for explaining the proportion of variation accounted for by the model.</a:t>
            </a:r>
          </a:p>
          <a:p>
            <a:pPr>
              <a:buNone/>
            </a:pPr>
            <a:r>
              <a:rPr lang="en-US" b="1" dirty="0"/>
              <a:t>5. Adjusted R-squared:</a:t>
            </a:r>
          </a:p>
          <a:p>
            <a:pPr>
              <a:buNone/>
            </a:pPr>
            <a:r>
              <a:rPr lang="en-US" b="1" dirty="0"/>
              <a:t>Definition:</a:t>
            </a:r>
            <a:r>
              <a:rPr lang="en-US" dirty="0"/>
              <a:t> Adjusted R-squared is a modified version of R-squared that adjusts for the number of predictors (independent variables) in the model. Unlike R-squared, which always increases as more variables are added, Adjusted R-squared penalizes the addition of unnecessary predictors that don’t improve the model.</a:t>
            </a:r>
          </a:p>
          <a:p>
            <a:pPr>
              <a:buNone/>
            </a:pPr>
            <a:r>
              <a:rPr lang="en-US" b="1" dirty="0"/>
              <a:t>Interpretation:</a:t>
            </a:r>
            <a:r>
              <a:rPr lang="en-US" dirty="0"/>
              <a:t> Adjusted R-squared is useful for comparing models with different numbers of predictors. A higher Adjusted R-squared indicates a better model that explains the variability with a more efficient use of predictors. Unlike R-squared, which can be misleading when comparing models with different numbers of variables, Adjusted R-squared provides a more realistic measure.</a:t>
            </a:r>
          </a:p>
          <a:p>
            <a:r>
              <a:rPr lang="en-US" b="1" dirty="0"/>
              <a:t>Use Case:</a:t>
            </a:r>
            <a:r>
              <a:rPr lang="en-US" dirty="0"/>
              <a:t> Adjusted R-squared is particularly useful when comparing multiple models, especially in cases where adding more variables may not improve the model’s predictive power but could lead to overfitting. It helps in model selection when considering the complexity of the model and its predictive ability.</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7FF0-6B00-4F3A-B72B-0682A9DF5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1CF40-9851-9301-74DC-4359B5147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41CCF2-2AF8-8B41-B80C-D77279046C28}"/>
              </a:ext>
            </a:extLst>
          </p:cNvPr>
          <p:cNvSpPr>
            <a:spLocks noGrp="1"/>
          </p:cNvSpPr>
          <p:nvPr>
            <p:ph type="body" idx="1"/>
          </p:nvPr>
        </p:nvSpPr>
        <p:spPr/>
        <p:txBody>
          <a:bodyPr/>
          <a:lstStyle/>
          <a:p>
            <a:pPr>
              <a:buNone/>
            </a:pPr>
            <a:r>
              <a:rPr lang="en-US" b="1" dirty="0"/>
              <a:t>Definition:</a:t>
            </a:r>
            <a:r>
              <a:rPr lang="en-US" dirty="0"/>
              <a:t> Accuracy measures the proportion of correct predictions (both positive and negative) made by the model out of all prediction.</a:t>
            </a:r>
          </a:p>
          <a:p>
            <a:pPr>
              <a:buNone/>
            </a:pPr>
            <a:r>
              <a:rPr lang="en-US" b="1" dirty="0"/>
              <a:t>Interpretation:</a:t>
            </a:r>
            <a:r>
              <a:rPr lang="en-US" dirty="0"/>
              <a:t> Accuracy provides a simple and straightforward measure of model performance, but it can be misleading, especially in imbalanced datasets. For example, if you have a dataset where 90% of the data belongs to one class (say, negatives) and only 10% to the other (positives), a model that predicts all instances as the majority class would still have high accuracy (90%), even though it completely fails to predict the minority class. Hence, accuracy alone is not always the best indicator.</a:t>
            </a:r>
          </a:p>
          <a:p>
            <a:pPr>
              <a:buNone/>
            </a:pPr>
            <a:r>
              <a:rPr lang="en-US" b="1" dirty="0"/>
              <a:t>Use Case:</a:t>
            </a:r>
            <a:r>
              <a:rPr lang="en-US" dirty="0"/>
              <a:t> Accuracy is useful in balanced datasets where both classes are equally represented. For imbalanced datasets, it’s better to consider other metrics, such as precision or recall.</a:t>
            </a:r>
          </a:p>
          <a:p>
            <a:pPr>
              <a:buNone/>
            </a:pPr>
            <a:r>
              <a:rPr lang="en-US" b="1" dirty="0"/>
              <a:t>2. Precision:</a:t>
            </a:r>
          </a:p>
          <a:p>
            <a:pPr>
              <a:buNone/>
            </a:pPr>
            <a:r>
              <a:rPr lang="en-US" b="1" dirty="0"/>
              <a:t>Definition:</a:t>
            </a:r>
            <a:r>
              <a:rPr lang="en-US" dirty="0"/>
              <a:t> Precision measures the proportion of true positive predictions out of all positive predictions made by the model</a:t>
            </a:r>
          </a:p>
          <a:p>
            <a:pPr>
              <a:buNone/>
            </a:pPr>
            <a:r>
              <a:rPr lang="en-US" dirty="0"/>
              <a:t> </a:t>
            </a:r>
            <a:r>
              <a:rPr lang="en-US" b="1" dirty="0"/>
              <a:t>Interpretation:</a:t>
            </a:r>
            <a:r>
              <a:rPr lang="en-US" dirty="0"/>
              <a:t> Precision tells you how accurate the positive predictions are. It is crucial when false positives (predicting positive when the actual class is negative) are costly or undesirable. For example, in medical diagnostics, falsely diagnosing a healthy patient as sick (false positive) may lead to unnecessary treatments.</a:t>
            </a:r>
          </a:p>
          <a:p>
            <a:pPr>
              <a:buNone/>
            </a:pPr>
            <a:r>
              <a:rPr lang="en-US" b="1" dirty="0"/>
              <a:t>Use Case:</a:t>
            </a:r>
            <a:r>
              <a:rPr lang="en-US" dirty="0"/>
              <a:t> Precision is particularly important in applications such as spam email detection, fraud detection, or medical testing, where false positives can have significant consequences.</a:t>
            </a:r>
          </a:p>
          <a:p>
            <a:pPr>
              <a:buNone/>
            </a:pPr>
            <a:r>
              <a:rPr lang="en-US" b="1" dirty="0"/>
              <a:t>3. Recall (Sensitivity):</a:t>
            </a:r>
          </a:p>
          <a:p>
            <a:pPr>
              <a:buNone/>
            </a:pPr>
            <a:r>
              <a:rPr lang="en-US" b="1" dirty="0"/>
              <a:t>Definition:</a:t>
            </a:r>
            <a:r>
              <a:rPr lang="en-US" dirty="0"/>
              <a:t> Recall measures the proportion of actual positive cases that were correctly identified by the models</a:t>
            </a:r>
          </a:p>
          <a:p>
            <a:pPr>
              <a:buNone/>
            </a:pPr>
            <a:r>
              <a:rPr lang="en-US" dirty="0"/>
              <a:t>​ </a:t>
            </a:r>
            <a:r>
              <a:rPr lang="en-US" b="1" dirty="0"/>
              <a:t>Interpretation:</a:t>
            </a:r>
            <a:r>
              <a:rPr lang="en-US" dirty="0"/>
              <a:t> Recall tells you how well the model identifies positive instances. High recall means that most actual positives are identified by the model. It is critical when false negatives (failing to identify a positive instance) are more detrimental. For instance, in disease diagnosis, missing a positive case (false negative) could have severe consequences.</a:t>
            </a:r>
          </a:p>
          <a:p>
            <a:pPr>
              <a:buNone/>
            </a:pPr>
            <a:r>
              <a:rPr lang="en-US" b="1" dirty="0"/>
              <a:t>Use Case:</a:t>
            </a:r>
            <a:r>
              <a:rPr lang="en-US" dirty="0"/>
              <a:t> Recall is particularly important in applications like cancer detection, fraud detection, or any domain where missing a positive case (false negative) could lead to serious consequences.</a:t>
            </a:r>
          </a:p>
          <a:p>
            <a:pPr>
              <a:buNone/>
            </a:pPr>
            <a:r>
              <a:rPr lang="en-US" b="1" dirty="0"/>
              <a:t>4. F1-score:</a:t>
            </a:r>
          </a:p>
          <a:p>
            <a:pPr>
              <a:buNone/>
            </a:pPr>
            <a:r>
              <a:rPr lang="en-US" b="1" dirty="0"/>
              <a:t>Definition:</a:t>
            </a:r>
            <a:r>
              <a:rPr lang="en-US" dirty="0"/>
              <a:t> The F1-score is the harmonic mean of precision and recall. It combines both metrics into a single value that balances the trade-off between precision and recall. </a:t>
            </a:r>
          </a:p>
          <a:p>
            <a:pPr>
              <a:buNone/>
            </a:pPr>
            <a:r>
              <a:rPr lang="en-US" dirty="0"/>
              <a:t>​</a:t>
            </a:r>
            <a:r>
              <a:rPr lang="en-US" b="1" dirty="0"/>
              <a:t>Interpretation:</a:t>
            </a:r>
            <a:r>
              <a:rPr lang="en-US" dirty="0"/>
              <a:t> The F1-score is useful when you have an imbalanced dataset, where one class is much more frequent than the other. It balances precision and recall, ensuring that neither is overlooked. A high F1-score indicates that both precision and recall are reasonably high, making it a more comprehensive evaluation metric than accuracy in these cases.</a:t>
            </a:r>
          </a:p>
          <a:p>
            <a:pPr>
              <a:buNone/>
            </a:pPr>
            <a:r>
              <a:rPr lang="en-US" b="1" dirty="0"/>
              <a:t>Use Case:</a:t>
            </a:r>
            <a:r>
              <a:rPr lang="en-US" dirty="0"/>
              <a:t> F1-score is used when there is a need to balance the importance of precision and recall, especially in scenarios where the dataset is imbalanced. It’s widely used in applications like fraud detection, information retrieval, and classification tasks in healthcare.</a:t>
            </a:r>
          </a:p>
          <a:p>
            <a:pPr>
              <a:buNone/>
            </a:pPr>
            <a:r>
              <a:rPr lang="en-US" b="1" dirty="0"/>
              <a:t>5. AUC-ROC (Area Under the Curve - Receiver Operating Characteristic):</a:t>
            </a:r>
          </a:p>
          <a:p>
            <a:pPr>
              <a:buNone/>
            </a:pPr>
            <a:r>
              <a:rPr lang="en-US" b="1" dirty="0"/>
              <a:t>Definition:</a:t>
            </a:r>
            <a:r>
              <a:rPr lang="en-US" dirty="0"/>
              <a:t> AUC-ROC measures the performance of a classification model across all classification thresholds. The Receiver Operating Characteristic (ROC) curve plots the true positive rate (sensitivity) against the false positive rate (1 - specificity). The Area Under the Curve (AUC) quantifies the overall ability of the model to discriminate between positive and negative classes.</a:t>
            </a:r>
          </a:p>
          <a:p>
            <a:pPr>
              <a:buNone/>
            </a:pPr>
            <a:r>
              <a:rPr lang="en-US" b="1" dirty="0"/>
              <a:t>Interpretation:</a:t>
            </a:r>
            <a:endParaRPr lang="en-US" dirty="0"/>
          </a:p>
          <a:p>
            <a:pPr>
              <a:buFont typeface="Arial" panose="020B0604020202020204" pitchFamily="34" charset="0"/>
              <a:buChar char="•"/>
            </a:pPr>
            <a:r>
              <a:rPr lang="en-US" dirty="0"/>
              <a:t>An </a:t>
            </a:r>
            <a:r>
              <a:rPr lang="en-US" b="1" dirty="0"/>
              <a:t>AUC of 1</a:t>
            </a:r>
            <a:r>
              <a:rPr lang="en-US" dirty="0"/>
              <a:t> means the model perfectly classifies all positive and negative instances.</a:t>
            </a:r>
          </a:p>
          <a:p>
            <a:pPr>
              <a:buFont typeface="Arial" panose="020B0604020202020204" pitchFamily="34" charset="0"/>
              <a:buChar char="•"/>
            </a:pPr>
            <a:r>
              <a:rPr lang="en-US" dirty="0"/>
              <a:t>An </a:t>
            </a:r>
            <a:r>
              <a:rPr lang="en-US" b="1" dirty="0"/>
              <a:t>AUC of 0.5</a:t>
            </a:r>
            <a:r>
              <a:rPr lang="en-US" dirty="0"/>
              <a:t> means the model performs no better than random chance.</a:t>
            </a:r>
          </a:p>
          <a:p>
            <a:pPr>
              <a:buFont typeface="Arial" panose="020B0604020202020204" pitchFamily="34" charset="0"/>
              <a:buChar char="•"/>
            </a:pPr>
            <a:r>
              <a:rPr lang="en-US" dirty="0"/>
              <a:t>An </a:t>
            </a:r>
            <a:r>
              <a:rPr lang="en-US" b="1" dirty="0"/>
              <a:t>AUC greater than 0.5</a:t>
            </a:r>
            <a:r>
              <a:rPr lang="en-US" dirty="0"/>
              <a:t> indicates that the model is able to distinguish between positive and negative instances with some degree of success.</a:t>
            </a:r>
          </a:p>
          <a:p>
            <a:r>
              <a:rPr lang="en-US" b="1" dirty="0"/>
              <a:t>Use Case:</a:t>
            </a:r>
            <a:r>
              <a:rPr lang="en-US" dirty="0"/>
              <a:t> AUC-ROC is useful when you want to evaluate the performance of the model across different thresholds and when dealing with imbalanced datasets. It is particularly helpful when you are interested in the model's ability to rank positive instances higher than negative ones, regardless of the specific classification threshold.</a:t>
            </a:r>
          </a:p>
        </p:txBody>
      </p:sp>
      <p:sp>
        <p:nvSpPr>
          <p:cNvPr id="4" name="Slide Number Placeholder 3">
            <a:extLst>
              <a:ext uri="{FF2B5EF4-FFF2-40B4-BE49-F238E27FC236}">
                <a16:creationId xmlns:a16="http://schemas.microsoft.com/office/drawing/2014/main" id="{59726BED-7A8E-3A42-C05E-6D3CAED05407}"/>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632647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When selecting the right evaluation metrics for a machine learning model, several factors must be considered to ensure that the chosen metric aligns with the type of problem, the nature of the data, and the specific goals of the model. Below are the key factors to keep in mind:</a:t>
            </a:r>
          </a:p>
          <a:p>
            <a:pPr>
              <a:buNone/>
            </a:pPr>
            <a:r>
              <a:rPr lang="en-US" b="1" dirty="0"/>
              <a:t>1. Type of Problem (Regression or Classification):</a:t>
            </a:r>
          </a:p>
          <a:p>
            <a:pPr>
              <a:buFont typeface="Arial" panose="020B0604020202020204" pitchFamily="34" charset="0"/>
              <a:buChar char="•"/>
            </a:pPr>
            <a:r>
              <a:rPr lang="en-US" b="1" dirty="0"/>
              <a:t>Regression Problems</a:t>
            </a:r>
            <a:r>
              <a:rPr lang="en-US" dirty="0"/>
              <a:t>:</a:t>
            </a:r>
          </a:p>
          <a:p>
            <a:pPr marL="742950" lvl="1" indent="-285750">
              <a:buFont typeface="Arial" panose="020B0604020202020204" pitchFamily="34" charset="0"/>
              <a:buChar char="•"/>
            </a:pPr>
            <a:r>
              <a:rPr lang="en-US" dirty="0"/>
              <a:t>When dealing with regression tasks, where the model predicts continuous output, the evaluation metrics should measure how well the model predicts those continuous values. Common metrics for regression include:</a:t>
            </a:r>
          </a:p>
          <a:p>
            <a:pPr marL="1143000" lvl="2" indent="-228600">
              <a:buFont typeface="Arial" panose="020B0604020202020204" pitchFamily="34" charset="0"/>
              <a:buChar char="•"/>
            </a:pPr>
            <a:r>
              <a:rPr lang="en-US" b="1" dirty="0"/>
              <a:t>Mean Squared Error (MSE)</a:t>
            </a:r>
            <a:r>
              <a:rPr lang="en-US" dirty="0"/>
              <a:t>: Measures the average squared difference between predicted and actual values.</a:t>
            </a:r>
          </a:p>
          <a:p>
            <a:pPr marL="1143000" lvl="2" indent="-228600">
              <a:buFont typeface="Arial" panose="020B0604020202020204" pitchFamily="34" charset="0"/>
              <a:buChar char="•"/>
            </a:pPr>
            <a:r>
              <a:rPr lang="en-US" b="1" dirty="0"/>
              <a:t>R-squared</a:t>
            </a:r>
            <a:r>
              <a:rPr lang="en-US" dirty="0"/>
              <a:t>: Indicates how well the model explains the variance in the dependent variable.</a:t>
            </a:r>
          </a:p>
          <a:p>
            <a:pPr marL="742950" lvl="1" indent="-285750">
              <a:buFont typeface="Arial" panose="020B0604020202020204" pitchFamily="34" charset="0"/>
              <a:buChar char="•"/>
            </a:pPr>
            <a:r>
              <a:rPr lang="en-US" b="1" dirty="0"/>
              <a:t>Classification Problems</a:t>
            </a:r>
            <a:r>
              <a:rPr lang="en-US" dirty="0"/>
              <a:t>:</a:t>
            </a:r>
          </a:p>
          <a:p>
            <a:pPr marL="1143000" lvl="2" indent="-228600">
              <a:buFont typeface="Arial" panose="020B0604020202020204" pitchFamily="34" charset="0"/>
              <a:buChar char="•"/>
            </a:pPr>
            <a:r>
              <a:rPr lang="en-US" dirty="0"/>
              <a:t>For classification tasks, where the goal is to predict discrete categories or classes (e.g., spam vs. not spam), the metrics should assess how well the model discriminates between different classes. Common metrics for classification include:</a:t>
            </a:r>
          </a:p>
          <a:p>
            <a:pPr marL="1600200" lvl="3" indent="-228600">
              <a:buFont typeface="Arial" panose="020B0604020202020204" pitchFamily="34" charset="0"/>
              <a:buChar char="•"/>
            </a:pPr>
            <a:r>
              <a:rPr lang="en-US" b="1" dirty="0"/>
              <a:t>Accuracy</a:t>
            </a:r>
            <a:r>
              <a:rPr lang="en-US" dirty="0"/>
              <a:t>: Measures the proportion of correctly predicted instances.</a:t>
            </a:r>
          </a:p>
          <a:p>
            <a:pPr marL="1600200" lvl="3" indent="-228600">
              <a:buFont typeface="Arial" panose="020B0604020202020204" pitchFamily="34" charset="0"/>
              <a:buChar char="•"/>
            </a:pPr>
            <a:r>
              <a:rPr lang="en-US" b="1" dirty="0"/>
              <a:t>Precision, Recall, and F1-score</a:t>
            </a:r>
            <a:r>
              <a:rPr lang="en-US" dirty="0"/>
              <a:t>: More informative for imbalanced datasets or when the cost of false positives or false negatives is significant.</a:t>
            </a:r>
          </a:p>
          <a:p>
            <a:pPr marL="1600200" lvl="3" indent="-228600">
              <a:buFont typeface="Arial" panose="020B0604020202020204" pitchFamily="34" charset="0"/>
              <a:buChar char="•"/>
            </a:pPr>
            <a:r>
              <a:rPr lang="en-US" b="1" dirty="0"/>
              <a:t>AUC-ROC</a:t>
            </a:r>
            <a:r>
              <a:rPr lang="en-US" dirty="0"/>
              <a:t>: Evaluates the model’s ability to rank positive instances higher than negative ones, regardless of threshold.</a:t>
            </a:r>
          </a:p>
          <a:p>
            <a:pPr>
              <a:buNone/>
            </a:pPr>
            <a:r>
              <a:rPr lang="en-US" b="1" dirty="0"/>
              <a:t>2. Nature of Data (Imbalanced or Balanced):</a:t>
            </a:r>
          </a:p>
          <a:p>
            <a:pPr>
              <a:buFont typeface="Arial" panose="020B0604020202020204" pitchFamily="34" charset="0"/>
              <a:buChar char="•"/>
            </a:pPr>
            <a:r>
              <a:rPr lang="en-US" b="1" dirty="0"/>
              <a:t>Imbalanced Data</a:t>
            </a:r>
            <a:r>
              <a:rPr lang="en-US" dirty="0"/>
              <a:t>:</a:t>
            </a:r>
          </a:p>
          <a:p>
            <a:pPr marL="742950" lvl="1" indent="-285750">
              <a:buFont typeface="Arial" panose="020B0604020202020204" pitchFamily="34" charset="0"/>
              <a:buChar char="•"/>
            </a:pPr>
            <a:r>
              <a:rPr lang="en-US" dirty="0"/>
              <a:t>In cases where one class is underrepresented (e.g., fraud detection, rare disease detection), metrics like </a:t>
            </a:r>
            <a:r>
              <a:rPr lang="en-US" b="1" dirty="0"/>
              <a:t>precision</a:t>
            </a:r>
            <a:r>
              <a:rPr lang="en-US" dirty="0"/>
              <a:t>, </a:t>
            </a:r>
            <a:r>
              <a:rPr lang="en-US" b="1" dirty="0"/>
              <a:t>recall</a:t>
            </a:r>
            <a:r>
              <a:rPr lang="en-US" dirty="0"/>
              <a:t>, </a:t>
            </a:r>
            <a:r>
              <a:rPr lang="en-US" b="1" dirty="0"/>
              <a:t>F1-score</a:t>
            </a:r>
            <a:r>
              <a:rPr lang="en-US" dirty="0"/>
              <a:t>, and </a:t>
            </a:r>
            <a:r>
              <a:rPr lang="en-US" b="1" dirty="0"/>
              <a:t>AUC-ROC</a:t>
            </a:r>
            <a:r>
              <a:rPr lang="en-US" dirty="0"/>
              <a:t> become more informative. These metrics focus on how well the model detects the minority class, which is often the primary objective in imbalanced data scenarios.</a:t>
            </a:r>
          </a:p>
          <a:p>
            <a:pPr>
              <a:buFont typeface="Arial" panose="020B0604020202020204" pitchFamily="34" charset="0"/>
              <a:buChar char="•"/>
            </a:pPr>
            <a:r>
              <a:rPr lang="en-US" b="1" dirty="0"/>
              <a:t>Balanced Data</a:t>
            </a:r>
            <a:r>
              <a:rPr lang="en-US" dirty="0"/>
              <a:t>:</a:t>
            </a:r>
          </a:p>
          <a:p>
            <a:pPr marL="742950" lvl="1" indent="-285750">
              <a:buFont typeface="Arial" panose="020B0604020202020204" pitchFamily="34" charset="0"/>
              <a:buChar char="•"/>
            </a:pPr>
            <a:r>
              <a:rPr lang="en-US" dirty="0"/>
              <a:t>For balanced datasets, where the classes are represented equally, traditional metrics like </a:t>
            </a:r>
            <a:r>
              <a:rPr lang="en-US" b="1" dirty="0"/>
              <a:t>accuracy</a:t>
            </a:r>
            <a:r>
              <a:rPr lang="en-US" dirty="0"/>
              <a:t> might suffice, as the model is expected to perform equally well across both classes. However, precision and recall might still be important in cases where the relative importance of false positives and false negatives differs.</a:t>
            </a:r>
          </a:p>
          <a:p>
            <a:pPr>
              <a:buNone/>
            </a:pPr>
            <a:r>
              <a:rPr lang="en-US" b="1" dirty="0"/>
              <a:t>3. Model Objective:</a:t>
            </a:r>
          </a:p>
          <a:p>
            <a:pPr>
              <a:buFont typeface="Arial" panose="020B0604020202020204" pitchFamily="34" charset="0"/>
              <a:buChar char="•"/>
            </a:pPr>
            <a:r>
              <a:rPr lang="en-US" b="1" dirty="0"/>
              <a:t>Accuracy-Focused Models</a:t>
            </a:r>
            <a:r>
              <a:rPr lang="en-US" dirty="0"/>
              <a:t>:</a:t>
            </a:r>
          </a:p>
          <a:p>
            <a:pPr marL="742950" lvl="1" indent="-285750">
              <a:buFont typeface="Arial" panose="020B0604020202020204" pitchFamily="34" charset="0"/>
              <a:buChar char="•"/>
            </a:pPr>
            <a:r>
              <a:rPr lang="en-US" dirty="0"/>
              <a:t>If the primary goal is to predict values or classes correctly, metrics like </a:t>
            </a:r>
            <a:r>
              <a:rPr lang="en-US" b="1" dirty="0"/>
              <a:t>accuracy</a:t>
            </a:r>
            <a:r>
              <a:rPr lang="en-US" dirty="0"/>
              <a:t> (for classification) or </a:t>
            </a:r>
            <a:r>
              <a:rPr lang="en-US" b="1" dirty="0"/>
              <a:t>MSE</a:t>
            </a:r>
            <a:r>
              <a:rPr lang="en-US" dirty="0"/>
              <a:t> (for regression) will be important. These metrics focus on the overall prediction performance and ensure the model is correct most of the time.</a:t>
            </a:r>
          </a:p>
          <a:p>
            <a:pPr>
              <a:buFont typeface="Arial" panose="020B0604020202020204" pitchFamily="34" charset="0"/>
              <a:buChar char="•"/>
            </a:pPr>
            <a:r>
              <a:rPr lang="en-US" b="1" dirty="0"/>
              <a:t>Error Minimization</a:t>
            </a:r>
            <a:r>
              <a:rPr lang="en-US" dirty="0"/>
              <a:t>:</a:t>
            </a:r>
          </a:p>
          <a:p>
            <a:pPr marL="742950" lvl="1" indent="-285750">
              <a:buFont typeface="Arial" panose="020B0604020202020204" pitchFamily="34" charset="0"/>
              <a:buChar char="•"/>
            </a:pPr>
            <a:r>
              <a:rPr lang="en-US" dirty="0"/>
              <a:t>If the model's goal is to minimize errors (e.g., in applications where large errors are particularly costly), metrics like </a:t>
            </a:r>
            <a:r>
              <a:rPr lang="en-US" b="1" dirty="0"/>
              <a:t>MSE</a:t>
            </a:r>
            <a:r>
              <a:rPr lang="en-US" dirty="0"/>
              <a:t> or </a:t>
            </a:r>
            <a:r>
              <a:rPr lang="en-US" b="1" dirty="0"/>
              <a:t>RMSE</a:t>
            </a:r>
            <a:r>
              <a:rPr lang="en-US" dirty="0"/>
              <a:t> (Root Mean Squared Error) will be more relevant. These metrics provide insight into how well the model is reducing prediction errors, with RMSE offering a clearer understanding by expressing errors in the same units as the target variable.</a:t>
            </a:r>
          </a:p>
          <a:p>
            <a:pPr>
              <a:buNone/>
            </a:pPr>
            <a:r>
              <a:rPr lang="en-US" b="1" dirty="0"/>
              <a:t>4. Interpretability and Business Context:</a:t>
            </a:r>
          </a:p>
          <a:p>
            <a:pPr>
              <a:buFont typeface="Arial" panose="020B0604020202020204" pitchFamily="34" charset="0"/>
              <a:buChar char="•"/>
            </a:pPr>
            <a:r>
              <a:rPr lang="en-US" b="1" dirty="0"/>
              <a:t>Interpretability</a:t>
            </a:r>
            <a:r>
              <a:rPr lang="en-US" dirty="0"/>
              <a:t>:</a:t>
            </a:r>
          </a:p>
          <a:p>
            <a:pPr marL="742950" lvl="1" indent="-285750">
              <a:buFont typeface="Arial" panose="020B0604020202020204" pitchFamily="34" charset="0"/>
              <a:buChar char="•"/>
            </a:pPr>
            <a:r>
              <a:rPr lang="en-US" dirty="0"/>
              <a:t>Some metrics are easier to explain and interpret, such as </a:t>
            </a:r>
            <a:r>
              <a:rPr lang="en-US" b="1" dirty="0"/>
              <a:t>accuracy</a:t>
            </a:r>
            <a:r>
              <a:rPr lang="en-US" dirty="0"/>
              <a:t>. These metrics may be more useful when presenting the model’s performance to business stakeholders or non-technical users.</a:t>
            </a:r>
          </a:p>
          <a:p>
            <a:pPr>
              <a:buFont typeface="Arial" panose="020B0604020202020204" pitchFamily="34" charset="0"/>
              <a:buChar char="•"/>
            </a:pPr>
            <a:r>
              <a:rPr lang="en-US" b="1" dirty="0"/>
              <a:t>Business Context</a:t>
            </a:r>
            <a:r>
              <a:rPr lang="en-US" dirty="0"/>
              <a:t>:</a:t>
            </a:r>
          </a:p>
          <a:p>
            <a:pPr marL="742950" lvl="1" indent="-285750">
              <a:buFont typeface="Arial" panose="020B0604020202020204" pitchFamily="34" charset="0"/>
              <a:buChar char="•"/>
            </a:pPr>
            <a:r>
              <a:rPr lang="en-US" dirty="0"/>
              <a:t>In business scenarios, understanding </a:t>
            </a:r>
            <a:r>
              <a:rPr lang="en-US" b="1" dirty="0"/>
              <a:t>precision</a:t>
            </a:r>
            <a:r>
              <a:rPr lang="en-US" dirty="0"/>
              <a:t>, </a:t>
            </a:r>
            <a:r>
              <a:rPr lang="en-US" b="1" dirty="0"/>
              <a:t>recall</a:t>
            </a:r>
            <a:r>
              <a:rPr lang="en-US" dirty="0"/>
              <a:t>, and </a:t>
            </a:r>
            <a:r>
              <a:rPr lang="en-US" b="1" dirty="0"/>
              <a:t>F1-score</a:t>
            </a:r>
            <a:r>
              <a:rPr lang="en-US" dirty="0"/>
              <a:t> might be necessary, especially if the model needs to handle rare events or minimize the risk of missing crucial instances (false negatives). For example, in fraud detection, a higher recall is often preferred over accuracy to ensure most fraud cases are detected.</a:t>
            </a:r>
          </a:p>
          <a:p>
            <a:pPr marL="742950" lvl="1" indent="-285750">
              <a:buFont typeface="Arial" panose="020B0604020202020204" pitchFamily="34" charset="0"/>
              <a:buChar char="•"/>
            </a:pPr>
            <a:r>
              <a:rPr lang="en-US" dirty="0"/>
              <a:t>Metrics like </a:t>
            </a:r>
            <a:r>
              <a:rPr lang="en-US" b="1" dirty="0"/>
              <a:t>F1-score</a:t>
            </a:r>
            <a:r>
              <a:rPr lang="en-US" dirty="0"/>
              <a:t> are especially valuable in cases where both precision and recall matter, such as in customer churn prediction, where it's important to balance both false positives and false negatives.</a:t>
            </a:r>
          </a:p>
          <a:p>
            <a:pPr>
              <a:buNone/>
            </a:pPr>
            <a:r>
              <a:rPr lang="en-US" b="1" dirty="0"/>
              <a:t>5. Model Complexity:</a:t>
            </a:r>
          </a:p>
          <a:p>
            <a:pPr>
              <a:buFont typeface="Arial" panose="020B0604020202020204" pitchFamily="34" charset="0"/>
              <a:buChar char="•"/>
            </a:pPr>
            <a:r>
              <a:rPr lang="en-US" b="1" dirty="0"/>
              <a:t>Complex Models</a:t>
            </a:r>
            <a:r>
              <a:rPr lang="en-US" dirty="0"/>
              <a:t>:</a:t>
            </a:r>
          </a:p>
          <a:p>
            <a:pPr marL="742950" lvl="1" indent="-285750">
              <a:buFont typeface="Arial" panose="020B0604020202020204" pitchFamily="34" charset="0"/>
              <a:buChar char="•"/>
            </a:pPr>
            <a:r>
              <a:rPr lang="en-US" dirty="0"/>
              <a:t>For more complex models (e.g., deep learning models), it's important to evaluate how well they generalize to unseen data, avoiding overfitting or underfitting. Metrics such as </a:t>
            </a:r>
            <a:r>
              <a:rPr lang="en-US" b="1" dirty="0"/>
              <a:t>cross-validation scores</a:t>
            </a:r>
            <a:r>
              <a:rPr lang="en-US" dirty="0"/>
              <a:t>, </a:t>
            </a:r>
            <a:r>
              <a:rPr lang="en-US" b="1" dirty="0"/>
              <a:t>R-squared</a:t>
            </a:r>
            <a:r>
              <a:rPr lang="en-US" dirty="0"/>
              <a:t>, and </a:t>
            </a:r>
            <a:r>
              <a:rPr lang="en-US" b="1" dirty="0"/>
              <a:t>AUC-ROC</a:t>
            </a:r>
            <a:r>
              <a:rPr lang="en-US" dirty="0"/>
              <a:t> provide a better understanding of model performance across multiple data subsets and help in regularization and tuning.</a:t>
            </a:r>
          </a:p>
          <a:p>
            <a:pPr>
              <a:buFont typeface="Arial" panose="020B0604020202020204" pitchFamily="34" charset="0"/>
              <a:buChar char="•"/>
            </a:pPr>
            <a:r>
              <a:rPr lang="en-US" b="1" dirty="0"/>
              <a:t>Bias vs. Variance</a:t>
            </a:r>
            <a:r>
              <a:rPr lang="en-US" dirty="0"/>
              <a:t>:</a:t>
            </a:r>
          </a:p>
          <a:p>
            <a:pPr marL="742950" lvl="1" indent="-285750">
              <a:buFont typeface="Arial" panose="020B0604020202020204" pitchFamily="34" charset="0"/>
              <a:buChar char="•"/>
            </a:pPr>
            <a:r>
              <a:rPr lang="en-US" dirty="0"/>
              <a:t>When working with models that may suffer from high bias (underfitting) or high variance (overfitting), the choice of metrics can inform decisions about regularization and model tuning. For instance, using </a:t>
            </a:r>
            <a:r>
              <a:rPr lang="en-US" b="1" dirty="0"/>
              <a:t>RMSE</a:t>
            </a:r>
            <a:r>
              <a:rPr lang="en-US" dirty="0"/>
              <a:t> alongside </a:t>
            </a:r>
            <a:r>
              <a:rPr lang="en-US" b="1" dirty="0"/>
              <a:t>R-squared</a:t>
            </a:r>
            <a:r>
              <a:rPr lang="en-US" dirty="0"/>
              <a:t> can highlight issues in prediction error and the model’s fit to the data. This helps in adjusting the complexity of the model to achieve an optimal balance between bias and variance.</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Importance of Model Evaluation:</a:t>
            </a:r>
            <a:endParaRPr lang="en-US" dirty="0"/>
          </a:p>
          <a:p>
            <a:pPr>
              <a:buFont typeface="Arial" panose="020B0604020202020204" pitchFamily="34" charset="0"/>
              <a:buChar char="•"/>
            </a:pPr>
            <a:r>
              <a:rPr lang="en-US" dirty="0"/>
              <a:t>Evaluating models ensures they perform well on unseen data, identifies potential problems like overfitting, and helps improve the model.</a:t>
            </a:r>
          </a:p>
          <a:p>
            <a:pPr>
              <a:buNone/>
            </a:pPr>
            <a:r>
              <a:rPr lang="en-US" b="1" dirty="0"/>
              <a:t>Choosing the Right Evaluation Metric:</a:t>
            </a:r>
            <a:endParaRPr lang="en-US" dirty="0"/>
          </a:p>
          <a:p>
            <a:pPr>
              <a:buFont typeface="Arial" panose="020B0604020202020204" pitchFamily="34" charset="0"/>
              <a:buChar char="•"/>
            </a:pPr>
            <a:r>
              <a:rPr lang="en-US" dirty="0"/>
              <a:t>The selection of evaluation metrics should be based on the problem type (regression vs. classification), data nature (imbalanced vs. balanced), and model goals.</a:t>
            </a:r>
          </a:p>
          <a:p>
            <a:pPr>
              <a:buNone/>
            </a:pPr>
            <a:r>
              <a:rPr lang="en-US" b="1" dirty="0"/>
              <a:t>Key Regression Metrics:</a:t>
            </a:r>
            <a:endParaRPr lang="en-US" dirty="0"/>
          </a:p>
          <a:p>
            <a:pPr>
              <a:buFont typeface="Arial" panose="020B0604020202020204" pitchFamily="34" charset="0"/>
              <a:buChar char="•"/>
            </a:pPr>
            <a:r>
              <a:rPr lang="en-US" dirty="0"/>
              <a:t>MAE, MSE, RMSE, and R-squared are crucial for assessing regression models. Understanding their pros and cons helps select the most appropriate one for specific use cases.</a:t>
            </a:r>
          </a:p>
          <a:p>
            <a:pPr>
              <a:buNone/>
            </a:pPr>
            <a:r>
              <a:rPr lang="en-US" b="1" dirty="0"/>
              <a:t>Key Classification Metrics:</a:t>
            </a:r>
            <a:endParaRPr lang="en-US" dirty="0"/>
          </a:p>
          <a:p>
            <a:pPr>
              <a:buFont typeface="Arial" panose="020B0604020202020204" pitchFamily="34" charset="0"/>
              <a:buChar char="•"/>
            </a:pPr>
            <a:r>
              <a:rPr lang="en-US" dirty="0"/>
              <a:t>Metrics like accuracy, precision, recall, F1-score, and AUC-ROC are essential for evaluating classification models, especially in imbalanced datasets.</a:t>
            </a:r>
          </a:p>
          <a:p>
            <a:pPr>
              <a:buNone/>
            </a:pPr>
            <a:r>
              <a:rPr lang="en-US" b="1" dirty="0"/>
              <a:t>Model Evaluation Guides Next Steps:</a:t>
            </a:r>
            <a:endParaRPr lang="en-US" dirty="0"/>
          </a:p>
          <a:p>
            <a:pPr>
              <a:buFont typeface="Arial" panose="020B0604020202020204" pitchFamily="34" charset="0"/>
              <a:buChar char="•"/>
            </a:pPr>
            <a:r>
              <a:rPr lang="en-US"/>
              <a:t>Model evaluation results help in making critical decisions for model improvements, deployment, and practical implementation in real-world scenarios.</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Model</a:t>
            </a:r>
          </a:p>
          <a:p>
            <a:pPr algn="ctr"/>
            <a:r>
              <a:rPr lang="en-US" sz="4400" b="1" dirty="0">
                <a:ln w="0"/>
                <a:solidFill>
                  <a:schemeClr val="accent1"/>
                </a:solidFill>
                <a:effectLst>
                  <a:outerShdw blurRad="38100" dist="25400" dir="5400000" algn="ctr" rotWithShape="0">
                    <a:srgbClr val="6E747A">
                      <a:alpha val="43000"/>
                    </a:srgbClr>
                  </a:outerShdw>
                </a:effectLst>
              </a:rPr>
              <a:t>Evaluation</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236063" y="874749"/>
            <a:ext cx="11653953" cy="923330"/>
          </a:xfrm>
          <a:prstGeom prst="rect">
            <a:avLst/>
          </a:prstGeom>
          <a:noFill/>
        </p:spPr>
        <p:txBody>
          <a:bodyPr wrap="square">
            <a:spAutoFit/>
          </a:bodyPr>
          <a:lstStyle/>
          <a:p>
            <a:pPr algn="just"/>
            <a:r>
              <a:rPr lang="en-US" dirty="0"/>
              <a:t>Model Evaluation refers to the </a:t>
            </a:r>
            <a:r>
              <a:rPr lang="en-US" b="1" dirty="0"/>
              <a:t>process of assessing how well a trained machine learning model performs </a:t>
            </a:r>
            <a:r>
              <a:rPr lang="en-US" dirty="0"/>
              <a:t>on unseen data. It involves determining </a:t>
            </a:r>
            <a:r>
              <a:rPr lang="en-US" b="1" dirty="0"/>
              <a:t>the accuracy and reliability of the model's predictions </a:t>
            </a:r>
            <a:r>
              <a:rPr lang="en-US" dirty="0"/>
              <a:t>and helps to identify potential issues such as </a:t>
            </a:r>
            <a:r>
              <a:rPr lang="en-US" b="1" dirty="0"/>
              <a:t>overfitting, underfitting, or bias.</a:t>
            </a:r>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Evaluation</a:t>
            </a:r>
          </a:p>
        </p:txBody>
      </p:sp>
      <p:pic>
        <p:nvPicPr>
          <p:cNvPr id="1036" name="Picture 12">
            <a:extLst>
              <a:ext uri="{FF2B5EF4-FFF2-40B4-BE49-F238E27FC236}">
                <a16:creationId xmlns:a16="http://schemas.microsoft.com/office/drawing/2014/main" id="{F04B0BF3-7661-44BE-D9A9-513B5CC385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254"/>
          <a:stretch/>
        </p:blipFill>
        <p:spPr bwMode="auto">
          <a:xfrm>
            <a:off x="1891089" y="1880483"/>
            <a:ext cx="8343900" cy="4977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evaluating metrics - Regression</a:t>
            </a:r>
          </a:p>
        </p:txBody>
      </p:sp>
      <p:pic>
        <p:nvPicPr>
          <p:cNvPr id="3082" name="Picture 10">
            <a:extLst>
              <a:ext uri="{FF2B5EF4-FFF2-40B4-BE49-F238E27FC236}">
                <a16:creationId xmlns:a16="http://schemas.microsoft.com/office/drawing/2014/main" id="{F1A54429-545C-9882-C2EA-20E6ABEA55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335"/>
          <a:stretch/>
        </p:blipFill>
        <p:spPr bwMode="auto">
          <a:xfrm>
            <a:off x="1102995" y="1105230"/>
            <a:ext cx="9986010" cy="5237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E0401-C04F-8DD2-7D50-90AC5F099E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007C9C-89B4-CCA8-3B11-BA0F2B6BC6A4}"/>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evaluating metrics - Classification</a:t>
            </a:r>
          </a:p>
        </p:txBody>
      </p:sp>
      <p:pic>
        <p:nvPicPr>
          <p:cNvPr id="6146" name="Picture 2">
            <a:extLst>
              <a:ext uri="{FF2B5EF4-FFF2-40B4-BE49-F238E27FC236}">
                <a16:creationId xmlns:a16="http://schemas.microsoft.com/office/drawing/2014/main" id="{145A6218-2389-F489-68F0-693342A6461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344"/>
          <a:stretch/>
        </p:blipFill>
        <p:spPr bwMode="auto">
          <a:xfrm>
            <a:off x="727626" y="1049571"/>
            <a:ext cx="10372394" cy="5318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133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1" y="0"/>
            <a:ext cx="12192001" cy="6520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Key Factors to Consider </a:t>
            </a:r>
          </a:p>
        </p:txBody>
      </p:sp>
      <p:pic>
        <p:nvPicPr>
          <p:cNvPr id="2058" name="Picture 10">
            <a:extLst>
              <a:ext uri="{FF2B5EF4-FFF2-40B4-BE49-F238E27FC236}">
                <a16:creationId xmlns:a16="http://schemas.microsoft.com/office/drawing/2014/main" id="{AC5EA2EB-23B4-8B7F-E15D-3EB3648560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184"/>
          <a:stretch/>
        </p:blipFill>
        <p:spPr bwMode="auto">
          <a:xfrm>
            <a:off x="648363" y="663572"/>
            <a:ext cx="9831456" cy="6194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4106" name="Picture 10">
            <a:extLst>
              <a:ext uri="{FF2B5EF4-FFF2-40B4-BE49-F238E27FC236}">
                <a16:creationId xmlns:a16="http://schemas.microsoft.com/office/drawing/2014/main" id="{CDCE3697-C086-AAD7-39CC-3794EC4D3D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990"/>
          <a:stretch/>
        </p:blipFill>
        <p:spPr bwMode="auto">
          <a:xfrm>
            <a:off x="924878" y="850789"/>
            <a:ext cx="10596562" cy="6250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1488</TotalTime>
  <Words>2895</Words>
  <Application>Microsoft Office PowerPoint</Application>
  <PresentationFormat>Widescreen</PresentationFormat>
  <Paragraphs>107</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29</cp:revision>
  <dcterms:created xsi:type="dcterms:W3CDTF">2025-03-28T13:19:12Z</dcterms:created>
  <dcterms:modified xsi:type="dcterms:W3CDTF">2025-03-30T15:58:51Z</dcterms:modified>
</cp:coreProperties>
</file>