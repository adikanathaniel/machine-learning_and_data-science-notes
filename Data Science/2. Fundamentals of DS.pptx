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849" autoAdjust="0"/>
  </p:normalViewPr>
  <p:slideViewPr>
    <p:cSldViewPr snapToGrid="0">
      <p:cViewPr>
        <p:scale>
          <a:sx n="78" d="100"/>
          <a:sy n="78" d="100"/>
        </p:scale>
        <p:origin x="180"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4FE182-DC40-4FFA-88FB-D1E651B9A0D4}" type="datetimeFigureOut">
              <a:rPr lang="en-US" smtClean="0"/>
              <a:t>3/29/2025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90596E-B1B8-4E4E-B8E0-28D941E615DF}" type="slidenum">
              <a:rPr lang="en-US" smtClean="0"/>
              <a:t>‹#›</a:t>
            </a:fld>
            <a:endParaRPr lang="en-US"/>
          </a:p>
        </p:txBody>
      </p:sp>
    </p:spTree>
    <p:extLst>
      <p:ext uri="{BB962C8B-B14F-4D97-AF65-F5344CB8AC3E}">
        <p14:creationId xmlns:p14="http://schemas.microsoft.com/office/powerpoint/2010/main" val="2497663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Mathematics and statistics form the foundation of data science, enabling professionals to effectively analyze and interpret data.</a:t>
            </a:r>
          </a:p>
          <a:p>
            <a:pPr>
              <a:buNone/>
            </a:pPr>
            <a:r>
              <a:rPr lang="en-US" b="1" dirty="0"/>
              <a:t>Linear Algebra</a:t>
            </a:r>
            <a:r>
              <a:rPr lang="en-US" dirty="0"/>
              <a:t> is key to understanding data structures like matrices and vectors, which are fundamental in many algorithms, especially in </a:t>
            </a:r>
            <a:r>
              <a:rPr lang="en-US" b="1" dirty="0"/>
              <a:t>machine learning</a:t>
            </a:r>
            <a:r>
              <a:rPr lang="en-US" dirty="0"/>
              <a:t> and </a:t>
            </a:r>
            <a:r>
              <a:rPr lang="en-US" b="1" dirty="0"/>
              <a:t>deep learning</a:t>
            </a:r>
            <a:r>
              <a:rPr lang="en-US" dirty="0"/>
              <a:t>. Operations such as dot products help in transforming data, performing calculations, and making predictions in models like neural networks.</a:t>
            </a:r>
          </a:p>
          <a:p>
            <a:pPr>
              <a:buNone/>
            </a:pPr>
            <a:r>
              <a:rPr lang="en-US" b="1" dirty="0"/>
              <a:t>Probability and Statistics</a:t>
            </a:r>
            <a:r>
              <a:rPr lang="en-US" dirty="0"/>
              <a:t> are essential for drawing conclusions from data. A solid understanding of </a:t>
            </a:r>
            <a:r>
              <a:rPr lang="en-US" b="1" dirty="0"/>
              <a:t>probability</a:t>
            </a:r>
            <a:r>
              <a:rPr lang="en-US" dirty="0"/>
              <a:t> helps assess the likelihood of certain events, while knowledge of </a:t>
            </a:r>
            <a:r>
              <a:rPr lang="en-US" b="1" dirty="0"/>
              <a:t>distributions</a:t>
            </a:r>
            <a:r>
              <a:rPr lang="en-US" dirty="0"/>
              <a:t>, such as the </a:t>
            </a:r>
            <a:r>
              <a:rPr lang="en-US" b="1" dirty="0"/>
              <a:t>normal distribution</a:t>
            </a:r>
            <a:r>
              <a:rPr lang="en-US" dirty="0"/>
              <a:t>, helps understand the spread and patterns in data. </a:t>
            </a:r>
            <a:r>
              <a:rPr lang="en-US" b="1" dirty="0"/>
              <a:t>Hypothesis testing</a:t>
            </a:r>
            <a:r>
              <a:rPr lang="en-US" dirty="0"/>
              <a:t> and </a:t>
            </a:r>
            <a:r>
              <a:rPr lang="en-US" b="1" dirty="0"/>
              <a:t>statistical methods</a:t>
            </a:r>
            <a:r>
              <a:rPr lang="en-US" dirty="0"/>
              <a:t> allow data scientists to make inferences about populations based on sample data, testing theories or models.</a:t>
            </a:r>
          </a:p>
          <a:p>
            <a:r>
              <a:rPr lang="en-US" b="1" dirty="0"/>
              <a:t>Calculus</a:t>
            </a:r>
            <a:r>
              <a:rPr lang="en-US" dirty="0"/>
              <a:t> is necessary for solving optimization problems, which are common in data science. Understanding </a:t>
            </a:r>
            <a:r>
              <a:rPr lang="en-US" b="1" dirty="0"/>
              <a:t>derivatives</a:t>
            </a:r>
            <a:r>
              <a:rPr lang="en-US" dirty="0"/>
              <a:t> and </a:t>
            </a:r>
            <a:r>
              <a:rPr lang="en-US" b="1" dirty="0"/>
              <a:t>integrals</a:t>
            </a:r>
            <a:r>
              <a:rPr lang="en-US" dirty="0"/>
              <a:t> is especially useful in </a:t>
            </a:r>
            <a:r>
              <a:rPr lang="en-US" b="1" dirty="0"/>
              <a:t>machine learning</a:t>
            </a:r>
            <a:r>
              <a:rPr lang="en-US" dirty="0"/>
              <a:t> models, such as when applying </a:t>
            </a:r>
            <a:r>
              <a:rPr lang="en-US" b="1" dirty="0"/>
              <a:t>gradient descent</a:t>
            </a:r>
            <a:r>
              <a:rPr lang="en-US" dirty="0"/>
              <a:t>. This technique is used to minimize error in predictions by adjusting model parameters incrementally.</a:t>
            </a:r>
          </a:p>
        </p:txBody>
      </p:sp>
      <p:sp>
        <p:nvSpPr>
          <p:cNvPr id="4" name="Slide Number Placeholder 3"/>
          <p:cNvSpPr>
            <a:spLocks noGrp="1"/>
          </p:cNvSpPr>
          <p:nvPr>
            <p:ph type="sldNum" sz="quarter" idx="5"/>
          </p:nvPr>
        </p:nvSpPr>
        <p:spPr/>
        <p:txBody>
          <a:bodyPr/>
          <a:lstStyle/>
          <a:p>
            <a:fld id="{0090596E-B1B8-4E4E-B8E0-28D941E615DF}" type="slidenum">
              <a:rPr lang="en-US" smtClean="0"/>
              <a:t>2</a:t>
            </a:fld>
            <a:endParaRPr lang="en-US"/>
          </a:p>
        </p:txBody>
      </p:sp>
    </p:spTree>
    <p:extLst>
      <p:ext uri="{BB962C8B-B14F-4D97-AF65-F5344CB8AC3E}">
        <p14:creationId xmlns:p14="http://schemas.microsoft.com/office/powerpoint/2010/main" val="1038070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Python</a:t>
            </a:r>
            <a:r>
              <a:rPr lang="en-US" dirty="0"/>
              <a:t> is the most widely used programming language in data science due to its simplicity and versatility. It is especially effective for writing scripts to manipulate data, build machine learning models, and visualize results. </a:t>
            </a:r>
            <a:r>
              <a:rPr lang="en-US" b="1" dirty="0"/>
              <a:t>R</a:t>
            </a:r>
            <a:r>
              <a:rPr lang="en-US" dirty="0"/>
              <a:t> is another popular language, particularly in academic and research settings, but Python tends to be the go-to choice for most data scientists. Mastering Python or R is essential for any data science work.</a:t>
            </a:r>
          </a:p>
          <a:p>
            <a:r>
              <a:rPr lang="en-US" dirty="0"/>
              <a:t>To maximize the power of these languages, it's important to become familiar with essential </a:t>
            </a:r>
            <a:r>
              <a:rPr lang="en-US" b="1" dirty="0"/>
              <a:t>libraries and tools</a:t>
            </a:r>
            <a:r>
              <a:rPr lang="en-US" dirty="0"/>
              <a:t>. For Python, </a:t>
            </a:r>
            <a:r>
              <a:rPr lang="en-US" b="1" dirty="0"/>
              <a:t>NumPy</a:t>
            </a:r>
            <a:r>
              <a:rPr lang="en-US" dirty="0"/>
              <a:t> is used for numerical operations, allowing you to perform complex mathematical calculations efficiently. </a:t>
            </a:r>
            <a:r>
              <a:rPr lang="en-US" b="1" dirty="0"/>
              <a:t>Pandas</a:t>
            </a:r>
            <a:r>
              <a:rPr lang="en-US" dirty="0"/>
              <a:t> is key for data manipulation, helping to clean, transform, and analyze large datasets. </a:t>
            </a:r>
            <a:r>
              <a:rPr lang="en-US" b="1" dirty="0"/>
              <a:t>Matplotlib</a:t>
            </a:r>
            <a:r>
              <a:rPr lang="en-US" dirty="0"/>
              <a:t> and </a:t>
            </a:r>
            <a:r>
              <a:rPr lang="en-US" b="1" dirty="0"/>
              <a:t>Seaborn</a:t>
            </a:r>
            <a:r>
              <a:rPr lang="en-US" dirty="0"/>
              <a:t> are powerful libraries for </a:t>
            </a:r>
            <a:r>
              <a:rPr lang="en-US" b="1" dirty="0"/>
              <a:t>data visualization</a:t>
            </a:r>
            <a:r>
              <a:rPr lang="en-US" dirty="0"/>
              <a:t>, enabling you to create a variety of graphs and plots to present your findings. Lastly, </a:t>
            </a:r>
            <a:r>
              <a:rPr lang="en-US" b="1" dirty="0"/>
              <a:t>Scikit-learn</a:t>
            </a:r>
            <a:r>
              <a:rPr lang="en-US" dirty="0"/>
              <a:t> is widely used for building machine learning models, offering a range of algorithms for classification, regression, and clustering tasks. Familiarity with these libraries is crucial for performing various data science tasks efficiently.</a:t>
            </a:r>
          </a:p>
        </p:txBody>
      </p:sp>
      <p:sp>
        <p:nvSpPr>
          <p:cNvPr id="4" name="Slide Number Placeholder 3"/>
          <p:cNvSpPr>
            <a:spLocks noGrp="1"/>
          </p:cNvSpPr>
          <p:nvPr>
            <p:ph type="sldNum" sz="quarter" idx="5"/>
          </p:nvPr>
        </p:nvSpPr>
        <p:spPr/>
        <p:txBody>
          <a:bodyPr/>
          <a:lstStyle/>
          <a:p>
            <a:fld id="{0090596E-B1B8-4E4E-B8E0-28D941E615DF}" type="slidenum">
              <a:rPr lang="en-US" smtClean="0"/>
              <a:t>3</a:t>
            </a:fld>
            <a:endParaRPr lang="en-US"/>
          </a:p>
        </p:txBody>
      </p:sp>
    </p:spTree>
    <p:extLst>
      <p:ext uri="{BB962C8B-B14F-4D97-AF65-F5344CB8AC3E}">
        <p14:creationId xmlns:p14="http://schemas.microsoft.com/office/powerpoint/2010/main" val="36689233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Data Manipulation and Cleaning</a:t>
            </a:r>
            <a:r>
              <a:rPr lang="en-US" dirty="0"/>
              <a:t> are crucial steps in any data science project, as real-world data is often messy and requires careful preparation before analysis.</a:t>
            </a:r>
          </a:p>
          <a:p>
            <a:pPr>
              <a:buNone/>
            </a:pPr>
            <a:r>
              <a:rPr lang="en-US" b="1" dirty="0"/>
              <a:t>Handling Data</a:t>
            </a:r>
            <a:r>
              <a:rPr lang="en-US" dirty="0"/>
              <a:t> involves the process of loading, cleaning, and preprocessing raw data. Real-world datasets often contain issues like </a:t>
            </a:r>
            <a:r>
              <a:rPr lang="en-US" b="1" dirty="0"/>
              <a:t>missing values</a:t>
            </a:r>
            <a:r>
              <a:rPr lang="en-US" dirty="0"/>
              <a:t>, </a:t>
            </a:r>
            <a:r>
              <a:rPr lang="en-US" b="1" dirty="0"/>
              <a:t>duplicates</a:t>
            </a:r>
            <a:r>
              <a:rPr lang="en-US" dirty="0"/>
              <a:t>, and </a:t>
            </a:r>
            <a:r>
              <a:rPr lang="en-US" b="1" dirty="0"/>
              <a:t>outliers</a:t>
            </a:r>
            <a:r>
              <a:rPr lang="en-US" dirty="0"/>
              <a:t>, which need to be addressed to ensure the data is accurate and reliable. For example, missing values can be filled with mean, median, or mode, or rows with missing data can be removed. Duplicates can be identified and removed to avoid bias, and outliers can be handled through techniques such as trimming or transformation to prevent them from skewing results.</a:t>
            </a:r>
          </a:p>
          <a:p>
            <a:r>
              <a:rPr lang="en-US" b="1" dirty="0"/>
              <a:t>Data Transformation</a:t>
            </a:r>
            <a:r>
              <a:rPr lang="en-US" dirty="0"/>
              <a:t> involves converting the data into a format that is suitable for analysis and modeling. This might include </a:t>
            </a:r>
            <a:r>
              <a:rPr lang="en-US" b="1" dirty="0"/>
              <a:t>feature scaling</a:t>
            </a:r>
            <a:r>
              <a:rPr lang="en-US" dirty="0"/>
              <a:t> (e.g., normalizing or standardizing values so they’re on a similar scale), which is important when working with machine learning models that are sensitive to the magnitude of data (like distance-based models). </a:t>
            </a:r>
            <a:r>
              <a:rPr lang="en-US" b="1" dirty="0"/>
              <a:t>Normalization</a:t>
            </a:r>
            <a:r>
              <a:rPr lang="en-US" dirty="0"/>
              <a:t> ensures that data falls within a specific range, while </a:t>
            </a:r>
            <a:r>
              <a:rPr lang="en-US" b="1" dirty="0"/>
              <a:t>encoding categorical variables</a:t>
            </a:r>
            <a:r>
              <a:rPr lang="en-US" dirty="0"/>
              <a:t> transforms non-numeric data (like text labels) into numerical format, allowing models to process the data effectively. These steps make data more structured and ready for analysis, improving the overall performance of machine learning algorithms.</a:t>
            </a:r>
          </a:p>
        </p:txBody>
      </p:sp>
      <p:sp>
        <p:nvSpPr>
          <p:cNvPr id="4" name="Slide Number Placeholder 3"/>
          <p:cNvSpPr>
            <a:spLocks noGrp="1"/>
          </p:cNvSpPr>
          <p:nvPr>
            <p:ph type="sldNum" sz="quarter" idx="5"/>
          </p:nvPr>
        </p:nvSpPr>
        <p:spPr/>
        <p:txBody>
          <a:bodyPr/>
          <a:lstStyle/>
          <a:p>
            <a:fld id="{0090596E-B1B8-4E4E-B8E0-28D941E615DF}" type="slidenum">
              <a:rPr lang="en-US" smtClean="0"/>
              <a:t>4</a:t>
            </a:fld>
            <a:endParaRPr lang="en-US"/>
          </a:p>
        </p:txBody>
      </p:sp>
    </p:spTree>
    <p:extLst>
      <p:ext uri="{BB962C8B-B14F-4D97-AF65-F5344CB8AC3E}">
        <p14:creationId xmlns:p14="http://schemas.microsoft.com/office/powerpoint/2010/main" val="24017867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Supervised vs Unsupervised Learning</a:t>
            </a:r>
            <a:r>
              <a:rPr lang="en-US" dirty="0"/>
              <a:t> is a key distinction in machine learning. In </a:t>
            </a:r>
            <a:r>
              <a:rPr lang="en-US" b="1" dirty="0"/>
              <a:t>supervised learning</a:t>
            </a:r>
            <a:r>
              <a:rPr lang="en-US" dirty="0"/>
              <a:t>, the algorithm is trained on labeled data, meaning the input data is paired with the correct output (or label). The goal is for the model to learn the mapping from input to output so that it can predict the labels of new, unseen data. Common examples include </a:t>
            </a:r>
            <a:r>
              <a:rPr lang="en-US" b="1" dirty="0"/>
              <a:t>classification</a:t>
            </a:r>
            <a:r>
              <a:rPr lang="en-US" dirty="0"/>
              <a:t> (e.g., spam email detection) and </a:t>
            </a:r>
            <a:r>
              <a:rPr lang="en-US" b="1" dirty="0"/>
              <a:t>regression</a:t>
            </a:r>
            <a:r>
              <a:rPr lang="en-US" dirty="0"/>
              <a:t> (e.g., predicting house prices). In </a:t>
            </a:r>
            <a:r>
              <a:rPr lang="en-US" b="1" dirty="0"/>
              <a:t>unsupervised learning</a:t>
            </a:r>
            <a:r>
              <a:rPr lang="en-US" dirty="0"/>
              <a:t>, the algorithm works with unlabeled data and tries to find hidden patterns or structures in the data, such as clustering or grouping similar items. This type of learning is often used for tasks like </a:t>
            </a:r>
            <a:r>
              <a:rPr lang="en-US" b="1" dirty="0"/>
              <a:t>customer segmentation</a:t>
            </a:r>
            <a:r>
              <a:rPr lang="en-US" dirty="0"/>
              <a:t> or </a:t>
            </a:r>
            <a:r>
              <a:rPr lang="en-US" b="1" dirty="0"/>
              <a:t>anomaly detection</a:t>
            </a:r>
            <a:r>
              <a:rPr lang="en-US" dirty="0"/>
              <a:t>.</a:t>
            </a:r>
          </a:p>
          <a:p>
            <a:pPr>
              <a:buNone/>
            </a:pPr>
            <a:r>
              <a:rPr lang="en-US" b="1" dirty="0"/>
              <a:t>Algorithms</a:t>
            </a:r>
            <a:r>
              <a:rPr lang="en-US" dirty="0"/>
              <a:t> are the core methods used to build machine learning models. Some of the most fundamental algorithms include:</a:t>
            </a:r>
          </a:p>
          <a:p>
            <a:pPr>
              <a:buFont typeface="Arial" panose="020B0604020202020204" pitchFamily="34" charset="0"/>
              <a:buChar char="•"/>
            </a:pPr>
            <a:r>
              <a:rPr lang="en-US" b="1" dirty="0"/>
              <a:t>Linear Regression</a:t>
            </a:r>
            <a:r>
              <a:rPr lang="en-US" dirty="0"/>
              <a:t>: A simple algorithm used to model the relationship between a dependent variable and one or more independent variables. It's often used for predicting continuous values, such as sales or temperature.</a:t>
            </a:r>
          </a:p>
          <a:p>
            <a:pPr>
              <a:buFont typeface="Arial" panose="020B0604020202020204" pitchFamily="34" charset="0"/>
              <a:buChar char="•"/>
            </a:pPr>
            <a:r>
              <a:rPr lang="en-US" b="1" dirty="0"/>
              <a:t>Decision Trees</a:t>
            </a:r>
            <a:r>
              <a:rPr lang="en-US" dirty="0"/>
              <a:t>: A tree-like model used for classification and regression tasks. It splits the data into subsets based on the most significant features, making decisions at each node.</a:t>
            </a:r>
          </a:p>
          <a:p>
            <a:pPr>
              <a:buFont typeface="Arial" panose="020B0604020202020204" pitchFamily="34" charset="0"/>
              <a:buChar char="•"/>
            </a:pPr>
            <a:r>
              <a:rPr lang="en-US" b="1" dirty="0"/>
              <a:t>K-Means Clustering</a:t>
            </a:r>
            <a:r>
              <a:rPr lang="en-US" dirty="0"/>
              <a:t>: An unsupervised learning algorithm that groups data into clusters based on similarity. It’s widely used in customer segmentation and pattern recognition.</a:t>
            </a:r>
          </a:p>
          <a:p>
            <a:pPr>
              <a:buFont typeface="Arial" panose="020B0604020202020204" pitchFamily="34" charset="0"/>
              <a:buChar char="•"/>
            </a:pPr>
            <a:r>
              <a:rPr lang="en-US" b="1" dirty="0"/>
              <a:t>K-Nearest Neighbors (KNN)</a:t>
            </a:r>
            <a:r>
              <a:rPr lang="en-US" dirty="0"/>
              <a:t>: A simple, instance-based learning algorithm used for classification and regression. It assigns a label to a data point based on the majority label of its k-nearest neighbors.</a:t>
            </a:r>
          </a:p>
          <a:p>
            <a:pPr>
              <a:buFont typeface="Arial" panose="020B0604020202020204" pitchFamily="34" charset="0"/>
              <a:buNone/>
            </a:pPr>
            <a:r>
              <a:rPr lang="en-US" dirty="0"/>
              <a:t>In the upcoming lessons, you will master all these things for real-life use cases.</a:t>
            </a:r>
          </a:p>
        </p:txBody>
      </p:sp>
      <p:sp>
        <p:nvSpPr>
          <p:cNvPr id="4" name="Slide Number Placeholder 3"/>
          <p:cNvSpPr>
            <a:spLocks noGrp="1"/>
          </p:cNvSpPr>
          <p:nvPr>
            <p:ph type="sldNum" sz="quarter" idx="5"/>
          </p:nvPr>
        </p:nvSpPr>
        <p:spPr/>
        <p:txBody>
          <a:bodyPr/>
          <a:lstStyle/>
          <a:p>
            <a:fld id="{0090596E-B1B8-4E4E-B8E0-28D941E615DF}" type="slidenum">
              <a:rPr lang="en-US" smtClean="0"/>
              <a:t>5</a:t>
            </a:fld>
            <a:endParaRPr lang="en-US"/>
          </a:p>
        </p:txBody>
      </p:sp>
    </p:spTree>
    <p:extLst>
      <p:ext uri="{BB962C8B-B14F-4D97-AF65-F5344CB8AC3E}">
        <p14:creationId xmlns:p14="http://schemas.microsoft.com/office/powerpoint/2010/main" val="2398993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Data Visualization</a:t>
            </a:r>
            <a:r>
              <a:rPr lang="en-US" dirty="0"/>
              <a:t> plays a crucial role in communicating the findings from data analysis. It helps present complex data in a way that is easy to understand and actionable.</a:t>
            </a:r>
          </a:p>
          <a:p>
            <a:pPr>
              <a:buNone/>
            </a:pPr>
            <a:r>
              <a:rPr lang="en-US" b="1" dirty="0"/>
              <a:t>Visualization Tools</a:t>
            </a:r>
            <a:r>
              <a:rPr lang="en-US" dirty="0"/>
              <a:t> are essential for creating clear and informative graphs and charts. Libraries like </a:t>
            </a:r>
            <a:r>
              <a:rPr lang="en-US" b="1" dirty="0"/>
              <a:t>Matplotlib</a:t>
            </a:r>
            <a:r>
              <a:rPr lang="en-US" dirty="0"/>
              <a:t> and </a:t>
            </a:r>
            <a:r>
              <a:rPr lang="en-US" b="1" dirty="0"/>
              <a:t>Seaborn</a:t>
            </a:r>
            <a:r>
              <a:rPr lang="en-US" dirty="0"/>
              <a:t> in Python are commonly used for data visualization. </a:t>
            </a:r>
            <a:r>
              <a:rPr lang="en-US" b="1" dirty="0"/>
              <a:t>Matplotlib</a:t>
            </a:r>
            <a:r>
              <a:rPr lang="en-US" dirty="0"/>
              <a:t> provides flexibility for creating a wide range of visualizations, from simple line charts to more complex plots. </a:t>
            </a:r>
            <a:r>
              <a:rPr lang="en-US" b="1" dirty="0"/>
              <a:t>Seaborn</a:t>
            </a:r>
            <a:r>
              <a:rPr lang="en-US" dirty="0"/>
              <a:t> builds on Matplotlib and simplifies the process of creating visually appealing and insightful statistical plots. Learning to use these tools effectively enables data scientists to illustrate trends, distributions, relationships, and comparisons within datasets, making it easier for others to understand the data.</a:t>
            </a:r>
          </a:p>
          <a:p>
            <a:r>
              <a:rPr lang="en-US" b="1" dirty="0"/>
              <a:t>Storytelling with Data</a:t>
            </a:r>
            <a:r>
              <a:rPr lang="en-US" dirty="0"/>
              <a:t> is the ability to present data-driven insights in a compelling and clear way. A good data story involves more than just showing graphs; it requires understanding the context, highlighting the most important findings, and presenting them in a way that resonates with the audience.</a:t>
            </a:r>
          </a:p>
        </p:txBody>
      </p:sp>
      <p:sp>
        <p:nvSpPr>
          <p:cNvPr id="4" name="Slide Number Placeholder 3"/>
          <p:cNvSpPr>
            <a:spLocks noGrp="1"/>
          </p:cNvSpPr>
          <p:nvPr>
            <p:ph type="sldNum" sz="quarter" idx="5"/>
          </p:nvPr>
        </p:nvSpPr>
        <p:spPr/>
        <p:txBody>
          <a:bodyPr/>
          <a:lstStyle/>
          <a:p>
            <a:fld id="{0090596E-B1B8-4E4E-B8E0-28D941E615DF}" type="slidenum">
              <a:rPr lang="en-US" smtClean="0"/>
              <a:t>6</a:t>
            </a:fld>
            <a:endParaRPr lang="en-US"/>
          </a:p>
        </p:txBody>
      </p:sp>
    </p:spTree>
    <p:extLst>
      <p:ext uri="{BB962C8B-B14F-4D97-AF65-F5344CB8AC3E}">
        <p14:creationId xmlns:p14="http://schemas.microsoft.com/office/powerpoint/2010/main" val="31062206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Problem-Solving and Analytical Thinking</a:t>
            </a:r>
            <a:r>
              <a:rPr lang="en-US" dirty="0"/>
              <a:t> are essential skills for data scientists, as they help to approach complex problems logically and efficiently.</a:t>
            </a:r>
          </a:p>
          <a:p>
            <a:pPr>
              <a:buNone/>
            </a:pPr>
            <a:r>
              <a:rPr lang="en-US" b="1" dirty="0"/>
              <a:t>Critical Thinking</a:t>
            </a:r>
            <a:r>
              <a:rPr lang="en-US" dirty="0"/>
              <a:t> is key to approaching problems analytically. It involves breaking down a problem into smaller, more manageable components and examining each part to understand the underlying issue. By thinking methodically, you can consider all possible solutions and assess their feasibility. This structured approach helps identify the best way to solve problems and make decisions, ensuring that the analysis is thorough and accurate.</a:t>
            </a:r>
          </a:p>
          <a:p>
            <a:r>
              <a:rPr lang="en-US" b="1" dirty="0"/>
              <a:t>Algorithms and Optimization</a:t>
            </a:r>
            <a:r>
              <a:rPr lang="en-US" dirty="0"/>
              <a:t> are crucial in data science because they help process and analyze large datasets efficiently. </a:t>
            </a:r>
            <a:r>
              <a:rPr lang="en-US" b="1" dirty="0"/>
              <a:t>Algorithms</a:t>
            </a:r>
            <a:r>
              <a:rPr lang="en-US" dirty="0"/>
              <a:t> are step-by-step instructions or rules used to solve specific problems, such as sorting data, finding patterns, or predicting outcomes. Understanding basic algorithms helps in selecting the right one for a given problem. </a:t>
            </a:r>
            <a:r>
              <a:rPr lang="en-US" b="1" dirty="0"/>
              <a:t>Optimization</a:t>
            </a:r>
            <a:r>
              <a:rPr lang="en-US" dirty="0"/>
              <a:t> refers to techniques used to make algorithms run more efficiently, improving their performance in terms of speed, accuracy, or resource usage. In data science, optimization is often necessary when dealing with big data or computationally complex models, as it ensures that resources are used effectively and that solutions are found quickly.</a:t>
            </a:r>
          </a:p>
        </p:txBody>
      </p:sp>
      <p:sp>
        <p:nvSpPr>
          <p:cNvPr id="4" name="Slide Number Placeholder 3"/>
          <p:cNvSpPr>
            <a:spLocks noGrp="1"/>
          </p:cNvSpPr>
          <p:nvPr>
            <p:ph type="sldNum" sz="quarter" idx="5"/>
          </p:nvPr>
        </p:nvSpPr>
        <p:spPr/>
        <p:txBody>
          <a:bodyPr/>
          <a:lstStyle/>
          <a:p>
            <a:fld id="{0090596E-B1B8-4E4E-B8E0-28D941E615DF}" type="slidenum">
              <a:rPr lang="en-US" smtClean="0"/>
              <a:t>7</a:t>
            </a:fld>
            <a:endParaRPr lang="en-US"/>
          </a:p>
        </p:txBody>
      </p:sp>
    </p:spTree>
    <p:extLst>
      <p:ext uri="{BB962C8B-B14F-4D97-AF65-F5344CB8AC3E}">
        <p14:creationId xmlns:p14="http://schemas.microsoft.com/office/powerpoint/2010/main" val="21410753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mj-lt"/>
              <a:buNone/>
            </a:pPr>
            <a:r>
              <a:rPr lang="en-US" dirty="0"/>
              <a:t>In this lesson the key things we have learnt that A solid understanding of linear algebra, probability, statistics, and calculus is essential for analyzing data and building machine learning models. These mathematical concepts provide the foundation for understanding algorithms and optimizing model performance.</a:t>
            </a:r>
          </a:p>
          <a:p>
            <a:pPr>
              <a:buFont typeface="+mj-lt"/>
              <a:buNone/>
            </a:pPr>
            <a:r>
              <a:rPr lang="en-US" dirty="0"/>
              <a:t>Proficiency in programming languages like Python or R, and knowledge of essential libraries such as Pandas, NumPy, and Scikit-learn, are crucial for data manipulation and model building. These tools enable data scientists to process data, create models, and generate meaningful insights efficiently.</a:t>
            </a:r>
          </a:p>
          <a:p>
            <a:pPr>
              <a:buFont typeface="+mj-lt"/>
              <a:buNone/>
            </a:pPr>
            <a:r>
              <a:rPr lang="en-US" dirty="0"/>
              <a:t>Learning how to preprocess, clean, and transform data is crucial because real-world data is often messy and unstructured. This step ensures that data is in a usable format for analysis and modeling, which is vital for obtaining accurate results.</a:t>
            </a:r>
          </a:p>
          <a:p>
            <a:pPr>
              <a:buFont typeface="+mj-lt"/>
              <a:buNone/>
            </a:pPr>
            <a:r>
              <a:rPr lang="en-US" dirty="0"/>
              <a:t>Developing critical thinking and problem-solving skills is key to breaking down complex data problems, designing effective solutions, and optimizing algorithms. These skills help data scientists approach challenges methodically and make informed decisions during the analysis process.</a:t>
            </a:r>
          </a:p>
          <a:p>
            <a:pPr>
              <a:buFont typeface="+mj-lt"/>
              <a:buNone/>
            </a:pPr>
            <a:r>
              <a:rPr lang="en-US" dirty="0"/>
              <a:t>Familiarizing yourself with fundamental machine learning concepts and algorithms, such as supervised and unsupervised learning, helps in building predictive models. Understanding these techniques allows data scientists to choose the right algorithms and apply them effectively for tasks like classification, regression, and clustering.</a:t>
            </a:r>
          </a:p>
          <a:p>
            <a:r>
              <a:rPr lang="en-US" dirty="0"/>
              <a:t>4o</a:t>
            </a:r>
          </a:p>
          <a:p>
            <a:endParaRPr lang="en-US" dirty="0"/>
          </a:p>
        </p:txBody>
      </p:sp>
      <p:sp>
        <p:nvSpPr>
          <p:cNvPr id="4" name="Slide Number Placeholder 3"/>
          <p:cNvSpPr>
            <a:spLocks noGrp="1"/>
          </p:cNvSpPr>
          <p:nvPr>
            <p:ph type="sldNum" sz="quarter" idx="5"/>
          </p:nvPr>
        </p:nvSpPr>
        <p:spPr/>
        <p:txBody>
          <a:bodyPr/>
          <a:lstStyle/>
          <a:p>
            <a:fld id="{0090596E-B1B8-4E4E-B8E0-28D941E615DF}" type="slidenum">
              <a:rPr lang="en-US" smtClean="0"/>
              <a:t>8</a:t>
            </a:fld>
            <a:endParaRPr lang="en-US"/>
          </a:p>
        </p:txBody>
      </p:sp>
    </p:spTree>
    <p:extLst>
      <p:ext uri="{BB962C8B-B14F-4D97-AF65-F5344CB8AC3E}">
        <p14:creationId xmlns:p14="http://schemas.microsoft.com/office/powerpoint/2010/main" val="1638552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64D7B-68EC-3A5D-EF43-D9D9742990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B06B0B4-3041-7984-785C-3413E7819C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D6E38AF-415C-26EF-9E80-D60968101509}"/>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DD04435-942E-0E65-F622-05ED923D3D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67221B-9F10-95AB-69C5-1D9CDF940FA1}"/>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3426091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3E710-1396-1DBE-B21A-6E5F4DB29A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7D0FFC-810D-E0BE-7F84-FB1DBC9D0E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448A89-7276-CAA3-CC3E-51645337B7B0}"/>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2019B62C-4FC8-3D7F-CA46-51644491C2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A030D1-622F-1249-765C-6E46A4EE2CC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1221952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C8B56-DFF5-BE41-DE3D-05FD2F3200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6044437-5D46-EFD2-CE6E-D245C6CF607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37C1EA-B634-9836-E23E-0C48426B11DC}"/>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D8AEF48-21ED-D969-1990-2DE1C81B0A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5EF36A-D445-D428-87D2-6F92FCC42529}"/>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7016888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2C1F8-6D81-976E-8B0A-1E12208DAE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7F129E-6A21-475A-DFD5-830A3CB55B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74CC03-B6B9-D9AC-E724-B5221209C9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697496-A1D5-707B-B103-3E5D62898952}"/>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6" name="Footer Placeholder 5">
            <a:extLst>
              <a:ext uri="{FF2B5EF4-FFF2-40B4-BE49-F238E27FC236}">
                <a16:creationId xmlns:a16="http://schemas.microsoft.com/office/drawing/2014/main" id="{63119BA9-CC54-F483-0160-95B1D3A32F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286727-9DDC-7A20-56C0-327D2F41232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62229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A69BF-27D4-4A43-C1DE-BDC7AF294A8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114209E-ED2F-A8F5-1743-E17B335C11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EDC2E8-5C27-3ECA-1553-8659D9D6A7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8730BC-5B3E-EFAB-1BD3-E13DB9DDE4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FCF01D-B2D0-0CBA-A8F7-BA642C8E57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51C6494-8C59-EE05-0FF5-DE460B9B041D}"/>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8" name="Footer Placeholder 7">
            <a:extLst>
              <a:ext uri="{FF2B5EF4-FFF2-40B4-BE49-F238E27FC236}">
                <a16:creationId xmlns:a16="http://schemas.microsoft.com/office/drawing/2014/main" id="{6121FBB3-F41B-BA3F-04D2-8AEBE326209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9CF6BA-9438-86D8-4731-4FDBACD59E93}"/>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435162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7EE4C-E056-686E-CB94-6C08E521420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D99DEB6-AF92-5F75-B67E-B745189518D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4" name="Footer Placeholder 3">
            <a:extLst>
              <a:ext uri="{FF2B5EF4-FFF2-40B4-BE49-F238E27FC236}">
                <a16:creationId xmlns:a16="http://schemas.microsoft.com/office/drawing/2014/main" id="{C8AC647A-F5A0-ABF7-A720-98AA381602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B0C2998-0FDB-260D-8F37-08DD947336E3}"/>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3646968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8AB883-68A8-8A2C-5DCB-B0DDF813CBE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3" name="Footer Placeholder 2">
            <a:extLst>
              <a:ext uri="{FF2B5EF4-FFF2-40B4-BE49-F238E27FC236}">
                <a16:creationId xmlns:a16="http://schemas.microsoft.com/office/drawing/2014/main" id="{03095111-88DD-346A-DFD2-A16E6699C9C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39B8901-2CC4-2A23-2A20-0F5308467320}"/>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175100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0850A-B0CE-47E3-B62E-D2DA694999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662B4AC-9343-6345-E5A8-618502FAAF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21BF07-5277-2848-4B48-82B2E15DF9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A3C87E-D1D8-A841-F686-83B51927D82A}"/>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6" name="Footer Placeholder 5">
            <a:extLst>
              <a:ext uri="{FF2B5EF4-FFF2-40B4-BE49-F238E27FC236}">
                <a16:creationId xmlns:a16="http://schemas.microsoft.com/office/drawing/2014/main" id="{C9864D58-181E-2E07-D806-0C4A2E456C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4B2EB8-88E8-1C3F-49D4-2D45329AD741}"/>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002829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86FFB-5EBF-1B4E-4E73-EE392DC8EA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FF24FF6-52E4-C6F8-FE9D-27FC071A00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319B0D-FC2A-6DE5-E814-B659200C8C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452C68-3F9E-B9AB-5EDA-344140010925}"/>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6" name="Footer Placeholder 5">
            <a:extLst>
              <a:ext uri="{FF2B5EF4-FFF2-40B4-BE49-F238E27FC236}">
                <a16:creationId xmlns:a16="http://schemas.microsoft.com/office/drawing/2014/main" id="{21F25132-A2D5-E3BC-0AFA-D22AE6DC91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905F6A-1D13-4385-DBF2-1922E7628F39}"/>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506154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96446-8C2D-2DF2-026B-D6A1A02558A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5B8E4CC-7F20-CA0B-FE27-9F81AD7A87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F03A1B-8D6A-02D5-3674-FC058B44CA6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A4AD84C-7188-0CE7-111D-C9CF36402A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5B2CA5-EC7C-6B30-ACD0-E4B643392EF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745433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2D6490-8E1F-69E7-702F-F4372EC6D25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7DAFB00-9AB2-3D68-51B2-7D1B2A0C70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B22EEC-3C2C-D5E6-A7B3-2B70C518560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6CA8357-A8E1-A56E-149D-CF160E5D46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B41E16-54EA-DCFE-BF7D-132E638AA8EC}"/>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17268512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ED0A1F-9E4C-38C1-44CA-48217A66F7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216B99A-F1D9-CB5E-4D08-7510DF44E6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1F839A-2152-2ECB-945F-95467AFFCD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67E9B569-C635-225A-B150-FE60A93E28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0775CAD-A5B8-6445-8F32-863594860E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F91314-2232-4618-AEA5-B75A9D4CAB9F}" type="slidenum">
              <a:rPr lang="en-US" smtClean="0"/>
              <a:t>‹#›</a:t>
            </a:fld>
            <a:endParaRPr lang="en-US"/>
          </a:p>
        </p:txBody>
      </p:sp>
    </p:spTree>
    <p:extLst>
      <p:ext uri="{BB962C8B-B14F-4D97-AF65-F5344CB8AC3E}">
        <p14:creationId xmlns:p14="http://schemas.microsoft.com/office/powerpoint/2010/main" val="38120875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BF02AAA-38C2-C2B4-9DCF-0D7B36943E42}"/>
              </a:ext>
            </a:extLst>
          </p:cNvPr>
          <p:cNvSpPr txBox="1"/>
          <p:nvPr/>
        </p:nvSpPr>
        <p:spPr>
          <a:xfrm>
            <a:off x="2304875" y="2659559"/>
            <a:ext cx="7582250" cy="769441"/>
          </a:xfrm>
          <a:prstGeom prst="rect">
            <a:avLst/>
          </a:prstGeom>
          <a:noFill/>
        </p:spPr>
        <p:txBody>
          <a:bodyPr wrap="square" rtlCol="0">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Data Science Fundamentals</a:t>
            </a:r>
          </a:p>
        </p:txBody>
      </p:sp>
      <p:sp>
        <p:nvSpPr>
          <p:cNvPr id="7" name="TextBox 6">
            <a:extLst>
              <a:ext uri="{FF2B5EF4-FFF2-40B4-BE49-F238E27FC236}">
                <a16:creationId xmlns:a16="http://schemas.microsoft.com/office/drawing/2014/main" id="{4762BF6F-6CEA-5E18-D886-19C6FCE8C811}"/>
              </a:ext>
            </a:extLst>
          </p:cNvPr>
          <p:cNvSpPr txBox="1"/>
          <p:nvPr/>
        </p:nvSpPr>
        <p:spPr>
          <a:xfrm>
            <a:off x="4169328" y="3429000"/>
            <a:ext cx="3371564" cy="369332"/>
          </a:xfrm>
          <a:prstGeom prst="rect">
            <a:avLst/>
          </a:prstGeom>
          <a:noFill/>
        </p:spPr>
        <p:txBody>
          <a:bodyPr wrap="none" rtlCol="0">
            <a:spAutoFit/>
          </a:bodyPr>
          <a:lstStyle/>
          <a:p>
            <a:pPr algn="ctr"/>
            <a:r>
              <a:rPr lang="en-US" b="1" i="1" dirty="0"/>
              <a:t>Shahriar’s Analytical Academy</a:t>
            </a:r>
          </a:p>
        </p:txBody>
      </p:sp>
    </p:spTree>
    <p:extLst>
      <p:ext uri="{BB962C8B-B14F-4D97-AF65-F5344CB8AC3E}">
        <p14:creationId xmlns:p14="http://schemas.microsoft.com/office/powerpoint/2010/main" val="1574655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a:extLst>
              <a:ext uri="{FF2B5EF4-FFF2-40B4-BE49-F238E27FC236}">
                <a16:creationId xmlns:a16="http://schemas.microsoft.com/office/drawing/2014/main" id="{A25EC6E4-F041-FCDE-2CCB-5AFD3940F25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166"/>
          <a:stretch/>
        </p:blipFill>
        <p:spPr bwMode="auto">
          <a:xfrm>
            <a:off x="2190438" y="746728"/>
            <a:ext cx="11610898" cy="567605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A95A72AE-332B-E7E8-C028-30566EAFE927}"/>
              </a:ext>
            </a:extLst>
          </p:cNvPr>
          <p:cNvSpPr/>
          <p:nvPr/>
        </p:nvSpPr>
        <p:spPr>
          <a:xfrm>
            <a:off x="0" y="0"/>
            <a:ext cx="3296873"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b="1" dirty="0">
                <a:solidFill>
                  <a:schemeClr val="bg1"/>
                </a:solidFill>
              </a:rPr>
              <a:t>Mathematics for Data Science</a:t>
            </a:r>
          </a:p>
        </p:txBody>
      </p:sp>
    </p:spTree>
    <p:extLst>
      <p:ext uri="{BB962C8B-B14F-4D97-AF65-F5344CB8AC3E}">
        <p14:creationId xmlns:p14="http://schemas.microsoft.com/office/powerpoint/2010/main" val="6914138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a:extLst>
              <a:ext uri="{FF2B5EF4-FFF2-40B4-BE49-F238E27FC236}">
                <a16:creationId xmlns:a16="http://schemas.microsoft.com/office/drawing/2014/main" id="{0933E560-82AB-2DC3-B1EF-BE0B26BAAC8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5054" b="8071"/>
          <a:stretch/>
        </p:blipFill>
        <p:spPr bwMode="auto">
          <a:xfrm>
            <a:off x="3296873" y="377396"/>
            <a:ext cx="8698596" cy="580764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1752177E-E98C-1A5C-347C-F203AC4C3176}"/>
              </a:ext>
            </a:extLst>
          </p:cNvPr>
          <p:cNvSpPr/>
          <p:nvPr/>
        </p:nvSpPr>
        <p:spPr>
          <a:xfrm>
            <a:off x="0" y="0"/>
            <a:ext cx="3296873"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b="1" dirty="0">
                <a:solidFill>
                  <a:schemeClr val="bg1"/>
                </a:solidFill>
              </a:rPr>
              <a:t>Programming Languages &amp; Tools</a:t>
            </a:r>
          </a:p>
        </p:txBody>
      </p:sp>
    </p:spTree>
    <p:extLst>
      <p:ext uri="{BB962C8B-B14F-4D97-AF65-F5344CB8AC3E}">
        <p14:creationId xmlns:p14="http://schemas.microsoft.com/office/powerpoint/2010/main" val="42515560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a:extLst>
              <a:ext uri="{FF2B5EF4-FFF2-40B4-BE49-F238E27FC236}">
                <a16:creationId xmlns:a16="http://schemas.microsoft.com/office/drawing/2014/main" id="{9CDFAAC9-D7D9-2AD9-A00C-E364603E44A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8838" b="11560"/>
          <a:stretch/>
        </p:blipFill>
        <p:spPr bwMode="auto">
          <a:xfrm>
            <a:off x="1337188" y="981288"/>
            <a:ext cx="9109409" cy="5790784"/>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8F58928F-E38E-4602-D5B1-47AEB05A1C67}"/>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None/>
            </a:pPr>
            <a:r>
              <a:rPr lang="en-US" b="1" dirty="0">
                <a:solidFill>
                  <a:schemeClr val="bg1"/>
                </a:solidFill>
              </a:rPr>
              <a:t>Data Manipulation &amp; Cleaning</a:t>
            </a:r>
          </a:p>
        </p:txBody>
      </p:sp>
    </p:spTree>
    <p:extLst>
      <p:ext uri="{BB962C8B-B14F-4D97-AF65-F5344CB8AC3E}">
        <p14:creationId xmlns:p14="http://schemas.microsoft.com/office/powerpoint/2010/main" val="13543033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2" name="Picture 6">
            <a:extLst>
              <a:ext uri="{FF2B5EF4-FFF2-40B4-BE49-F238E27FC236}">
                <a16:creationId xmlns:a16="http://schemas.microsoft.com/office/drawing/2014/main" id="{BA4B9624-BAD2-F44C-EC6B-A567BE11717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2724" b="19695"/>
          <a:stretch/>
        </p:blipFill>
        <p:spPr bwMode="auto">
          <a:xfrm>
            <a:off x="803428" y="973230"/>
            <a:ext cx="10585143" cy="548220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5868049C-BAAE-E2F8-3C4A-397290B1708C}"/>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None/>
            </a:pPr>
            <a:r>
              <a:rPr lang="en-US" b="1" dirty="0">
                <a:solidFill>
                  <a:schemeClr val="bg1"/>
                </a:solidFill>
              </a:rPr>
              <a:t>Machine Learning Models</a:t>
            </a:r>
          </a:p>
        </p:txBody>
      </p:sp>
    </p:spTree>
    <p:extLst>
      <p:ext uri="{BB962C8B-B14F-4D97-AF65-F5344CB8AC3E}">
        <p14:creationId xmlns:p14="http://schemas.microsoft.com/office/powerpoint/2010/main" val="42145768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6" name="Picture 6">
            <a:extLst>
              <a:ext uri="{FF2B5EF4-FFF2-40B4-BE49-F238E27FC236}">
                <a16:creationId xmlns:a16="http://schemas.microsoft.com/office/drawing/2014/main" id="{225EA97F-744F-0459-74E7-89B3F441959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422"/>
          <a:stretch/>
        </p:blipFill>
        <p:spPr bwMode="auto">
          <a:xfrm>
            <a:off x="1230298" y="1602296"/>
            <a:ext cx="9507610" cy="443288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DF63CDCA-971C-05A5-BE8C-2493052859D9}"/>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b="1" dirty="0">
                <a:solidFill>
                  <a:schemeClr val="bg1"/>
                </a:solidFill>
              </a:rPr>
              <a:t>Data Visualization for Communication</a:t>
            </a:r>
          </a:p>
        </p:txBody>
      </p:sp>
    </p:spTree>
    <p:extLst>
      <p:ext uri="{BB962C8B-B14F-4D97-AF65-F5344CB8AC3E}">
        <p14:creationId xmlns:p14="http://schemas.microsoft.com/office/powerpoint/2010/main" val="6826941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64" name="Picture 20">
            <a:extLst>
              <a:ext uri="{FF2B5EF4-FFF2-40B4-BE49-F238E27FC236}">
                <a16:creationId xmlns:a16="http://schemas.microsoft.com/office/drawing/2014/main" id="{2B2F1AD6-7767-3E35-EF0A-B017DC9CDDF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3260"/>
          <a:stretch/>
        </p:blipFill>
        <p:spPr bwMode="auto">
          <a:xfrm>
            <a:off x="1250221" y="2045690"/>
            <a:ext cx="10085661" cy="379304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F56F2587-29E2-EE48-05C8-ABBF42B2C52A}"/>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b="1" dirty="0">
                <a:solidFill>
                  <a:schemeClr val="bg1"/>
                </a:solidFill>
              </a:rPr>
              <a:t>Problem-Solving and Analytical Thinking</a:t>
            </a:r>
          </a:p>
        </p:txBody>
      </p:sp>
    </p:spTree>
    <p:extLst>
      <p:ext uri="{BB962C8B-B14F-4D97-AF65-F5344CB8AC3E}">
        <p14:creationId xmlns:p14="http://schemas.microsoft.com/office/powerpoint/2010/main" val="20483005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2" name="Picture 4">
            <a:extLst>
              <a:ext uri="{FF2B5EF4-FFF2-40B4-BE49-F238E27FC236}">
                <a16:creationId xmlns:a16="http://schemas.microsoft.com/office/drawing/2014/main" id="{A8168947-5FD2-63FA-5A6E-9EB0B933434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1615"/>
          <a:stretch/>
        </p:blipFill>
        <p:spPr bwMode="auto">
          <a:xfrm>
            <a:off x="1011856" y="936781"/>
            <a:ext cx="10168287" cy="5921219"/>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CECC1934-E3DC-047E-9DBC-22B77CB4072F}"/>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None/>
            </a:pPr>
            <a:r>
              <a:rPr lang="en-US" b="1" dirty="0">
                <a:solidFill>
                  <a:schemeClr val="bg1"/>
                </a:solidFill>
              </a:rPr>
              <a:t>5 key learning points of this lesson</a:t>
            </a:r>
          </a:p>
        </p:txBody>
      </p:sp>
    </p:spTree>
    <p:extLst>
      <p:ext uri="{BB962C8B-B14F-4D97-AF65-F5344CB8AC3E}">
        <p14:creationId xmlns:p14="http://schemas.microsoft.com/office/powerpoint/2010/main" val="5654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E35F3-AF15-A4B9-2640-A131227CD69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61753B1-A369-1F9E-C78D-93AA81EAC8D2}"/>
              </a:ext>
            </a:extLst>
          </p:cNvPr>
          <p:cNvSpPr txBox="1"/>
          <p:nvPr/>
        </p:nvSpPr>
        <p:spPr>
          <a:xfrm>
            <a:off x="2915174" y="2659559"/>
            <a:ext cx="6361652" cy="769441"/>
          </a:xfrm>
          <a:prstGeom prst="rect">
            <a:avLst/>
          </a:prstGeom>
          <a:noFill/>
        </p:spPr>
        <p:txBody>
          <a:bodyPr wrap="square" rtlCol="0">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Thank You!</a:t>
            </a:r>
          </a:p>
        </p:txBody>
      </p:sp>
      <p:sp>
        <p:nvSpPr>
          <p:cNvPr id="7" name="TextBox 6">
            <a:extLst>
              <a:ext uri="{FF2B5EF4-FFF2-40B4-BE49-F238E27FC236}">
                <a16:creationId xmlns:a16="http://schemas.microsoft.com/office/drawing/2014/main" id="{907FA6A3-9FF9-C077-B91B-4AE0187EC665}"/>
              </a:ext>
            </a:extLst>
          </p:cNvPr>
          <p:cNvSpPr txBox="1"/>
          <p:nvPr/>
        </p:nvSpPr>
        <p:spPr>
          <a:xfrm>
            <a:off x="4410218" y="3429000"/>
            <a:ext cx="3371564" cy="369332"/>
          </a:xfrm>
          <a:prstGeom prst="rect">
            <a:avLst/>
          </a:prstGeom>
          <a:noFill/>
        </p:spPr>
        <p:txBody>
          <a:bodyPr wrap="none" rtlCol="0">
            <a:spAutoFit/>
          </a:bodyPr>
          <a:lstStyle/>
          <a:p>
            <a:r>
              <a:rPr lang="en-US" b="1" i="1" dirty="0"/>
              <a:t>Shahriar’s Analytical Academy</a:t>
            </a:r>
          </a:p>
        </p:txBody>
      </p:sp>
    </p:spTree>
    <p:extLst>
      <p:ext uri="{BB962C8B-B14F-4D97-AF65-F5344CB8AC3E}">
        <p14:creationId xmlns:p14="http://schemas.microsoft.com/office/powerpoint/2010/main" val="20046583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173</TotalTime>
  <Words>1584</Words>
  <Application>Microsoft Office PowerPoint</Application>
  <PresentationFormat>Widescreen</PresentationFormat>
  <Paragraphs>46</Paragraphs>
  <Slides>9</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Shahriar</dc:creator>
  <cp:lastModifiedBy>Md Shahriar</cp:lastModifiedBy>
  <cp:revision>4</cp:revision>
  <dcterms:created xsi:type="dcterms:W3CDTF">2025-03-28T13:19:12Z</dcterms:created>
  <dcterms:modified xsi:type="dcterms:W3CDTF">2025-03-29T10:22:44Z</dcterms:modified>
</cp:coreProperties>
</file>