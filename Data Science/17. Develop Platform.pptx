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65" r:id="rId4"/>
    <p:sldId id="266" r:id="rId5"/>
    <p:sldId id="268"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4972" autoAdjust="0"/>
  </p:normalViewPr>
  <p:slideViewPr>
    <p:cSldViewPr snapToGrid="0">
      <p:cViewPr varScale="1">
        <p:scale>
          <a:sx n="81" d="100"/>
          <a:sy n="81" d="100"/>
        </p:scale>
        <p:origin x="70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5/3/2025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err="1"/>
              <a:t>Jupyter</a:t>
            </a:r>
            <a:r>
              <a:rPr lang="en-US" dirty="0"/>
              <a:t> Notebook is an open-source, interactive web-based application used for creating and sharing documents. These documents can contain live code, equations, visualizations, and narrative text. It's widely popular among data scientists, researchers, and educators. It supports various programming languages, including Python, R, and Julia, making it versatile for many applications.</a:t>
            </a:r>
          </a:p>
          <a:p>
            <a:pPr>
              <a:buNone/>
            </a:pPr>
            <a:r>
              <a:rPr lang="en-US" b="1" dirty="0"/>
              <a:t>When to Use It?</a:t>
            </a:r>
            <a:br>
              <a:rPr lang="en-US" dirty="0"/>
            </a:br>
            <a:r>
              <a:rPr lang="en-US" dirty="0" err="1"/>
              <a:t>Jupyter</a:t>
            </a:r>
            <a:r>
              <a:rPr lang="en-US" dirty="0"/>
              <a:t> Notebook is ideal for interactive data analysis, scientific computing, and machine learning projects. It's great for when you need to run code step by step, make quick adjustments, and visualize results in real-time. It's also excellent for tutorials, data exploration, and sharing research findings in an interactive format.</a:t>
            </a:r>
          </a:p>
          <a:p>
            <a:pPr>
              <a:buNone/>
            </a:pPr>
            <a:r>
              <a:rPr lang="en-US" b="1" dirty="0"/>
              <a:t>Advantages:</a:t>
            </a:r>
            <a:endParaRPr lang="en-US" dirty="0"/>
          </a:p>
          <a:p>
            <a:pPr>
              <a:buFont typeface="Arial" panose="020B0604020202020204" pitchFamily="34" charset="0"/>
              <a:buChar char="•"/>
            </a:pPr>
            <a:r>
              <a:rPr lang="en-US" b="1" dirty="0"/>
              <a:t>Interactive Environment:</a:t>
            </a:r>
            <a:r>
              <a:rPr lang="en-US" dirty="0"/>
              <a:t> </a:t>
            </a:r>
            <a:r>
              <a:rPr lang="en-US" dirty="0" err="1"/>
              <a:t>Jupyter</a:t>
            </a:r>
            <a:r>
              <a:rPr lang="en-US" dirty="0"/>
              <a:t> allows running code in segments (cells), so you can view results instantly without running the entire script. This is extremely useful for debugging and experimenting.</a:t>
            </a:r>
          </a:p>
          <a:p>
            <a:pPr>
              <a:buFont typeface="Arial" panose="020B0604020202020204" pitchFamily="34" charset="0"/>
              <a:buChar char="•"/>
            </a:pPr>
            <a:r>
              <a:rPr lang="en-US" b="1" dirty="0"/>
              <a:t>Rich Visualization:</a:t>
            </a:r>
            <a:r>
              <a:rPr lang="en-US" dirty="0"/>
              <a:t> It integrates well with visualization libraries like Matplotlib, Seaborn, and </a:t>
            </a:r>
            <a:r>
              <a:rPr lang="en-US" dirty="0" err="1"/>
              <a:t>Plotly</a:t>
            </a:r>
            <a:r>
              <a:rPr lang="en-US" dirty="0"/>
              <a:t>, allowing users to create graphs and visual representations of their data.</a:t>
            </a:r>
          </a:p>
          <a:p>
            <a:pPr>
              <a:buFont typeface="Arial" panose="020B0604020202020204" pitchFamily="34" charset="0"/>
              <a:buChar char="•"/>
            </a:pPr>
            <a:r>
              <a:rPr lang="en-US" b="1" dirty="0"/>
              <a:t>Documentation:</a:t>
            </a:r>
            <a:r>
              <a:rPr lang="en-US" dirty="0"/>
              <a:t> You can mix code, text, and visualizations all in one document. This makes it easy to document the process and explain your findings, which is helpful for both learning and collaboration.</a:t>
            </a:r>
          </a:p>
          <a:p>
            <a:pPr>
              <a:buFont typeface="Arial" panose="020B0604020202020204" pitchFamily="34" charset="0"/>
              <a:buChar char="•"/>
            </a:pPr>
            <a:r>
              <a:rPr lang="en-US" b="1" dirty="0"/>
              <a:t>Widely Supported:</a:t>
            </a:r>
            <a:r>
              <a:rPr lang="en-US" dirty="0"/>
              <a:t> Since </a:t>
            </a:r>
            <a:r>
              <a:rPr lang="en-US" dirty="0" err="1"/>
              <a:t>Jupyter</a:t>
            </a:r>
            <a:r>
              <a:rPr lang="en-US" dirty="0"/>
              <a:t> is widely used, it has a large community, which means plenty of resources and support for users.</a:t>
            </a:r>
          </a:p>
          <a:p>
            <a:pPr>
              <a:buNone/>
            </a:pPr>
            <a:r>
              <a:rPr lang="en-US" b="1" dirty="0"/>
              <a:t>Disadvantages:</a:t>
            </a:r>
            <a:endParaRPr lang="en-US" dirty="0"/>
          </a:p>
          <a:p>
            <a:pPr>
              <a:buFont typeface="Arial" panose="020B0604020202020204" pitchFamily="34" charset="0"/>
              <a:buChar char="•"/>
            </a:pPr>
            <a:r>
              <a:rPr lang="en-US" b="1" dirty="0"/>
              <a:t>Performance Issues:</a:t>
            </a:r>
            <a:r>
              <a:rPr lang="en-US" dirty="0"/>
              <a:t> As the dataset grows, </a:t>
            </a:r>
            <a:r>
              <a:rPr lang="en-US" dirty="0" err="1"/>
              <a:t>Jupyter</a:t>
            </a:r>
            <a:r>
              <a:rPr lang="en-US" dirty="0"/>
              <a:t> can become slower, especially when dealing with large-scale computations or big data.</a:t>
            </a:r>
          </a:p>
          <a:p>
            <a:pPr>
              <a:buFont typeface="Arial" panose="020B0604020202020204" pitchFamily="34" charset="0"/>
              <a:buChar char="•"/>
            </a:pPr>
            <a:r>
              <a:rPr lang="en-US" b="1" dirty="0"/>
              <a:t>Version Control:</a:t>
            </a:r>
            <a:r>
              <a:rPr lang="en-US" dirty="0"/>
              <a:t> Managing a large codebase with many team members can be difficult. </a:t>
            </a:r>
            <a:r>
              <a:rPr lang="en-US" dirty="0" err="1"/>
              <a:t>Jupyter</a:t>
            </a:r>
            <a:r>
              <a:rPr lang="en-US" dirty="0"/>
              <a:t> notebooks are not the best when it comes to version control, as they contain a mix of code, outputs, and text.</a:t>
            </a:r>
          </a:p>
          <a:p>
            <a:pPr>
              <a:buFont typeface="Arial" panose="020B0604020202020204" pitchFamily="34" charset="0"/>
              <a:buChar char="•"/>
            </a:pPr>
            <a:r>
              <a:rPr lang="en-US" b="1" dirty="0"/>
              <a:t>Limited Integration:</a:t>
            </a:r>
            <a:r>
              <a:rPr lang="en-US" dirty="0"/>
              <a:t> Some advanced integrations with certain libraries or tools might not work as smoothly compared to traditional IDEs (Integrated Development Environments), making it less suitable for certain complex projects.</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926A5-A240-D9F6-E17F-9D3B04914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EF9ED-A98D-E48F-6179-1D6530986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305E8-6EC9-1EBE-E700-526024099A5C}"/>
              </a:ext>
            </a:extLst>
          </p:cNvPr>
          <p:cNvSpPr>
            <a:spLocks noGrp="1"/>
          </p:cNvSpPr>
          <p:nvPr>
            <p:ph type="body" idx="1"/>
          </p:nvPr>
        </p:nvSpPr>
        <p:spPr/>
        <p:txBody>
          <a:bodyPr/>
          <a:lstStyle/>
          <a:p>
            <a:pPr>
              <a:buNone/>
            </a:pPr>
            <a:r>
              <a:rPr lang="en-US" dirty="0"/>
              <a:t>Anaconda is a free, open-source distribution of Python and R designed for scientific computing, data science, and machine learning. It comes with a package manager called Conda and a virtual environment manager to simplify dependency management and package installations. It’s a comprehensive platform that makes it easier to work with different data science libraries.</a:t>
            </a:r>
          </a:p>
          <a:p>
            <a:pPr>
              <a:buNone/>
            </a:pPr>
            <a:r>
              <a:rPr lang="en-US" b="1" dirty="0"/>
              <a:t>When to Use It?</a:t>
            </a:r>
            <a:br>
              <a:rPr lang="en-US" dirty="0"/>
            </a:br>
            <a:r>
              <a:rPr lang="en-US" dirty="0"/>
              <a:t>Anaconda is best used when you need to create isolated environments for different projects, each with its own set of dependencies. It’s especially useful in data science and machine learning, where managing multiple libraries and packages can get tricky. It's also perfect for avoiding compatibility issues between packages and ensuring that each project is self-contained.</a:t>
            </a:r>
          </a:p>
          <a:p>
            <a:pPr>
              <a:buNone/>
            </a:pPr>
            <a:r>
              <a:rPr lang="en-US" b="1" dirty="0"/>
              <a:t>Advantages:</a:t>
            </a:r>
            <a:endParaRPr lang="en-US" dirty="0"/>
          </a:p>
          <a:p>
            <a:pPr>
              <a:buFont typeface="Arial" panose="020B0604020202020204" pitchFamily="34" charset="0"/>
              <a:buChar char="•"/>
            </a:pPr>
            <a:r>
              <a:rPr lang="en-US" b="1" dirty="0"/>
              <a:t>Easy Package Management:</a:t>
            </a:r>
            <a:r>
              <a:rPr lang="en-US" dirty="0"/>
              <a:t> Conda simplifies installing and managing libraries, making the setup process much easier than traditional methods.</a:t>
            </a:r>
          </a:p>
          <a:p>
            <a:pPr>
              <a:buFont typeface="Arial" panose="020B0604020202020204" pitchFamily="34" charset="0"/>
              <a:buChar char="•"/>
            </a:pPr>
            <a:r>
              <a:rPr lang="en-US" b="1" dirty="0"/>
              <a:t>Pre-installed Libraries:</a:t>
            </a:r>
            <a:r>
              <a:rPr lang="en-US" dirty="0"/>
              <a:t> Anaconda comes with most of the popular data science libraries, like Pandas, NumPy, SciPy, TensorFlow, and Matplotlib, already installed.</a:t>
            </a:r>
          </a:p>
          <a:p>
            <a:pPr>
              <a:buFont typeface="Arial" panose="020B0604020202020204" pitchFamily="34" charset="0"/>
              <a:buChar char="•"/>
            </a:pPr>
            <a:r>
              <a:rPr lang="en-US" b="1" dirty="0"/>
              <a:t>Multiple Environments:</a:t>
            </a:r>
            <a:r>
              <a:rPr lang="en-US" dirty="0"/>
              <a:t> You can create and manage multiple environments, ensuring that dependencies for different projects do not interfere with each other.</a:t>
            </a:r>
          </a:p>
          <a:p>
            <a:pPr>
              <a:buFont typeface="Arial" panose="020B0604020202020204" pitchFamily="34" charset="0"/>
              <a:buChar char="•"/>
            </a:pPr>
            <a:r>
              <a:rPr lang="en-US" b="1" dirty="0"/>
              <a:t>Cross-Platform Support:</a:t>
            </a:r>
            <a:r>
              <a:rPr lang="en-US" dirty="0"/>
              <a:t> Anaconda is available on Windows, macOS, and Linux, ensuring compatibility across different operating systems.</a:t>
            </a:r>
          </a:p>
          <a:p>
            <a:pPr>
              <a:buNone/>
            </a:pPr>
            <a:r>
              <a:rPr lang="en-US" b="1" dirty="0"/>
              <a:t>Disadvantages:</a:t>
            </a:r>
            <a:endParaRPr lang="en-US" dirty="0"/>
          </a:p>
          <a:p>
            <a:pPr>
              <a:buFont typeface="Arial" panose="020B0604020202020204" pitchFamily="34" charset="0"/>
              <a:buChar char="•"/>
            </a:pPr>
            <a:r>
              <a:rPr lang="en-US" b="1" dirty="0"/>
              <a:t>Large Disk Space Usage:</a:t>
            </a:r>
            <a:r>
              <a:rPr lang="en-US" dirty="0"/>
              <a:t> Anaconda is known for being large in size, which can be inefficient if you're working on a small project or have limited disk space.</a:t>
            </a:r>
          </a:p>
          <a:p>
            <a:pPr>
              <a:buFont typeface="Arial" panose="020B0604020202020204" pitchFamily="34" charset="0"/>
              <a:buChar char="•"/>
            </a:pPr>
            <a:r>
              <a:rPr lang="en-US" b="1" dirty="0"/>
              <a:t>Dependency Conflicts:</a:t>
            </a:r>
            <a:r>
              <a:rPr lang="en-US" dirty="0"/>
              <a:t> Despite Conda’s package management, sometimes issues with library dependencies can still arise, especially when using libraries that don’t work well with Conda.</a:t>
            </a:r>
          </a:p>
          <a:p>
            <a:pPr>
              <a:buFont typeface="Arial" panose="020B0604020202020204" pitchFamily="34" charset="0"/>
              <a:buChar char="•"/>
            </a:pPr>
            <a:r>
              <a:rPr lang="en-US" b="1" dirty="0"/>
              <a:t>Not Lightweight:</a:t>
            </a:r>
            <a:r>
              <a:rPr lang="en-US" dirty="0"/>
              <a:t> Anaconda is designed for data science, so for smaller or simpler projects, it may feel bulky and cumbersome.</a:t>
            </a:r>
          </a:p>
        </p:txBody>
      </p:sp>
      <p:sp>
        <p:nvSpPr>
          <p:cNvPr id="4" name="Slide Number Placeholder 3">
            <a:extLst>
              <a:ext uri="{FF2B5EF4-FFF2-40B4-BE49-F238E27FC236}">
                <a16:creationId xmlns:a16="http://schemas.microsoft.com/office/drawing/2014/main" id="{E17FE9F6-475E-AFBD-9B10-75A1DB73AC4C}"/>
              </a:ext>
            </a:extLst>
          </p:cNvPr>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53658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86EEB-6021-C301-BD7C-DE1EEFA39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F9E4C-99B5-98D1-9A2B-B346EAD990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D3C275-9C44-7EE1-BF09-3CA5A2F1970B}"/>
              </a:ext>
            </a:extLst>
          </p:cNvPr>
          <p:cNvSpPr>
            <a:spLocks noGrp="1"/>
          </p:cNvSpPr>
          <p:nvPr>
            <p:ph type="body" idx="1"/>
          </p:nvPr>
        </p:nvSpPr>
        <p:spPr/>
        <p:txBody>
          <a:bodyPr/>
          <a:lstStyle/>
          <a:p>
            <a:pPr>
              <a:buNone/>
            </a:pPr>
            <a:r>
              <a:rPr lang="en-US" dirty="0"/>
              <a:t>Microsoft Azure is a comprehensive cloud computing platform offering services like computing, analytics, storage, and networking. It's a highly scalable platform that allows users to build, deploy, and manage applications through a network of Microsoft-managed data centers. Azure is widely used for enterprise-level applications, data storage, and big data analytics.</a:t>
            </a:r>
          </a:p>
          <a:p>
            <a:pPr>
              <a:buNone/>
            </a:pPr>
            <a:r>
              <a:rPr lang="en-US" b="1" dirty="0"/>
              <a:t>When to Use It?</a:t>
            </a:r>
            <a:br>
              <a:rPr lang="en-US" dirty="0"/>
            </a:br>
            <a:r>
              <a:rPr lang="en-US" dirty="0"/>
              <a:t>Azure is ideal when you need to scale your applications and access advanced cloud services. It's especially useful for businesses looking for secure infrastructure to host applications, store data, and perform complex computations. Azure is also commonly used for deploying enterprise applications and managing big data.</a:t>
            </a:r>
          </a:p>
          <a:p>
            <a:pPr>
              <a:buNone/>
            </a:pPr>
            <a:r>
              <a:rPr lang="en-US" b="1" dirty="0"/>
              <a:t>Advantages:</a:t>
            </a:r>
            <a:endParaRPr lang="en-US" dirty="0"/>
          </a:p>
          <a:p>
            <a:pPr>
              <a:buFont typeface="Arial" panose="020B0604020202020204" pitchFamily="34" charset="0"/>
              <a:buChar char="•"/>
            </a:pPr>
            <a:r>
              <a:rPr lang="en-US" b="1" dirty="0"/>
              <a:t>Scalable:</a:t>
            </a:r>
            <a:r>
              <a:rPr lang="en-US" dirty="0"/>
              <a:t> Azure offers flexible scalability, so you can adjust resources based on the needs of your application or business.</a:t>
            </a:r>
          </a:p>
          <a:p>
            <a:pPr>
              <a:buFont typeface="Arial" panose="020B0604020202020204" pitchFamily="34" charset="0"/>
              <a:buChar char="•"/>
            </a:pPr>
            <a:r>
              <a:rPr lang="en-US" b="1" dirty="0"/>
              <a:t>Integration with Microsoft Products:</a:t>
            </a:r>
            <a:r>
              <a:rPr lang="en-US" dirty="0"/>
              <a:t> It integrates well with other Microsoft tools like Office 365, Dynamics 365, and SQL Server, making it a good choice for businesses already using Microsoft products.</a:t>
            </a:r>
          </a:p>
          <a:p>
            <a:pPr>
              <a:buFont typeface="Arial" panose="020B0604020202020204" pitchFamily="34" charset="0"/>
              <a:buChar char="•"/>
            </a:pPr>
            <a:r>
              <a:rPr lang="en-US" b="1" dirty="0"/>
              <a:t>Security:</a:t>
            </a:r>
            <a:r>
              <a:rPr lang="en-US" dirty="0"/>
              <a:t> Azure offers robust security features, such as encryption, firewalls, and advanced access management systems to ensure data safety.</a:t>
            </a:r>
          </a:p>
          <a:p>
            <a:pPr>
              <a:buFont typeface="Arial" panose="020B0604020202020204" pitchFamily="34" charset="0"/>
              <a:buChar char="•"/>
            </a:pPr>
            <a:r>
              <a:rPr lang="en-US" b="1" dirty="0"/>
              <a:t>Global Reach:</a:t>
            </a:r>
            <a:r>
              <a:rPr lang="en-US" dirty="0"/>
              <a:t> Azure has data centers all over the world, ensuring high availability and low latency.</a:t>
            </a:r>
          </a:p>
          <a:p>
            <a:pPr>
              <a:buNone/>
            </a:pPr>
            <a:r>
              <a:rPr lang="en-US" b="1" dirty="0"/>
              <a:t>Disadvantages:</a:t>
            </a:r>
            <a:endParaRPr lang="en-US" dirty="0"/>
          </a:p>
          <a:p>
            <a:pPr>
              <a:buFont typeface="Arial" panose="020B0604020202020204" pitchFamily="34" charset="0"/>
              <a:buChar char="•"/>
            </a:pPr>
            <a:r>
              <a:rPr lang="en-US" b="1" dirty="0"/>
              <a:t>Complex Pricing Model:</a:t>
            </a:r>
            <a:r>
              <a:rPr lang="en-US" dirty="0"/>
              <a:t> The pricing structure can be difficult to understand and predict, especially for businesses with fluctuating usage needs.</a:t>
            </a:r>
          </a:p>
          <a:p>
            <a:pPr>
              <a:buFont typeface="Arial" panose="020B0604020202020204" pitchFamily="34" charset="0"/>
              <a:buChar char="•"/>
            </a:pPr>
            <a:r>
              <a:rPr lang="en-US" b="1" dirty="0"/>
              <a:t>Learning Curve:</a:t>
            </a:r>
            <a:r>
              <a:rPr lang="en-US" dirty="0"/>
              <a:t> Due to the vast number of services and configurations, it can be overwhelming for beginners or users without a cloud computing background.</a:t>
            </a:r>
          </a:p>
          <a:p>
            <a:pPr>
              <a:buFont typeface="Arial" panose="020B0604020202020204" pitchFamily="34" charset="0"/>
              <a:buChar char="•"/>
            </a:pPr>
            <a:r>
              <a:rPr lang="en-US" b="1" dirty="0"/>
              <a:t>Dependence on Internet Connection:</a:t>
            </a:r>
            <a:r>
              <a:rPr lang="en-US" dirty="0"/>
              <a:t> As a cloud platform, you need a stable internet connection to access your resources. Without it, Azure services won’t be available.</a:t>
            </a:r>
          </a:p>
        </p:txBody>
      </p:sp>
      <p:sp>
        <p:nvSpPr>
          <p:cNvPr id="4" name="Slide Number Placeholder 3">
            <a:extLst>
              <a:ext uri="{FF2B5EF4-FFF2-40B4-BE49-F238E27FC236}">
                <a16:creationId xmlns:a16="http://schemas.microsoft.com/office/drawing/2014/main" id="{6BC44F79-C9FD-4A0E-EA6D-586037D7D60B}"/>
              </a:ext>
            </a:extLst>
          </p:cNvPr>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1913130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4136A-879D-4CBD-6F3A-0B5A1B813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C2443-A4FD-C74A-79A9-9B2E50682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13C4D-73D5-6721-834E-CA1C84F445B7}"/>
              </a:ext>
            </a:extLst>
          </p:cNvPr>
          <p:cNvSpPr>
            <a:spLocks noGrp="1"/>
          </p:cNvSpPr>
          <p:nvPr>
            <p:ph type="body" idx="1"/>
          </p:nvPr>
        </p:nvSpPr>
        <p:spPr/>
        <p:txBody>
          <a:bodyPr/>
          <a:lstStyle/>
          <a:p>
            <a:pPr>
              <a:buNone/>
            </a:pPr>
            <a:r>
              <a:rPr lang="en-US" dirty="0"/>
              <a:t>Google </a:t>
            </a:r>
            <a:r>
              <a:rPr lang="en-US" dirty="0" err="1"/>
              <a:t>Colab</a:t>
            </a:r>
            <a:r>
              <a:rPr lang="en-US" dirty="0"/>
              <a:t> is a free cloud-based platform for Python programming that provides GPU/TPU support for faster computation. It is essentially a </a:t>
            </a:r>
            <a:r>
              <a:rPr lang="en-US" dirty="0" err="1"/>
              <a:t>Jupyter</a:t>
            </a:r>
            <a:r>
              <a:rPr lang="en-US" dirty="0"/>
              <a:t> Notebook environment hosted by Google, which means you can write and execute Python code in a browser without needing to install anything on your local machine.</a:t>
            </a:r>
          </a:p>
          <a:p>
            <a:pPr>
              <a:buNone/>
            </a:pPr>
            <a:r>
              <a:rPr lang="en-US" b="1" dirty="0"/>
              <a:t>When to Use It?</a:t>
            </a:r>
            <a:br>
              <a:rPr lang="en-US" dirty="0"/>
            </a:br>
            <a:r>
              <a:rPr lang="en-US" dirty="0"/>
              <a:t>Google </a:t>
            </a:r>
            <a:r>
              <a:rPr lang="en-US" dirty="0" err="1"/>
              <a:t>Colab</a:t>
            </a:r>
            <a:r>
              <a:rPr lang="en-US" dirty="0"/>
              <a:t> is perfect for machine learning, deep learning, and data analysis tasks, especially when you need access to powerful hardware like GPUs or TPUs for free. It’s also great for running experiments or collaborating with others in a cloud-based environment.</a:t>
            </a:r>
          </a:p>
          <a:p>
            <a:pPr>
              <a:buNone/>
            </a:pPr>
            <a:r>
              <a:rPr lang="en-US" b="1" dirty="0"/>
              <a:t>Advantages:</a:t>
            </a:r>
            <a:endParaRPr lang="en-US" dirty="0"/>
          </a:p>
          <a:p>
            <a:pPr>
              <a:buFont typeface="Arial" panose="020B0604020202020204" pitchFamily="34" charset="0"/>
              <a:buChar char="•"/>
            </a:pPr>
            <a:r>
              <a:rPr lang="en-US" b="1" dirty="0"/>
              <a:t>Free Access to GPUs/TPUs:</a:t>
            </a:r>
            <a:r>
              <a:rPr lang="en-US" dirty="0"/>
              <a:t> Google </a:t>
            </a:r>
            <a:r>
              <a:rPr lang="en-US" dirty="0" err="1"/>
              <a:t>Colab</a:t>
            </a:r>
            <a:r>
              <a:rPr lang="en-US" dirty="0"/>
              <a:t> gives you free access to hardware accelerators like GPUs and TPUs, making it ideal for heavy computations.</a:t>
            </a:r>
          </a:p>
          <a:p>
            <a:pPr>
              <a:buFont typeface="Arial" panose="020B0604020202020204" pitchFamily="34" charset="0"/>
              <a:buChar char="•"/>
            </a:pPr>
            <a:r>
              <a:rPr lang="en-US" b="1" dirty="0"/>
              <a:t>Cloud-Based:</a:t>
            </a:r>
            <a:r>
              <a:rPr lang="en-US" dirty="0"/>
              <a:t> Since it runs directly in your browser, no installation or setup is needed. You can access your notebooks from any device.</a:t>
            </a:r>
          </a:p>
          <a:p>
            <a:pPr>
              <a:buFont typeface="Arial" panose="020B0604020202020204" pitchFamily="34" charset="0"/>
              <a:buChar char="•"/>
            </a:pPr>
            <a:r>
              <a:rPr lang="en-US" b="1" dirty="0"/>
              <a:t>Collaboration:</a:t>
            </a:r>
            <a:r>
              <a:rPr lang="en-US" dirty="0"/>
              <a:t> You can easily share your </a:t>
            </a:r>
            <a:r>
              <a:rPr lang="en-US" dirty="0" err="1"/>
              <a:t>Colab</a:t>
            </a:r>
            <a:r>
              <a:rPr lang="en-US" dirty="0"/>
              <a:t> notebooks with others, enabling real-time collaboration.</a:t>
            </a:r>
          </a:p>
          <a:p>
            <a:pPr>
              <a:buFont typeface="Arial" panose="020B0604020202020204" pitchFamily="34" charset="0"/>
              <a:buChar char="•"/>
            </a:pPr>
            <a:r>
              <a:rPr lang="en-US" b="1" dirty="0"/>
              <a:t>Integration with Google Drive:</a:t>
            </a:r>
            <a:r>
              <a:rPr lang="en-US" dirty="0"/>
              <a:t> </a:t>
            </a:r>
            <a:r>
              <a:rPr lang="en-US" dirty="0" err="1"/>
              <a:t>Colab</a:t>
            </a:r>
            <a:r>
              <a:rPr lang="en-US" dirty="0"/>
              <a:t> integrates with Google Drive, so you can easily store and access your notebooks.</a:t>
            </a:r>
          </a:p>
          <a:p>
            <a:pPr>
              <a:buNone/>
            </a:pPr>
            <a:r>
              <a:rPr lang="en-US" b="1" dirty="0"/>
              <a:t>Disadvantages:</a:t>
            </a:r>
            <a:endParaRPr lang="en-US" dirty="0"/>
          </a:p>
          <a:p>
            <a:pPr>
              <a:buFont typeface="Arial" panose="020B0604020202020204" pitchFamily="34" charset="0"/>
              <a:buChar char="•"/>
            </a:pPr>
            <a:r>
              <a:rPr lang="en-US" b="1" dirty="0"/>
              <a:t>Limited Resources:</a:t>
            </a:r>
            <a:r>
              <a:rPr lang="en-US" dirty="0"/>
              <a:t> The free version of </a:t>
            </a:r>
            <a:r>
              <a:rPr lang="en-US" dirty="0" err="1"/>
              <a:t>Colab</a:t>
            </a:r>
            <a:r>
              <a:rPr lang="en-US" dirty="0"/>
              <a:t> has limits on RAM and GPU/TPU usage, and your session might expire after a certain period of inactivity.</a:t>
            </a:r>
          </a:p>
          <a:p>
            <a:pPr>
              <a:buFont typeface="Arial" panose="020B0604020202020204" pitchFamily="34" charset="0"/>
              <a:buChar char="•"/>
            </a:pPr>
            <a:r>
              <a:rPr lang="en-US" b="1" dirty="0"/>
              <a:t>Lack of Customization:</a:t>
            </a:r>
            <a:r>
              <a:rPr lang="en-US" dirty="0"/>
              <a:t> Compared to local setups, </a:t>
            </a:r>
            <a:r>
              <a:rPr lang="en-US" dirty="0" err="1"/>
              <a:t>Colab</a:t>
            </a:r>
            <a:r>
              <a:rPr lang="en-US" dirty="0"/>
              <a:t> has some restrictions in terms of installing certain libraries or dependencies.</a:t>
            </a:r>
          </a:p>
          <a:p>
            <a:pPr>
              <a:buFont typeface="Arial" panose="020B0604020202020204" pitchFamily="34" charset="0"/>
              <a:buChar char="•"/>
            </a:pPr>
            <a:r>
              <a:rPr lang="en-US" b="1" dirty="0"/>
              <a:t>Privacy Concerns:</a:t>
            </a:r>
            <a:r>
              <a:rPr lang="en-US" dirty="0"/>
              <a:t> Since data is stored on Google’s servers, there may be concerns regarding the privacy and security of sensitive information.</a:t>
            </a:r>
          </a:p>
        </p:txBody>
      </p:sp>
      <p:sp>
        <p:nvSpPr>
          <p:cNvPr id="4" name="Slide Number Placeholder 3">
            <a:extLst>
              <a:ext uri="{FF2B5EF4-FFF2-40B4-BE49-F238E27FC236}">
                <a16:creationId xmlns:a16="http://schemas.microsoft.com/office/drawing/2014/main" id="{850F88C9-122C-729F-5D4A-0B73E9E38FF0}"/>
              </a:ext>
            </a:extLst>
          </p:cNvPr>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2791500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Cloud Computing Platforms:</a:t>
            </a:r>
            <a:r>
              <a:rPr lang="en-US" dirty="0"/>
              <a:t> Learn about cloud services such as Microsoft Azure and IBM Watson, which offer scalable, secure infrastructure and advanced AI capabilities to support business solutions.</a:t>
            </a:r>
          </a:p>
          <a:p>
            <a:pPr>
              <a:buNone/>
            </a:pPr>
            <a:r>
              <a:rPr lang="en-US" b="1" dirty="0"/>
              <a:t>Data Science Tools:</a:t>
            </a:r>
            <a:r>
              <a:rPr lang="en-US" dirty="0"/>
              <a:t> Understand the importance of platforms like </a:t>
            </a:r>
            <a:r>
              <a:rPr lang="en-US" dirty="0" err="1"/>
              <a:t>Jupyter</a:t>
            </a:r>
            <a:r>
              <a:rPr lang="en-US" dirty="0"/>
              <a:t> Notebook, Anaconda, and Google </a:t>
            </a:r>
            <a:r>
              <a:rPr lang="en-US" dirty="0" err="1"/>
              <a:t>Colab</a:t>
            </a:r>
            <a:r>
              <a:rPr lang="en-US" dirty="0"/>
              <a:t> in simplifying data analysis, machine learning, and research workflows.</a:t>
            </a:r>
          </a:p>
          <a:p>
            <a:pPr>
              <a:buNone/>
            </a:pPr>
            <a:r>
              <a:rPr lang="en-US" b="1" dirty="0"/>
              <a:t>AI Integration:</a:t>
            </a:r>
            <a:r>
              <a:rPr lang="en-US" dirty="0"/>
              <a:t> Discover how AI technologies like IBM Watson are transforming industries such as healthcare and finance, helping businesses make smarter decisions.</a:t>
            </a:r>
          </a:p>
          <a:p>
            <a:pPr>
              <a:buNone/>
            </a:pPr>
            <a:r>
              <a:rPr lang="en-US" b="1" dirty="0"/>
              <a:t>Platform Selection:</a:t>
            </a:r>
            <a:r>
              <a:rPr lang="en-US" dirty="0"/>
              <a:t> Know when to use platforms like Anaconda and Google </a:t>
            </a:r>
            <a:r>
              <a:rPr lang="en-US" dirty="0" err="1"/>
              <a:t>Colab</a:t>
            </a:r>
            <a:r>
              <a:rPr lang="en-US" dirty="0"/>
              <a:t> based on the needs of your project (e.g., large datasets, machine learning, or cost efficiency).</a:t>
            </a:r>
          </a:p>
          <a:p>
            <a:r>
              <a:rPr lang="en-US" b="1" dirty="0"/>
              <a:t>Advantages &amp; Disadvantages:</a:t>
            </a:r>
            <a:r>
              <a:rPr lang="en-US" dirty="0"/>
              <a:t> Consider the strengths and limitations of each platform to make informed decisions based on the requirements of your project or business.</a:t>
            </a:r>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5/3/2025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5/3/2025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5/3/2025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5/3/2025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5/3/2025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5/3/2025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5/3/2025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5/3/2025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5/3/2025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5/3/2025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5/3/2025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5/3/2025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4" y="2483382"/>
            <a:ext cx="6623109"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Development Platform</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B58811-47EC-A017-47DE-8742B02062FA}"/>
              </a:ext>
            </a:extLst>
          </p:cNvPr>
          <p:cNvSpPr/>
          <p:nvPr/>
        </p:nvSpPr>
        <p:spPr>
          <a:xfrm>
            <a:off x="2440338" y="0"/>
            <a:ext cx="9751662"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t>Jupyter</a:t>
            </a:r>
            <a:r>
              <a:rPr lang="en-US" b="1" dirty="0"/>
              <a:t> Notebook</a:t>
            </a:r>
          </a:p>
        </p:txBody>
      </p:sp>
      <p:sp>
        <p:nvSpPr>
          <p:cNvPr id="3" name="TextBox 2">
            <a:extLst>
              <a:ext uri="{FF2B5EF4-FFF2-40B4-BE49-F238E27FC236}">
                <a16:creationId xmlns:a16="http://schemas.microsoft.com/office/drawing/2014/main" id="{B60E1C23-960A-31EC-6AAD-2AD005EF6949}"/>
              </a:ext>
            </a:extLst>
          </p:cNvPr>
          <p:cNvSpPr txBox="1"/>
          <p:nvPr/>
        </p:nvSpPr>
        <p:spPr>
          <a:xfrm>
            <a:off x="357808" y="1054961"/>
            <a:ext cx="11322657" cy="923330"/>
          </a:xfrm>
          <a:prstGeom prst="rect">
            <a:avLst/>
          </a:prstGeom>
          <a:noFill/>
        </p:spPr>
        <p:txBody>
          <a:bodyPr wrap="square">
            <a:spAutoFit/>
          </a:bodyPr>
          <a:lstStyle/>
          <a:p>
            <a:pPr algn="just"/>
            <a:r>
              <a:rPr lang="en-US" dirty="0" err="1"/>
              <a:t>Jupyter</a:t>
            </a:r>
            <a:r>
              <a:rPr lang="en-US" dirty="0"/>
              <a:t> Notebook is an </a:t>
            </a:r>
            <a:r>
              <a:rPr lang="en-US" b="1" dirty="0"/>
              <a:t>open-source, web-based application</a:t>
            </a:r>
            <a:r>
              <a:rPr lang="en-US" dirty="0"/>
              <a:t> that allows users to </a:t>
            </a:r>
            <a:r>
              <a:rPr lang="en-US" b="1" dirty="0"/>
              <a:t>create and share documents that contain live code, equations, visualizations, and narrative text</a:t>
            </a:r>
            <a:r>
              <a:rPr lang="en-US" dirty="0"/>
              <a:t>. It supports over </a:t>
            </a:r>
            <a:r>
              <a:rPr lang="en-US" b="1" dirty="0"/>
              <a:t>40 programming languages, including Python, R, and Julia.</a:t>
            </a:r>
          </a:p>
        </p:txBody>
      </p:sp>
      <p:pic>
        <p:nvPicPr>
          <p:cNvPr id="1048" name="Picture 24" descr="An Overview of Jupyter Notebooks - Software Engineering Daily">
            <a:extLst>
              <a:ext uri="{FF2B5EF4-FFF2-40B4-BE49-F238E27FC236}">
                <a16:creationId xmlns:a16="http://schemas.microsoft.com/office/drawing/2014/main" id="{A73B4751-9ABF-B332-D3A6-823B70CCFE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481" b="17656"/>
          <a:stretch/>
        </p:blipFill>
        <p:spPr bwMode="auto">
          <a:xfrm>
            <a:off x="0" y="0"/>
            <a:ext cx="2440338" cy="792568"/>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781F6085-A495-FF69-969C-3CF7E33CD78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038" r="55349" b="10122"/>
          <a:stretch/>
        </p:blipFill>
        <p:spPr bwMode="auto">
          <a:xfrm>
            <a:off x="582134" y="2073706"/>
            <a:ext cx="4888363" cy="4549461"/>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05662EAF-429B-9F0C-6293-F4744357F4A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3261"/>
          <a:stretch/>
        </p:blipFill>
        <p:spPr bwMode="auto">
          <a:xfrm>
            <a:off x="5863632" y="1978291"/>
            <a:ext cx="5267325" cy="4857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932BA-F016-FBD7-F0BF-01EB600B082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01FA17B-5252-281E-BC81-03F890C6007C}"/>
              </a:ext>
            </a:extLst>
          </p:cNvPr>
          <p:cNvSpPr/>
          <p:nvPr/>
        </p:nvSpPr>
        <p:spPr>
          <a:xfrm>
            <a:off x="3053301" y="0"/>
            <a:ext cx="9138698"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Anaconda</a:t>
            </a:r>
          </a:p>
        </p:txBody>
      </p:sp>
      <p:sp>
        <p:nvSpPr>
          <p:cNvPr id="3" name="TextBox 2">
            <a:extLst>
              <a:ext uri="{FF2B5EF4-FFF2-40B4-BE49-F238E27FC236}">
                <a16:creationId xmlns:a16="http://schemas.microsoft.com/office/drawing/2014/main" id="{4BDC3527-DB55-0859-66BB-A4285BEE488A}"/>
              </a:ext>
            </a:extLst>
          </p:cNvPr>
          <p:cNvSpPr txBox="1"/>
          <p:nvPr/>
        </p:nvSpPr>
        <p:spPr>
          <a:xfrm>
            <a:off x="333954" y="919789"/>
            <a:ext cx="11322657" cy="923330"/>
          </a:xfrm>
          <a:prstGeom prst="rect">
            <a:avLst/>
          </a:prstGeom>
          <a:noFill/>
        </p:spPr>
        <p:txBody>
          <a:bodyPr wrap="square">
            <a:spAutoFit/>
          </a:bodyPr>
          <a:lstStyle/>
          <a:p>
            <a:pPr algn="just"/>
            <a:r>
              <a:rPr lang="en-US" dirty="0"/>
              <a:t>Anaconda is a </a:t>
            </a:r>
            <a:r>
              <a:rPr lang="en-US" b="1" dirty="0"/>
              <a:t>free and open-source distribution of Python and R, widely used for scientific computing, data science, and machine learning. </a:t>
            </a:r>
            <a:r>
              <a:rPr lang="en-US" dirty="0"/>
              <a:t>It comes with a </a:t>
            </a:r>
            <a:r>
              <a:rPr lang="en-US" b="1" dirty="0"/>
              <a:t>package manager (Conda) and an environment </a:t>
            </a:r>
            <a:r>
              <a:rPr lang="en-US" dirty="0"/>
              <a:t>manager for handling dependencies and environments.</a:t>
            </a:r>
          </a:p>
        </p:txBody>
      </p:sp>
      <p:pic>
        <p:nvPicPr>
          <p:cNvPr id="2070" name="Picture 22">
            <a:extLst>
              <a:ext uri="{FF2B5EF4-FFF2-40B4-BE49-F238E27FC236}">
                <a16:creationId xmlns:a16="http://schemas.microsoft.com/office/drawing/2014/main" id="{513C6E38-3EBA-497D-48D4-0FC6BEB71DA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388" b="34053"/>
          <a:stretch/>
        </p:blipFill>
        <p:spPr bwMode="auto">
          <a:xfrm>
            <a:off x="0" y="118655"/>
            <a:ext cx="3053301" cy="569242"/>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a:extLst>
              <a:ext uri="{FF2B5EF4-FFF2-40B4-BE49-F238E27FC236}">
                <a16:creationId xmlns:a16="http://schemas.microsoft.com/office/drawing/2014/main" id="{06F2A55D-D444-721C-9B22-7F20C34F65A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6923" r="50900" b="10463"/>
          <a:stretch/>
        </p:blipFill>
        <p:spPr bwMode="auto">
          <a:xfrm>
            <a:off x="644884" y="1939838"/>
            <a:ext cx="4660437" cy="4553405"/>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a:extLst>
              <a:ext uri="{FF2B5EF4-FFF2-40B4-BE49-F238E27FC236}">
                <a16:creationId xmlns:a16="http://schemas.microsoft.com/office/drawing/2014/main" id="{62F254EB-4344-A2CA-EC62-27467C2CD45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3598"/>
          <a:stretch/>
        </p:blipFill>
        <p:spPr bwMode="auto">
          <a:xfrm>
            <a:off x="5792071" y="1939838"/>
            <a:ext cx="5267325" cy="4847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242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1C2EB-A8B5-CC6F-1D87-522FE5BB7A8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2411E25-C8B8-4E35-8DF6-46639263785D}"/>
              </a:ext>
            </a:extLst>
          </p:cNvPr>
          <p:cNvSpPr/>
          <p:nvPr/>
        </p:nvSpPr>
        <p:spPr>
          <a:xfrm>
            <a:off x="3053301" y="0"/>
            <a:ext cx="9138698"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Microsoft Azure</a:t>
            </a:r>
          </a:p>
        </p:txBody>
      </p:sp>
      <p:sp>
        <p:nvSpPr>
          <p:cNvPr id="3" name="TextBox 2">
            <a:extLst>
              <a:ext uri="{FF2B5EF4-FFF2-40B4-BE49-F238E27FC236}">
                <a16:creationId xmlns:a16="http://schemas.microsoft.com/office/drawing/2014/main" id="{6EC95EAD-91F7-BC32-9B64-C20C84396722}"/>
              </a:ext>
            </a:extLst>
          </p:cNvPr>
          <p:cNvSpPr txBox="1"/>
          <p:nvPr/>
        </p:nvSpPr>
        <p:spPr>
          <a:xfrm>
            <a:off x="333954" y="919789"/>
            <a:ext cx="11322657" cy="923330"/>
          </a:xfrm>
          <a:prstGeom prst="rect">
            <a:avLst/>
          </a:prstGeom>
          <a:noFill/>
        </p:spPr>
        <p:txBody>
          <a:bodyPr wrap="square">
            <a:spAutoFit/>
          </a:bodyPr>
          <a:lstStyle/>
          <a:p>
            <a:pPr algn="just"/>
            <a:r>
              <a:rPr lang="en-US" dirty="0"/>
              <a:t>Microsoft Azure is a </a:t>
            </a:r>
            <a:r>
              <a:rPr lang="en-US" b="1" dirty="0"/>
              <a:t>cloud computing platform offering a variety of cloud services</a:t>
            </a:r>
            <a:r>
              <a:rPr lang="en-US" dirty="0"/>
              <a:t>, including </a:t>
            </a:r>
            <a:r>
              <a:rPr lang="en-US" b="1" dirty="0"/>
              <a:t>computing, analytics, storage, and networking.</a:t>
            </a:r>
            <a:r>
              <a:rPr lang="en-US" dirty="0"/>
              <a:t> It provides a wide range of services for </a:t>
            </a:r>
            <a:r>
              <a:rPr lang="en-US" b="1" dirty="0"/>
              <a:t>building, deploying, and managing applications through Microsoft-managed data centers.</a:t>
            </a:r>
          </a:p>
        </p:txBody>
      </p:sp>
      <p:pic>
        <p:nvPicPr>
          <p:cNvPr id="4098" name="Picture 2" descr="Microsoft Azure - czy i kiedy warto skorzystać?">
            <a:extLst>
              <a:ext uri="{FF2B5EF4-FFF2-40B4-BE49-F238E27FC236}">
                <a16:creationId xmlns:a16="http://schemas.microsoft.com/office/drawing/2014/main" id="{FB9ADB27-9DF4-59F0-2161-83EAE120F3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257" b="33333"/>
          <a:stretch/>
        </p:blipFill>
        <p:spPr bwMode="auto">
          <a:xfrm>
            <a:off x="0" y="59744"/>
            <a:ext cx="3067069" cy="62815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0C55A310-5F68-BC18-BFA1-231D58489D7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5260" r="54514" b="9594"/>
          <a:stretch/>
        </p:blipFill>
        <p:spPr bwMode="auto">
          <a:xfrm>
            <a:off x="855593" y="2010097"/>
            <a:ext cx="4376365" cy="468695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25C6E27B-334A-B0E8-53BF-FD5147F22A9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3441"/>
          <a:stretch/>
        </p:blipFill>
        <p:spPr bwMode="auto">
          <a:xfrm>
            <a:off x="5712557" y="2010096"/>
            <a:ext cx="5267325" cy="4847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393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F1AB8-7C99-EC65-D681-243BCEFF0C7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A61F144-021B-99F4-4C6E-50C4ECEE55FF}"/>
              </a:ext>
            </a:extLst>
          </p:cNvPr>
          <p:cNvSpPr/>
          <p:nvPr/>
        </p:nvSpPr>
        <p:spPr>
          <a:xfrm>
            <a:off x="2051437" y="0"/>
            <a:ext cx="10140562"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Google </a:t>
            </a:r>
            <a:r>
              <a:rPr lang="en-US" b="1" dirty="0" err="1"/>
              <a:t>colab</a:t>
            </a:r>
            <a:endParaRPr lang="en-US" b="1" dirty="0"/>
          </a:p>
        </p:txBody>
      </p:sp>
      <p:sp>
        <p:nvSpPr>
          <p:cNvPr id="3" name="TextBox 2">
            <a:extLst>
              <a:ext uri="{FF2B5EF4-FFF2-40B4-BE49-F238E27FC236}">
                <a16:creationId xmlns:a16="http://schemas.microsoft.com/office/drawing/2014/main" id="{B487634F-B927-B24F-2B70-7A9E1F23A9D4}"/>
              </a:ext>
            </a:extLst>
          </p:cNvPr>
          <p:cNvSpPr txBox="1"/>
          <p:nvPr/>
        </p:nvSpPr>
        <p:spPr>
          <a:xfrm>
            <a:off x="333954" y="1072446"/>
            <a:ext cx="11322657" cy="923330"/>
          </a:xfrm>
          <a:prstGeom prst="rect">
            <a:avLst/>
          </a:prstGeom>
          <a:noFill/>
        </p:spPr>
        <p:txBody>
          <a:bodyPr wrap="square">
            <a:spAutoFit/>
          </a:bodyPr>
          <a:lstStyle/>
          <a:p>
            <a:pPr algn="just"/>
            <a:r>
              <a:rPr lang="en-US" dirty="0"/>
              <a:t>Google </a:t>
            </a:r>
            <a:r>
              <a:rPr lang="en-US" dirty="0" err="1"/>
              <a:t>Colab</a:t>
            </a:r>
            <a:r>
              <a:rPr lang="en-US" dirty="0"/>
              <a:t> is a </a:t>
            </a:r>
            <a:r>
              <a:rPr lang="en-US" b="1" dirty="0"/>
              <a:t>free cloud-based platform for coding in Python, offering GPU/TPU support for faster computation. </a:t>
            </a:r>
            <a:r>
              <a:rPr lang="en-US" dirty="0"/>
              <a:t>It's a </a:t>
            </a:r>
            <a:r>
              <a:rPr lang="en-US" b="1" dirty="0" err="1"/>
              <a:t>Jupyter</a:t>
            </a:r>
            <a:r>
              <a:rPr lang="en-US" b="1" dirty="0"/>
              <a:t>-like notebook environment hosted by Google</a:t>
            </a:r>
            <a:r>
              <a:rPr lang="en-US" dirty="0"/>
              <a:t>, allowing you to write and execute Python code in a browser without setup.</a:t>
            </a:r>
          </a:p>
        </p:txBody>
      </p:sp>
      <p:pic>
        <p:nvPicPr>
          <p:cNvPr id="6148" name="Picture 4" descr="What is Google Colab?. Introduction to Google Colab. | by Hrishikesh Mane |  Medium">
            <a:extLst>
              <a:ext uri="{FF2B5EF4-FFF2-40B4-BE49-F238E27FC236}">
                <a16:creationId xmlns:a16="http://schemas.microsoft.com/office/drawing/2014/main" id="{419C9AC7-9629-009B-DF65-80D016B7D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987826" cy="87864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71FAD711-4BC8-4DAE-7FBD-5B18D50BA3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1241" r="40005" b="20330"/>
          <a:stretch/>
        </p:blipFill>
        <p:spPr bwMode="auto">
          <a:xfrm>
            <a:off x="475422" y="2321781"/>
            <a:ext cx="4746031" cy="2258169"/>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A12F0248-849A-D4B3-7A19-82301E07044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3185"/>
          <a:stretch/>
        </p:blipFill>
        <p:spPr bwMode="auto">
          <a:xfrm>
            <a:off x="5545580" y="1995776"/>
            <a:ext cx="5267325" cy="4862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801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3080" name="Picture 8">
            <a:extLst>
              <a:ext uri="{FF2B5EF4-FFF2-40B4-BE49-F238E27FC236}">
                <a16:creationId xmlns:a16="http://schemas.microsoft.com/office/drawing/2014/main" id="{9DF156AD-11E8-24EB-2B28-47846E8E09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795"/>
          <a:stretch/>
        </p:blipFill>
        <p:spPr bwMode="auto">
          <a:xfrm>
            <a:off x="781754" y="730352"/>
            <a:ext cx="10866906" cy="6127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1598</TotalTime>
  <Words>1593</Words>
  <Application>Microsoft Office PowerPoint</Application>
  <PresentationFormat>Widescreen</PresentationFormat>
  <Paragraphs>67</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Shahriar</dc:creator>
  <cp:lastModifiedBy>Md Shahriar</cp:lastModifiedBy>
  <cp:revision>39</cp:revision>
  <dcterms:created xsi:type="dcterms:W3CDTF">2025-03-28T13:19:12Z</dcterms:created>
  <dcterms:modified xsi:type="dcterms:W3CDTF">2025-05-03T16:59:21Z</dcterms:modified>
</cp:coreProperties>
</file>