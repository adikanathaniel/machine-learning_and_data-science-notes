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5" r:id="rId4"/>
    <p:sldId id="267" r:id="rId5"/>
    <p:sldId id="266"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varScale="1">
        <p:scale>
          <a:sx n="80" d="100"/>
          <a:sy n="80" d="100"/>
        </p:scale>
        <p:origin x="1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Apache Hadoop is an open-source framework designed to process and store vast amounts of data across distributed computing environments. It consists of two primary components: HDFS (Hadoop Distributed File System), which handles storage, and MapReduce, which manages data processing. Hadoop is well-suited for handling "big data," allowing tasks to be split into smaller jobs, processed in parallel across multiple machines, and then combined into a final result.</a:t>
            </a:r>
          </a:p>
          <a:p>
            <a:pPr>
              <a:buNone/>
            </a:pPr>
            <a:r>
              <a:rPr lang="en-US" b="1"/>
              <a:t>When to Use</a:t>
            </a:r>
            <a:r>
              <a:rPr lang="en-US"/>
              <a:t>:</a:t>
            </a:r>
            <a:br>
              <a:rPr lang="en-US"/>
            </a:br>
            <a:r>
              <a:rPr lang="en-US"/>
              <a:t>You should use Apache Hadoop when dealing with large datasets that exceed the capacity of a single machine's storage or processing power. It is especially useful in scenarios where data is too big, unstructured (like logs, images, and videos), or when high scalability and fault tolerance are required. Hadoop is ideal for data analysis, machine learning, and managing large data warehouses.</a:t>
            </a:r>
          </a:p>
          <a:p>
            <a:pPr>
              <a:buNone/>
            </a:pPr>
            <a:r>
              <a:rPr lang="en-US" b="1"/>
              <a:t>Advantages</a:t>
            </a:r>
            <a:r>
              <a:rPr lang="en-US"/>
              <a:t>:</a:t>
            </a:r>
          </a:p>
          <a:p>
            <a:pPr>
              <a:buFont typeface="+mj-lt"/>
              <a:buAutoNum type="arabicPeriod"/>
            </a:pPr>
            <a:r>
              <a:rPr lang="en-US" b="1"/>
              <a:t>Scalability</a:t>
            </a:r>
            <a:r>
              <a:rPr lang="en-US"/>
              <a:t>: One of Hadoop's strongest points is its ability to scale easily. It can start small, running on just a few machines, but can grow to thousands of nodes without affecting performance or requiring a complete overhaul.</a:t>
            </a:r>
          </a:p>
          <a:p>
            <a:pPr>
              <a:buFont typeface="+mj-lt"/>
              <a:buAutoNum type="arabicPeriod"/>
            </a:pPr>
            <a:r>
              <a:rPr lang="en-US" b="1"/>
              <a:t>Cost-Effective</a:t>
            </a:r>
            <a:r>
              <a:rPr lang="en-US"/>
              <a:t>: Hadoop can be run on inexpensive, commodity hardware, making it a more affordable solution for managing and processing big data.</a:t>
            </a:r>
          </a:p>
          <a:p>
            <a:pPr>
              <a:buFont typeface="+mj-lt"/>
              <a:buAutoNum type="arabicPeriod"/>
            </a:pPr>
            <a:r>
              <a:rPr lang="en-US" b="1"/>
              <a:t>Fault Tolerance</a:t>
            </a:r>
            <a:r>
              <a:rPr lang="en-US"/>
              <a:t>: Data in Hadoop is replicated across multiple nodes, which ensures that in case of a failure, no data is lost, and the system can continue operating.</a:t>
            </a:r>
          </a:p>
          <a:p>
            <a:pPr>
              <a:buFont typeface="+mj-lt"/>
              <a:buAutoNum type="arabicPeriod"/>
            </a:pPr>
            <a:r>
              <a:rPr lang="en-US" b="1"/>
              <a:t>Flexibility</a:t>
            </a:r>
            <a:r>
              <a:rPr lang="en-US"/>
              <a:t>: Hadoop is versatile, able to store both structured and unstructured data, giving users the freedom to analyze diverse data types.</a:t>
            </a:r>
          </a:p>
          <a:p>
            <a:pPr>
              <a:buNone/>
            </a:pPr>
            <a:r>
              <a:rPr lang="en-US" b="1"/>
              <a:t>Disadvantages</a:t>
            </a:r>
            <a:r>
              <a:rPr lang="en-US"/>
              <a:t>:</a:t>
            </a:r>
          </a:p>
          <a:p>
            <a:pPr>
              <a:buFont typeface="+mj-lt"/>
              <a:buAutoNum type="arabicPeriod"/>
            </a:pPr>
            <a:r>
              <a:rPr lang="en-US" b="1"/>
              <a:t>Complex Setup</a:t>
            </a:r>
            <a:r>
              <a:rPr lang="en-US"/>
              <a:t>: Hadoop requires a certain level of expertise to set up and configure, which may be challenging for beginners.</a:t>
            </a:r>
          </a:p>
          <a:p>
            <a:pPr>
              <a:buFont typeface="+mj-lt"/>
              <a:buAutoNum type="arabicPeriod"/>
            </a:pPr>
            <a:r>
              <a:rPr lang="en-US" b="1"/>
              <a:t>Performance Issues</a:t>
            </a:r>
            <a:r>
              <a:rPr lang="en-US"/>
              <a:t>: For real-time or low-latency applications, Hadoop may not be the best choice, as the MapReduce process can take time to complete.</a:t>
            </a:r>
          </a:p>
          <a:p>
            <a:pPr>
              <a:buFont typeface="+mj-lt"/>
              <a:buAutoNum type="arabicPeriod"/>
            </a:pPr>
            <a:r>
              <a:rPr lang="en-US" b="1"/>
              <a:t>Requires Expertise</a:t>
            </a:r>
            <a:r>
              <a:rPr lang="en-US"/>
              <a:t>: The management, maintenance, and optimization of Hadoop clusters require skilled professionals.</a:t>
            </a:r>
          </a:p>
          <a:p>
            <a:pPr>
              <a:buFont typeface="+mj-lt"/>
              <a:buAutoNum type="arabicPeriod"/>
            </a:pPr>
            <a:r>
              <a:rPr lang="en-US" b="1"/>
              <a:t>Limited to Batch Processing</a:t>
            </a:r>
            <a:r>
              <a:rPr lang="en-US"/>
              <a:t>: While it is powerful for batch processing, Hadoop doesn’t handle real-time data processing efficiently.</a:t>
            </a: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926A5-A240-D9F6-E17F-9D3B04914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EF9ED-A98D-E48F-6179-1D6530986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305E8-6EC9-1EBE-E700-526024099A5C}"/>
              </a:ext>
            </a:extLst>
          </p:cNvPr>
          <p:cNvSpPr>
            <a:spLocks noGrp="1"/>
          </p:cNvSpPr>
          <p:nvPr>
            <p:ph type="body" idx="1"/>
          </p:nvPr>
        </p:nvSpPr>
        <p:spPr/>
        <p:txBody>
          <a:bodyPr/>
          <a:lstStyle/>
          <a:p>
            <a:pPr>
              <a:buNone/>
            </a:pPr>
            <a:r>
              <a:rPr lang="en-US"/>
              <a:t>Microsoft SQL Server is a relational database management system (RDBMS) created by Microsoft. It uses Structured Query Language (SQL) for managing data, supporting not only the storage and retrieval of data but also business intelligence and complex analytics. It is widely used in enterprise environments for transactional processing, analytics, and reporting.</a:t>
            </a:r>
          </a:p>
          <a:p>
            <a:pPr>
              <a:buNone/>
            </a:pPr>
            <a:r>
              <a:rPr lang="en-US" b="1"/>
              <a:t>When to Use</a:t>
            </a:r>
            <a:r>
              <a:rPr lang="en-US"/>
              <a:t>:</a:t>
            </a:r>
            <a:br>
              <a:rPr lang="en-US"/>
            </a:br>
            <a:r>
              <a:rPr lang="en-US"/>
              <a:t>Microsoft SQL Server is most suitable for projects that require handling structured data, like business applications, data analytics, and reporting systems. If you're working with data that needs to be organized into tables and queried using SQL, SQL Server is a great option. It's also ideal for applications that require high availability and integration with other Microsoft tools.</a:t>
            </a:r>
          </a:p>
          <a:p>
            <a:pPr>
              <a:buNone/>
            </a:pPr>
            <a:r>
              <a:rPr lang="en-US" b="1"/>
              <a:t>Advantages</a:t>
            </a:r>
            <a:r>
              <a:rPr lang="en-US"/>
              <a:t>:</a:t>
            </a:r>
          </a:p>
          <a:p>
            <a:pPr>
              <a:buFont typeface="+mj-lt"/>
              <a:buAutoNum type="arabicPeriod"/>
            </a:pPr>
            <a:r>
              <a:rPr lang="en-US" b="1"/>
              <a:t>Integration with Microsoft Products</a:t>
            </a:r>
            <a:r>
              <a:rPr lang="en-US"/>
              <a:t>: SQL Server seamlessly integrates with tools like Excel, Power BI, and Azure, making it an excellent choice for businesses already using Microsoft ecosystems.</a:t>
            </a:r>
          </a:p>
          <a:p>
            <a:pPr>
              <a:buFont typeface="+mj-lt"/>
              <a:buAutoNum type="arabicPeriod"/>
            </a:pPr>
            <a:r>
              <a:rPr lang="en-US" b="1"/>
              <a:t>Security Features</a:t>
            </a:r>
            <a:r>
              <a:rPr lang="en-US"/>
              <a:t>: It comes with robust security features, including data encryption, access control, and auditing, helping ensure sensitive information is protected.</a:t>
            </a:r>
          </a:p>
          <a:p>
            <a:pPr>
              <a:buFont typeface="+mj-lt"/>
              <a:buAutoNum type="arabicPeriod"/>
            </a:pPr>
            <a:r>
              <a:rPr lang="en-US" b="1"/>
              <a:t>Scalability</a:t>
            </a:r>
            <a:r>
              <a:rPr lang="en-US"/>
              <a:t>: SQL Server can handle very large databases and manage a high volume of transactions, ensuring performance remains high even as the database grows.</a:t>
            </a:r>
          </a:p>
          <a:p>
            <a:pPr>
              <a:buFont typeface="+mj-lt"/>
              <a:buAutoNum type="arabicPeriod"/>
            </a:pPr>
            <a:r>
              <a:rPr lang="en-US" b="1"/>
              <a:t>Data Recovery</a:t>
            </a:r>
            <a:r>
              <a:rPr lang="en-US"/>
              <a:t>: SQL Server includes built-in tools for backup and disaster recovery, which are essential for business continuity.</a:t>
            </a:r>
          </a:p>
          <a:p>
            <a:pPr>
              <a:buNone/>
            </a:pPr>
            <a:r>
              <a:rPr lang="en-US" b="1"/>
              <a:t>Disadvantages</a:t>
            </a:r>
            <a:r>
              <a:rPr lang="en-US"/>
              <a:t>:</a:t>
            </a:r>
          </a:p>
          <a:p>
            <a:pPr>
              <a:buFont typeface="+mj-lt"/>
              <a:buAutoNum type="arabicPeriod"/>
            </a:pPr>
            <a:r>
              <a:rPr lang="en-US" b="1"/>
              <a:t>Costly Licensing</a:t>
            </a:r>
            <a:r>
              <a:rPr lang="en-US"/>
              <a:t>: The cost of licensing SQL Server can be expensive, especially for enterprise versions, which may be a barrier for smaller organizations.</a:t>
            </a:r>
          </a:p>
          <a:p>
            <a:pPr>
              <a:buFont typeface="+mj-lt"/>
              <a:buAutoNum type="arabicPeriod"/>
            </a:pPr>
            <a:r>
              <a:rPr lang="en-US" b="1"/>
              <a:t>Limited to Windows</a:t>
            </a:r>
            <a:r>
              <a:rPr lang="en-US"/>
              <a:t>: Although recent versions support Linux, SQL Server is primarily designed for Windows, which may limit its compatibility with other operating systems.</a:t>
            </a:r>
          </a:p>
          <a:p>
            <a:pPr>
              <a:buFont typeface="+mj-lt"/>
              <a:buAutoNum type="arabicPeriod"/>
            </a:pPr>
            <a:r>
              <a:rPr lang="en-US" b="1"/>
              <a:t>Complexity in Non-Microsoft Environments</a:t>
            </a:r>
            <a:r>
              <a:rPr lang="en-US"/>
              <a:t>: If you’re not already working in a Microsoft environment, integrating SQL Server with other systems can be challenging.</a:t>
            </a:r>
          </a:p>
          <a:p>
            <a:pPr>
              <a:buFont typeface="+mj-lt"/>
              <a:buAutoNum type="arabicPeriod"/>
            </a:pPr>
            <a:r>
              <a:rPr lang="en-US" b="1"/>
              <a:t>Limited Flexibility for Unstructured Data</a:t>
            </a:r>
            <a:r>
              <a:rPr lang="en-US"/>
              <a:t>: SQL Server is not as flexible as NoSQL databases like MongoDB when dealing with unstructured data, such as documents or media files.</a:t>
            </a:r>
            <a:endParaRPr lang="en-US" dirty="0"/>
          </a:p>
        </p:txBody>
      </p:sp>
      <p:sp>
        <p:nvSpPr>
          <p:cNvPr id="4" name="Slide Number Placeholder 3">
            <a:extLst>
              <a:ext uri="{FF2B5EF4-FFF2-40B4-BE49-F238E27FC236}">
                <a16:creationId xmlns:a16="http://schemas.microsoft.com/office/drawing/2014/main" id="{E17FE9F6-475E-AFBD-9B10-75A1DB73AC4C}"/>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53658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5FCF4-DF64-8D13-523E-C5E8E8EC9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F2B90-64E1-B4AD-B981-074A1DA43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4DB515-A2F2-E7DE-58DC-34CC97A52D7D}"/>
              </a:ext>
            </a:extLst>
          </p:cNvPr>
          <p:cNvSpPr>
            <a:spLocks noGrp="1"/>
          </p:cNvSpPr>
          <p:nvPr>
            <p:ph type="body" idx="1"/>
          </p:nvPr>
        </p:nvSpPr>
        <p:spPr/>
        <p:txBody>
          <a:bodyPr/>
          <a:lstStyle/>
          <a:p>
            <a:pPr>
              <a:buNone/>
            </a:pPr>
            <a:r>
              <a:rPr lang="en-US" dirty="0"/>
              <a:t>Oracle Database is an RDB developed by Oracle Corporation, used to store and manage data for large-scale enterprise applications. Known for its high performance, scalability, and reliability, Oracle is widely used in industries requiring complex database management and critical transaction processing.</a:t>
            </a:r>
          </a:p>
          <a:p>
            <a:pPr>
              <a:buNone/>
            </a:pPr>
            <a:r>
              <a:rPr lang="en-US" b="1" dirty="0"/>
              <a:t>When to Use</a:t>
            </a:r>
            <a:r>
              <a:rPr lang="en-US" dirty="0"/>
              <a:t>:</a:t>
            </a:r>
            <a:br>
              <a:rPr lang="en-US" dirty="0"/>
            </a:br>
            <a:r>
              <a:rPr lang="en-US" dirty="0"/>
              <a:t>Oracle is ideal for businesses that handle vast amounts of transactional data, particularly in sectors such as finance, healthcare, and telecommunications. It’s used when high reliability, advanced security, and large-scale data management are critical. Oracle is also a good choice for applications that require complex and high-volume transaction processing.</a:t>
            </a:r>
          </a:p>
          <a:p>
            <a:pPr>
              <a:buNone/>
            </a:pPr>
            <a:r>
              <a:rPr lang="en-US" b="1" dirty="0"/>
              <a:t>Advantages</a:t>
            </a:r>
            <a:r>
              <a:rPr lang="en-US" dirty="0"/>
              <a:t>:</a:t>
            </a:r>
          </a:p>
          <a:p>
            <a:pPr>
              <a:buFont typeface="+mj-lt"/>
              <a:buAutoNum type="arabicPeriod"/>
            </a:pPr>
            <a:r>
              <a:rPr lang="en-US" b="1" dirty="0"/>
              <a:t>Reliability and Performance</a:t>
            </a:r>
            <a:r>
              <a:rPr lang="en-US" dirty="0"/>
              <a:t>: Oracle is renowned for its high performance and ability to manage large volumes of transactions with minimal downtime.</a:t>
            </a:r>
          </a:p>
          <a:p>
            <a:pPr>
              <a:buFont typeface="+mj-lt"/>
              <a:buAutoNum type="arabicPeriod"/>
            </a:pPr>
            <a:r>
              <a:rPr lang="en-US" b="1" dirty="0"/>
              <a:t>Advanced Features</a:t>
            </a:r>
            <a:r>
              <a:rPr lang="en-US" dirty="0"/>
              <a:t>: It offers sophisticated features such as advanced security options, automated backup, and recovery mechanisms to ensure data is always available.</a:t>
            </a:r>
          </a:p>
          <a:p>
            <a:pPr>
              <a:buFont typeface="+mj-lt"/>
              <a:buAutoNum type="arabicPeriod"/>
            </a:pPr>
            <a:r>
              <a:rPr lang="en-US" b="1" dirty="0"/>
              <a:t>Scalability</a:t>
            </a:r>
            <a:r>
              <a:rPr lang="en-US" dirty="0"/>
              <a:t>: Oracle supports both vertical (increasing resources on a single machine) and horizontal (adding more machines) scaling, making it suitable for enterprises with growing data needs.</a:t>
            </a:r>
          </a:p>
          <a:p>
            <a:pPr>
              <a:buFont typeface="+mj-lt"/>
              <a:buAutoNum type="arabicPeriod"/>
            </a:pPr>
            <a:r>
              <a:rPr lang="en-US" b="1" dirty="0"/>
              <a:t>Cross-Platform Support</a:t>
            </a:r>
            <a:r>
              <a:rPr lang="en-US" dirty="0"/>
              <a:t>: Unlike some RDBMS systems, Oracle supports multiple operating systems including Windows, Linux, and UNIX, offering greater flexibility for different environments.</a:t>
            </a:r>
          </a:p>
          <a:p>
            <a:pPr>
              <a:buNone/>
            </a:pPr>
            <a:r>
              <a:rPr lang="en-US" b="1" dirty="0"/>
              <a:t>Disadvantages</a:t>
            </a:r>
            <a:r>
              <a:rPr lang="en-US" dirty="0"/>
              <a:t>:</a:t>
            </a:r>
          </a:p>
          <a:p>
            <a:pPr>
              <a:buFont typeface="+mj-lt"/>
              <a:buAutoNum type="arabicPeriod"/>
            </a:pPr>
            <a:r>
              <a:rPr lang="en-US" b="1" dirty="0"/>
              <a:t>High Licensing Costs</a:t>
            </a:r>
            <a:r>
              <a:rPr lang="en-US" dirty="0"/>
              <a:t>: Oracle's licensing fees can be prohibitively expensive for small businesses, especially for enterprise-level deployments.</a:t>
            </a:r>
          </a:p>
          <a:p>
            <a:pPr>
              <a:buFont typeface="+mj-lt"/>
              <a:buAutoNum type="arabicPeriod"/>
            </a:pPr>
            <a:r>
              <a:rPr lang="en-US" b="1" dirty="0"/>
              <a:t>Complex Setup and Maintenance</a:t>
            </a:r>
            <a:r>
              <a:rPr lang="en-US" dirty="0"/>
              <a:t>: Oracle requires specialized knowledge for installation, configuration, and ongoing maintenance, making it challenging for non-experts to manage.</a:t>
            </a:r>
          </a:p>
          <a:p>
            <a:pPr>
              <a:buFont typeface="+mj-lt"/>
              <a:buAutoNum type="arabicPeriod"/>
            </a:pPr>
            <a:r>
              <a:rPr lang="en-US" b="1" dirty="0"/>
              <a:t>Resource Intensive</a:t>
            </a:r>
            <a:r>
              <a:rPr lang="en-US" dirty="0"/>
              <a:t>: It can consume significant system resources, especially for large applications, requiring powerful hardware to run efficiently.</a:t>
            </a:r>
          </a:p>
          <a:p>
            <a:pPr>
              <a:buFont typeface="+mj-lt"/>
              <a:buAutoNum type="arabicPeriod"/>
            </a:pPr>
            <a:r>
              <a:rPr lang="en-US" b="1" dirty="0"/>
              <a:t>Not Ideal for Small Applications</a:t>
            </a:r>
            <a:r>
              <a:rPr lang="en-US" dirty="0"/>
              <a:t>: Due to its complexity and cost, Oracle may be overkill for smaller applications that don't require high-end features or scalability.</a:t>
            </a:r>
          </a:p>
        </p:txBody>
      </p:sp>
      <p:sp>
        <p:nvSpPr>
          <p:cNvPr id="4" name="Slide Number Placeholder 3">
            <a:extLst>
              <a:ext uri="{FF2B5EF4-FFF2-40B4-BE49-F238E27FC236}">
                <a16:creationId xmlns:a16="http://schemas.microsoft.com/office/drawing/2014/main" id="{BA75697F-7165-EAD6-F5C3-01E456E9F831}"/>
              </a:ext>
            </a:extLst>
          </p:cNvPr>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522345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34DF9-1CF4-E71F-491C-D81B67C5F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3986B-FF3A-B069-A51F-EFF3E6D01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C685F-9986-D95C-52B6-52F6749E2DBD}"/>
              </a:ext>
            </a:extLst>
          </p:cNvPr>
          <p:cNvSpPr>
            <a:spLocks noGrp="1"/>
          </p:cNvSpPr>
          <p:nvPr>
            <p:ph type="body" idx="1"/>
          </p:nvPr>
        </p:nvSpPr>
        <p:spPr/>
        <p:txBody>
          <a:bodyPr/>
          <a:lstStyle/>
          <a:p>
            <a:pPr>
              <a:buNone/>
            </a:pPr>
            <a:r>
              <a:rPr lang="en-US" dirty="0"/>
              <a:t>MongoDB is an open-source NoSQL database that stores data in a JSON-like format called BSON (Binary JSON). Unlike traditional relational databases, MongoDB is designed to handle large amounts of unstructured and semi-structured data. It is highly scalable and is used in environments where high availability and performance are essential.</a:t>
            </a:r>
          </a:p>
          <a:p>
            <a:pPr>
              <a:buNone/>
            </a:pPr>
            <a:r>
              <a:rPr lang="en-US" b="1" dirty="0"/>
              <a:t>When to Use</a:t>
            </a:r>
            <a:r>
              <a:rPr lang="en-US" dirty="0"/>
              <a:t>:</a:t>
            </a:r>
            <a:br>
              <a:rPr lang="en-US" dirty="0"/>
            </a:br>
            <a:r>
              <a:rPr lang="en-US" dirty="0"/>
              <a:t>MongoDB is most useful when dealing with large-scale, unstructured, or semi-structured data. It is great for projects that require rapid development and flexibility, such as social media platforms, e-commerce sites, and real-time analytics applications. It’s also ideal for applications that need to scale horizontally to handle large amounts of traffic and data.</a:t>
            </a:r>
          </a:p>
          <a:p>
            <a:pPr>
              <a:buNone/>
            </a:pPr>
            <a:r>
              <a:rPr lang="en-US" b="1" dirty="0"/>
              <a:t>Advantages</a:t>
            </a:r>
            <a:r>
              <a:rPr lang="en-US" dirty="0"/>
              <a:t>:</a:t>
            </a:r>
          </a:p>
          <a:p>
            <a:pPr>
              <a:buFont typeface="+mj-lt"/>
              <a:buAutoNum type="arabicPeriod"/>
            </a:pPr>
            <a:r>
              <a:rPr lang="en-US" b="1" dirty="0"/>
              <a:t>Scalable and Flexible</a:t>
            </a:r>
            <a:r>
              <a:rPr lang="en-US" dirty="0"/>
              <a:t>: MongoDB supports horizontal scaling, which means it can spread data across multiple servers to manage large datasets effectively. Its flexible schema design allows for easy changes to data structure over time.</a:t>
            </a:r>
          </a:p>
          <a:p>
            <a:pPr>
              <a:buFont typeface="+mj-lt"/>
              <a:buAutoNum type="arabicPeriod"/>
            </a:pPr>
            <a:r>
              <a:rPr lang="en-US" b="1" dirty="0"/>
              <a:t>High Availability</a:t>
            </a:r>
            <a:r>
              <a:rPr lang="en-US" dirty="0"/>
              <a:t>: With built-in replication and automatic failover, MongoDB ensures your data is always available, even in the event of server failures.</a:t>
            </a:r>
          </a:p>
          <a:p>
            <a:pPr>
              <a:buFont typeface="+mj-lt"/>
              <a:buAutoNum type="arabicPeriod"/>
            </a:pPr>
            <a:r>
              <a:rPr lang="en-US" b="1" dirty="0"/>
              <a:t>Fast Performance</a:t>
            </a:r>
            <a:r>
              <a:rPr lang="en-US" dirty="0"/>
              <a:t>: MongoDB is optimized for quick read and write operations, making it ideal for real-time applications with high throughput.</a:t>
            </a:r>
          </a:p>
          <a:p>
            <a:pPr>
              <a:buFont typeface="+mj-lt"/>
              <a:buAutoNum type="arabicPeriod"/>
            </a:pPr>
            <a:r>
              <a:rPr lang="en-US" b="1" dirty="0"/>
              <a:t>Easier Development</a:t>
            </a:r>
            <a:r>
              <a:rPr lang="en-US" dirty="0"/>
              <a:t>: Since MongoDB stores data in a JSON-like format, it’s easier to map data to application code, reducing the complexity of working with databases.</a:t>
            </a:r>
          </a:p>
          <a:p>
            <a:pPr>
              <a:buNone/>
            </a:pPr>
            <a:r>
              <a:rPr lang="en-US" b="1" dirty="0"/>
              <a:t>Disadvantages</a:t>
            </a:r>
            <a:r>
              <a:rPr lang="en-US" dirty="0"/>
              <a:t>:</a:t>
            </a:r>
          </a:p>
          <a:p>
            <a:pPr>
              <a:buFont typeface="+mj-lt"/>
              <a:buAutoNum type="arabicPeriod"/>
            </a:pPr>
            <a:r>
              <a:rPr lang="en-US" b="1" dirty="0"/>
              <a:t>Lacks ACID Compliance</a:t>
            </a:r>
            <a:r>
              <a:rPr lang="en-US" dirty="0"/>
              <a:t>: MongoDB doesn't fully adhere to ACID (Atomicity, Consistency, Isolation, Durability) principles, which could be problematic for transactional applications that require strict data consistency.</a:t>
            </a:r>
          </a:p>
          <a:p>
            <a:pPr>
              <a:buFont typeface="+mj-lt"/>
              <a:buAutoNum type="arabicPeriod"/>
            </a:pPr>
            <a:r>
              <a:rPr lang="en-US" b="1" dirty="0"/>
              <a:t>Memory Intensive</a:t>
            </a:r>
            <a:r>
              <a:rPr lang="en-US" dirty="0"/>
              <a:t>: The database can be memory-heavy, particularly when indexing and processing large queries, which may require significant server resources.</a:t>
            </a:r>
          </a:p>
          <a:p>
            <a:pPr>
              <a:buFont typeface="+mj-lt"/>
              <a:buAutoNum type="arabicPeriod"/>
            </a:pPr>
            <a:r>
              <a:rPr lang="en-US" b="1" dirty="0"/>
              <a:t>Limited Join Operations</a:t>
            </a:r>
            <a:r>
              <a:rPr lang="en-US" dirty="0"/>
              <a:t>: While MongoDB supports joins, they are not as efficient or straightforward as in relational databases, making it less ideal for complex queries involving multiple tables.</a:t>
            </a:r>
          </a:p>
          <a:p>
            <a:pPr>
              <a:buFont typeface="+mj-lt"/>
              <a:buAutoNum type="arabicPeriod"/>
            </a:pPr>
            <a:r>
              <a:rPr lang="en-US" b="1" dirty="0"/>
              <a:t>Less Mature for Complex Queries</a:t>
            </a:r>
            <a:r>
              <a:rPr lang="en-US" dirty="0"/>
              <a:t>: MongoDB may struggle with complex analytical queries, making it less suitable for applications that require complex reporting or deep querying.</a:t>
            </a:r>
          </a:p>
          <a:p>
            <a:pPr>
              <a:buNone/>
            </a:pPr>
            <a:endParaRPr lang="en-US" dirty="0"/>
          </a:p>
        </p:txBody>
      </p:sp>
      <p:sp>
        <p:nvSpPr>
          <p:cNvPr id="4" name="Slide Number Placeholder 3">
            <a:extLst>
              <a:ext uri="{FF2B5EF4-FFF2-40B4-BE49-F238E27FC236}">
                <a16:creationId xmlns:a16="http://schemas.microsoft.com/office/drawing/2014/main" id="{0CDE05DF-F601-C1B2-AC4F-57B4BDFD1AC9}"/>
              </a:ext>
            </a:extLst>
          </p:cNvPr>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4126296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Apache Hadoop is designed to manage large datasets across distributed computing systems, making it ideal for data-heavy applications like big data analytics. It is highly scalable and fault-tolerant, allowing it to handle both structured and unstructured data effectively.</a:t>
            </a:r>
          </a:p>
          <a:p>
            <a:pPr>
              <a:buNone/>
            </a:pPr>
            <a:r>
              <a:rPr lang="en-US" b="1" dirty="0"/>
              <a:t>Relational Databases for Transactional Systems</a:t>
            </a:r>
            <a:r>
              <a:rPr lang="en-US" dirty="0"/>
              <a:t>:</a:t>
            </a:r>
            <a:br>
              <a:rPr lang="en-US" dirty="0"/>
            </a:br>
            <a:r>
              <a:rPr lang="en-US" dirty="0"/>
              <a:t>Both Microsoft SQL Server and Oracle Server are robust solutions for businesses that require structured data management. These systems excel at transactional processing, complex queries, and reporting, making them ideal for applications in finance, healthcare, and other data-intensive industries.</a:t>
            </a:r>
          </a:p>
          <a:p>
            <a:pPr>
              <a:buNone/>
            </a:pPr>
            <a:r>
              <a:rPr lang="en-US" b="1" dirty="0"/>
              <a:t>Scalability and Flexibility in Databases</a:t>
            </a:r>
            <a:r>
              <a:rPr lang="en-US" dirty="0"/>
              <a:t>:</a:t>
            </a:r>
            <a:br>
              <a:rPr lang="en-US" dirty="0"/>
            </a:br>
            <a:r>
              <a:rPr lang="en-US" dirty="0"/>
              <a:t>MongoDB, as a NoSQL database, offers flexibility and scalability, particularly for unstructured data. Its ability to scale horizontally and its high availability make it a preferred choice for real-time applications and systems with large datasets.</a:t>
            </a:r>
          </a:p>
          <a:p>
            <a:r>
              <a:rPr lang="en-US" b="1" dirty="0"/>
              <a:t>Choosing the Right Tool</a:t>
            </a:r>
            <a:r>
              <a:rPr lang="en-US" dirty="0"/>
              <a:t>:</a:t>
            </a:r>
            <a:br>
              <a:rPr lang="en-US" dirty="0"/>
            </a:br>
            <a:r>
              <a:rPr lang="en-US" dirty="0"/>
              <a:t>When selecting a database, consider the type of data you are working with, your need for scalability, the complexity of your queries, and the project’s budget. While Hadoop is great for massive datasets, SQL-based solutions are better for structured data and transactional systems, and NoSQL databases like MongoDB shine when flexibility and high-speed data processing are needed.</a:t>
            </a:r>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Database Management</a:t>
            </a:r>
          </a:p>
          <a:p>
            <a:pPr algn="ctr"/>
            <a:r>
              <a:rPr lang="en-US" sz="4400" b="1" dirty="0">
                <a:ln w="0"/>
                <a:solidFill>
                  <a:schemeClr val="accent1"/>
                </a:solidFill>
                <a:effectLst>
                  <a:outerShdw blurRad="38100" dist="25400" dir="5400000" algn="ctr" rotWithShape="0">
                    <a:srgbClr val="6E747A">
                      <a:alpha val="43000"/>
                    </a:srgbClr>
                  </a:outerShdw>
                </a:effectLst>
              </a:rPr>
              <a:t>Tools</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B58811-47EC-A017-47DE-8742B02062FA}"/>
              </a:ext>
            </a:extLst>
          </p:cNvPr>
          <p:cNvSpPr/>
          <p:nvPr/>
        </p:nvSpPr>
        <p:spPr>
          <a:xfrm>
            <a:off x="1987826" y="0"/>
            <a:ext cx="10204174"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Apache Hadoop</a:t>
            </a:r>
          </a:p>
        </p:txBody>
      </p:sp>
      <p:sp>
        <p:nvSpPr>
          <p:cNvPr id="3" name="TextBox 2">
            <a:extLst>
              <a:ext uri="{FF2B5EF4-FFF2-40B4-BE49-F238E27FC236}">
                <a16:creationId xmlns:a16="http://schemas.microsoft.com/office/drawing/2014/main" id="{B60E1C23-960A-31EC-6AAD-2AD005EF6949}"/>
              </a:ext>
            </a:extLst>
          </p:cNvPr>
          <p:cNvSpPr txBox="1"/>
          <p:nvPr/>
        </p:nvSpPr>
        <p:spPr>
          <a:xfrm>
            <a:off x="357808" y="1054961"/>
            <a:ext cx="11322657" cy="923330"/>
          </a:xfrm>
          <a:prstGeom prst="rect">
            <a:avLst/>
          </a:prstGeom>
          <a:noFill/>
        </p:spPr>
        <p:txBody>
          <a:bodyPr wrap="square">
            <a:spAutoFit/>
          </a:bodyPr>
          <a:lstStyle/>
          <a:p>
            <a:pPr algn="just"/>
            <a:r>
              <a:rPr lang="en-US" dirty="0"/>
              <a:t>Apache Hadoop is an </a:t>
            </a:r>
            <a:r>
              <a:rPr lang="en-US" b="1" dirty="0"/>
              <a:t>open-source framework for processing large datasets </a:t>
            </a:r>
            <a:r>
              <a:rPr lang="en-US" dirty="0"/>
              <a:t>across distributed computing environments. It consists of a </a:t>
            </a:r>
            <a:r>
              <a:rPr lang="en-US" b="1" dirty="0"/>
              <a:t>storage part (HDFS) and a computational part (MapReduce). </a:t>
            </a:r>
            <a:r>
              <a:rPr lang="en-US" dirty="0"/>
              <a:t>The main feature is its </a:t>
            </a:r>
            <a:r>
              <a:rPr lang="en-US" b="1" dirty="0"/>
              <a:t>ability to handle big data by distributing the processing load across multiple machines</a:t>
            </a:r>
            <a:r>
              <a:rPr lang="en-US" dirty="0"/>
              <a:t>.</a:t>
            </a:r>
          </a:p>
        </p:txBody>
      </p:sp>
      <p:pic>
        <p:nvPicPr>
          <p:cNvPr id="1030" name="Picture 6">
            <a:extLst>
              <a:ext uri="{FF2B5EF4-FFF2-40B4-BE49-F238E27FC236}">
                <a16:creationId xmlns:a16="http://schemas.microsoft.com/office/drawing/2014/main" id="{ADE17709-4CB7-5D2D-DE9B-15CD52EC6B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101" r="54699" b="8872"/>
          <a:stretch/>
        </p:blipFill>
        <p:spPr bwMode="auto">
          <a:xfrm>
            <a:off x="789831" y="2089609"/>
            <a:ext cx="4463506" cy="447816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2FDC348-4005-5EE9-F333-E31F51BCC97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096"/>
          <a:stretch/>
        </p:blipFill>
        <p:spPr bwMode="auto">
          <a:xfrm>
            <a:off x="5752313" y="2089609"/>
            <a:ext cx="5267325" cy="469922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pache Hadoop — What Is YARN | HDFS | MapReduce | by Cory Maklin | TDS  Archive | Medium">
            <a:extLst>
              <a:ext uri="{FF2B5EF4-FFF2-40B4-BE49-F238E27FC236}">
                <a16:creationId xmlns:a16="http://schemas.microsoft.com/office/drawing/2014/main" id="{320C7F11-642D-13DF-E2CF-E5B258023F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014"/>
            <a:ext cx="1987826" cy="709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932BA-F016-FBD7-F0BF-01EB600B082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1FA17B-5252-281E-BC81-03F890C6007C}"/>
              </a:ext>
            </a:extLst>
          </p:cNvPr>
          <p:cNvSpPr/>
          <p:nvPr/>
        </p:nvSpPr>
        <p:spPr>
          <a:xfrm>
            <a:off x="2472270" y="0"/>
            <a:ext cx="9719729"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Microsoft SQL Server</a:t>
            </a:r>
          </a:p>
        </p:txBody>
      </p:sp>
      <p:sp>
        <p:nvSpPr>
          <p:cNvPr id="3" name="TextBox 2">
            <a:extLst>
              <a:ext uri="{FF2B5EF4-FFF2-40B4-BE49-F238E27FC236}">
                <a16:creationId xmlns:a16="http://schemas.microsoft.com/office/drawing/2014/main" id="{4BDC3527-DB55-0859-66BB-A4285BEE488A}"/>
              </a:ext>
            </a:extLst>
          </p:cNvPr>
          <p:cNvSpPr txBox="1"/>
          <p:nvPr/>
        </p:nvSpPr>
        <p:spPr>
          <a:xfrm>
            <a:off x="357808" y="1054961"/>
            <a:ext cx="11322657" cy="923330"/>
          </a:xfrm>
          <a:prstGeom prst="rect">
            <a:avLst/>
          </a:prstGeom>
          <a:noFill/>
        </p:spPr>
        <p:txBody>
          <a:bodyPr wrap="square">
            <a:spAutoFit/>
          </a:bodyPr>
          <a:lstStyle/>
          <a:p>
            <a:r>
              <a:rPr lang="en-US" dirty="0"/>
              <a:t>Microsoft SQL Server is a </a:t>
            </a:r>
            <a:r>
              <a:rPr lang="en-US" b="1" dirty="0"/>
              <a:t>relational database management system (RDBMS) </a:t>
            </a:r>
            <a:r>
              <a:rPr lang="en-US" dirty="0"/>
              <a:t>developed by Microsoft. It uses a structured </a:t>
            </a:r>
            <a:r>
              <a:rPr lang="en-US" b="1" dirty="0"/>
              <a:t>query language (SQL)</a:t>
            </a:r>
            <a:r>
              <a:rPr lang="en-US" dirty="0"/>
              <a:t> </a:t>
            </a:r>
            <a:r>
              <a:rPr lang="en-US" b="1" dirty="0"/>
              <a:t>for data management </a:t>
            </a:r>
            <a:r>
              <a:rPr lang="en-US" dirty="0"/>
              <a:t>and supports business intelligence, analytics, and transactional processing.</a:t>
            </a:r>
          </a:p>
        </p:txBody>
      </p:sp>
      <p:pic>
        <p:nvPicPr>
          <p:cNvPr id="6146" name="Picture 2">
            <a:extLst>
              <a:ext uri="{FF2B5EF4-FFF2-40B4-BE49-F238E27FC236}">
                <a16:creationId xmlns:a16="http://schemas.microsoft.com/office/drawing/2014/main" id="{7459C777-AAFE-1121-39FA-340373E61C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958" r="54050" b="8103"/>
          <a:stretch/>
        </p:blipFill>
        <p:spPr bwMode="auto">
          <a:xfrm>
            <a:off x="858741" y="1978291"/>
            <a:ext cx="4527439" cy="469928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DBAF106B-6A8A-E92D-C5F6-21044D0131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2769"/>
          <a:stretch/>
        </p:blipFill>
        <p:spPr bwMode="auto">
          <a:xfrm>
            <a:off x="5537628" y="1885142"/>
            <a:ext cx="5267325" cy="488557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Toric + Microsoft SQL | Data Integration">
            <a:extLst>
              <a:ext uri="{FF2B5EF4-FFF2-40B4-BE49-F238E27FC236}">
                <a16:creationId xmlns:a16="http://schemas.microsoft.com/office/drawing/2014/main" id="{FC0CB49C-DB65-936E-6E35-77624D6381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074" y="-1"/>
            <a:ext cx="2321197" cy="687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24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32328-9A14-A4E9-F8D9-A6B61BCB6D2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F42505C-A41D-14B3-959C-AE83F6947F62}"/>
              </a:ext>
            </a:extLst>
          </p:cNvPr>
          <p:cNvSpPr/>
          <p:nvPr/>
        </p:nvSpPr>
        <p:spPr>
          <a:xfrm>
            <a:off x="2472270" y="0"/>
            <a:ext cx="9719729"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Oracle Database</a:t>
            </a:r>
          </a:p>
        </p:txBody>
      </p:sp>
      <p:sp>
        <p:nvSpPr>
          <p:cNvPr id="3" name="TextBox 2">
            <a:extLst>
              <a:ext uri="{FF2B5EF4-FFF2-40B4-BE49-F238E27FC236}">
                <a16:creationId xmlns:a16="http://schemas.microsoft.com/office/drawing/2014/main" id="{8474633D-A743-E928-6640-F642C310DB64}"/>
              </a:ext>
            </a:extLst>
          </p:cNvPr>
          <p:cNvSpPr txBox="1"/>
          <p:nvPr/>
        </p:nvSpPr>
        <p:spPr>
          <a:xfrm>
            <a:off x="357808" y="1054961"/>
            <a:ext cx="11322657" cy="646331"/>
          </a:xfrm>
          <a:prstGeom prst="rect">
            <a:avLst/>
          </a:prstGeom>
          <a:noFill/>
        </p:spPr>
        <p:txBody>
          <a:bodyPr wrap="square">
            <a:spAutoFit/>
          </a:bodyPr>
          <a:lstStyle/>
          <a:p>
            <a:pPr algn="just"/>
            <a:r>
              <a:rPr lang="en-US" dirty="0"/>
              <a:t>Oracle Database is an </a:t>
            </a:r>
            <a:r>
              <a:rPr lang="en-US" b="1" dirty="0"/>
              <a:t>RDBMS developed by Oracle Corporation</a:t>
            </a:r>
            <a:r>
              <a:rPr lang="en-US" dirty="0"/>
              <a:t>. It’s used to </a:t>
            </a:r>
            <a:r>
              <a:rPr lang="en-US" b="1" dirty="0"/>
              <a:t>store and retrieve data for applications across various industries.</a:t>
            </a:r>
            <a:r>
              <a:rPr lang="en-US" dirty="0"/>
              <a:t> Known for </a:t>
            </a:r>
            <a:r>
              <a:rPr lang="en-US" b="1" dirty="0"/>
              <a:t>high-performance and scalability </a:t>
            </a:r>
            <a:r>
              <a:rPr lang="en-US" dirty="0"/>
              <a:t>in enterprise applications.</a:t>
            </a:r>
          </a:p>
        </p:txBody>
      </p:sp>
      <p:pic>
        <p:nvPicPr>
          <p:cNvPr id="9218" name="Picture 2" descr="Oracle DBA and SQL Server DBA in Pune | ID: 6812001455">
            <a:extLst>
              <a:ext uri="{FF2B5EF4-FFF2-40B4-BE49-F238E27FC236}">
                <a16:creationId xmlns:a16="http://schemas.microsoft.com/office/drawing/2014/main" id="{370D6473-DD55-8B87-125C-65528FE441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495" b="53423"/>
          <a:stretch/>
        </p:blipFill>
        <p:spPr bwMode="auto">
          <a:xfrm>
            <a:off x="144200" y="-226530"/>
            <a:ext cx="2121922" cy="110912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518B1942-27BB-8390-48C6-72EF06A78F1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145" r="53494" b="8761"/>
          <a:stretch/>
        </p:blipFill>
        <p:spPr bwMode="auto">
          <a:xfrm>
            <a:off x="760178" y="1701292"/>
            <a:ext cx="4978014" cy="4764319"/>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a:extLst>
              <a:ext uri="{FF2B5EF4-FFF2-40B4-BE49-F238E27FC236}">
                <a16:creationId xmlns:a16="http://schemas.microsoft.com/office/drawing/2014/main" id="{3A29D5C2-069F-8219-4422-5F1EC6517E1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965"/>
          <a:stretch/>
        </p:blipFill>
        <p:spPr bwMode="auto">
          <a:xfrm>
            <a:off x="6045228" y="1781092"/>
            <a:ext cx="5267325" cy="4874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60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CD62B-55F5-2307-FEFF-5C6BF38310A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70E7F5B-4345-8515-3090-8B1A1880814C}"/>
              </a:ext>
            </a:extLst>
          </p:cNvPr>
          <p:cNvSpPr/>
          <p:nvPr/>
        </p:nvSpPr>
        <p:spPr>
          <a:xfrm>
            <a:off x="2472270" y="0"/>
            <a:ext cx="9719729"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MongoDB</a:t>
            </a:r>
            <a:endParaRPr lang="en-US" b="1" dirty="0"/>
          </a:p>
        </p:txBody>
      </p:sp>
      <p:sp>
        <p:nvSpPr>
          <p:cNvPr id="3" name="TextBox 2">
            <a:extLst>
              <a:ext uri="{FF2B5EF4-FFF2-40B4-BE49-F238E27FC236}">
                <a16:creationId xmlns:a16="http://schemas.microsoft.com/office/drawing/2014/main" id="{83771F38-3BA2-1DCB-21AA-4BB72826E166}"/>
              </a:ext>
            </a:extLst>
          </p:cNvPr>
          <p:cNvSpPr txBox="1"/>
          <p:nvPr/>
        </p:nvSpPr>
        <p:spPr>
          <a:xfrm>
            <a:off x="357808" y="1054961"/>
            <a:ext cx="11322657" cy="923330"/>
          </a:xfrm>
          <a:prstGeom prst="rect">
            <a:avLst/>
          </a:prstGeom>
          <a:noFill/>
        </p:spPr>
        <p:txBody>
          <a:bodyPr wrap="square">
            <a:spAutoFit/>
          </a:bodyPr>
          <a:lstStyle/>
          <a:p>
            <a:r>
              <a:rPr lang="en-US" dirty="0"/>
              <a:t>MongoDB is an </a:t>
            </a:r>
            <a:r>
              <a:rPr lang="en-US" b="1" dirty="0"/>
              <a:t>open-source, NoSQL database that stores data in JSON-like format (BSON). </a:t>
            </a:r>
            <a:r>
              <a:rPr lang="en-US" dirty="0"/>
              <a:t>It’s designed for high </a:t>
            </a:r>
            <a:r>
              <a:rPr lang="en-US" b="1" dirty="0"/>
              <a:t>availability, scalability, and performance</a:t>
            </a:r>
            <a:r>
              <a:rPr lang="en-US" dirty="0"/>
              <a:t>. It’s commonly used for applications dealing with large amounts of unstructured or semi-structured data.</a:t>
            </a:r>
          </a:p>
        </p:txBody>
      </p:sp>
      <p:pic>
        <p:nvPicPr>
          <p:cNvPr id="7176" name="Picture 8" descr="MongoDB - All Things Open 2024">
            <a:extLst>
              <a:ext uri="{FF2B5EF4-FFF2-40B4-BE49-F238E27FC236}">
                <a16:creationId xmlns:a16="http://schemas.microsoft.com/office/drawing/2014/main" id="{FAA82E23-3F85-3AA3-43FC-B4D5BD667D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31" b="31084"/>
          <a:stretch/>
        </p:blipFill>
        <p:spPr bwMode="auto">
          <a:xfrm>
            <a:off x="0" y="-33647"/>
            <a:ext cx="2472270" cy="721544"/>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a:extLst>
              <a:ext uri="{FF2B5EF4-FFF2-40B4-BE49-F238E27FC236}">
                <a16:creationId xmlns:a16="http://schemas.microsoft.com/office/drawing/2014/main" id="{CE30D1C2-CABD-C4CD-069B-FC0A30773E5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593" r="55627" b="11567"/>
          <a:stretch/>
        </p:blipFill>
        <p:spPr bwMode="auto">
          <a:xfrm>
            <a:off x="791983" y="1978291"/>
            <a:ext cx="4646709" cy="4497168"/>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a:extLst>
              <a:ext uri="{FF2B5EF4-FFF2-40B4-BE49-F238E27FC236}">
                <a16:creationId xmlns:a16="http://schemas.microsoft.com/office/drawing/2014/main" id="{367A44BA-D7E7-47CB-87AC-479ADAD9DF9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13336" r="134"/>
          <a:stretch/>
        </p:blipFill>
        <p:spPr bwMode="auto">
          <a:xfrm>
            <a:off x="5712557" y="1799988"/>
            <a:ext cx="5260243" cy="4853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27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4 Key Learning Points of this Lesson</a:t>
            </a:r>
          </a:p>
        </p:txBody>
      </p:sp>
      <p:pic>
        <p:nvPicPr>
          <p:cNvPr id="8194" name="Picture 2">
            <a:extLst>
              <a:ext uri="{FF2B5EF4-FFF2-40B4-BE49-F238E27FC236}">
                <a16:creationId xmlns:a16="http://schemas.microsoft.com/office/drawing/2014/main" id="{99D8AA30-63C6-8007-22C3-DE15580DCE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666"/>
          <a:stretch/>
        </p:blipFill>
        <p:spPr bwMode="auto">
          <a:xfrm>
            <a:off x="1291301" y="954157"/>
            <a:ext cx="9617889" cy="6278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1510</TotalTime>
  <Words>1808</Words>
  <Application>Microsoft Office PowerPoint</Application>
  <PresentationFormat>Widescreen</PresentationFormat>
  <Paragraphs>71</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23</cp:revision>
  <dcterms:created xsi:type="dcterms:W3CDTF">2025-03-28T13:19:12Z</dcterms:created>
  <dcterms:modified xsi:type="dcterms:W3CDTF">2025-03-29T22:17:40Z</dcterms:modified>
</cp:coreProperties>
</file>