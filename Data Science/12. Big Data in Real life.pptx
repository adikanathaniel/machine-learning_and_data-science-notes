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65" r:id="rId4"/>
    <p:sldId id="266" r:id="rId5"/>
    <p:sldId id="268" r:id="rId6"/>
    <p:sldId id="267"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849" autoAdjust="0"/>
  </p:normalViewPr>
  <p:slideViewPr>
    <p:cSldViewPr snapToGrid="0">
      <p:cViewPr varScale="1">
        <p:scale>
          <a:sx n="80" d="100"/>
          <a:sy n="80" d="100"/>
        </p:scale>
        <p:origin x="100" y="40"/>
      </p:cViewPr>
      <p:guideLst/>
    </p:cSldViewPr>
  </p:slideViewPr>
  <p:notesTextViewPr>
    <p:cViewPr>
      <p:scale>
        <a:sx n="1" d="1"/>
        <a:sy n="1" d="1"/>
      </p:scale>
      <p:origin x="0" y="-93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In the healthcare industry, big data is used to improve patient care, optimize operations, and enhance research capabilities. Medical institutions, pharmaceutical companies, and health insurers are adopting big data technologies to leverage vast amounts of healthcare data to improve outcomes and reduce costs.</a:t>
            </a:r>
          </a:p>
          <a:p>
            <a:pPr>
              <a:buFont typeface="Arial" panose="020B0604020202020204" pitchFamily="34" charset="0"/>
              <a:buChar char="•"/>
            </a:pPr>
            <a:r>
              <a:rPr lang="en-US" b="1" dirty="0"/>
              <a:t>Patient Care</a:t>
            </a:r>
            <a:r>
              <a:rPr lang="en-US" dirty="0"/>
              <a:t>: Hospitals and clinics collect enormous amounts of data from electronic health records (EHRs), medical imaging, and wearables. This data helps in real-time monitoring of patients' health, providing personalized treatment, and detecting early signs of diseases. For example, predictive analytics can identify potential health risks like heart disease, allowing for early interventions.</a:t>
            </a:r>
          </a:p>
          <a:p>
            <a:pPr>
              <a:buFont typeface="Arial" panose="020B0604020202020204" pitchFamily="34" charset="0"/>
              <a:buChar char="•"/>
            </a:pPr>
            <a:r>
              <a:rPr lang="en-US" b="1" dirty="0"/>
              <a:t>Operational Efficiency</a:t>
            </a:r>
            <a:r>
              <a:rPr lang="en-US" dirty="0"/>
              <a:t>: Hospitals use big data to optimize scheduling, staffing, and resource allocation. By analyzing historical data, hospitals can forecast peak times for patient intake and ensure that resources are effectively distributed.</a:t>
            </a:r>
          </a:p>
          <a:p>
            <a:pPr>
              <a:buFont typeface="Arial" panose="020B0604020202020204" pitchFamily="34" charset="0"/>
              <a:buChar char="•"/>
            </a:pPr>
            <a:r>
              <a:rPr lang="en-US" b="1" dirty="0"/>
              <a:t>Drug Development</a:t>
            </a:r>
            <a:r>
              <a:rPr lang="en-US" dirty="0"/>
              <a:t>: Pharmaceutical companies use big data to analyze clinical trial data, identify trends, and accelerate drug discovery. Genomic data also allows for more personalized medicine, tailoring treatments to individual genetic profiles.</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31EDF-9AE3-C500-1FBD-DB2854A24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C9079-FEA6-BFF3-973B-1C6F9ADB46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5468E-2622-10BF-0732-C4053A017349}"/>
              </a:ext>
            </a:extLst>
          </p:cNvPr>
          <p:cNvSpPr>
            <a:spLocks noGrp="1"/>
          </p:cNvSpPr>
          <p:nvPr>
            <p:ph type="body" idx="1"/>
          </p:nvPr>
        </p:nvSpPr>
        <p:spPr/>
        <p:txBody>
          <a:bodyPr/>
          <a:lstStyle/>
          <a:p>
            <a:pPr>
              <a:buNone/>
            </a:pPr>
            <a:r>
              <a:rPr lang="en-US" b="1" dirty="0"/>
              <a:t>2. Retail and E-commerce</a:t>
            </a:r>
          </a:p>
          <a:p>
            <a:pPr>
              <a:buNone/>
            </a:pPr>
            <a:r>
              <a:rPr lang="en-US" dirty="0"/>
              <a:t>Big data has revolutionized the retail and e-commerce sectors by allowing businesses to better understand their customers, personalize marketing efforts, and optimize inventory management.</a:t>
            </a:r>
          </a:p>
          <a:p>
            <a:pPr>
              <a:buFont typeface="Arial" panose="020B0604020202020204" pitchFamily="34" charset="0"/>
              <a:buChar char="•"/>
            </a:pPr>
            <a:r>
              <a:rPr lang="en-US" b="1" dirty="0"/>
              <a:t>Customer Behavior Analysis</a:t>
            </a:r>
            <a:r>
              <a:rPr lang="en-US" dirty="0"/>
              <a:t>: Retailers use big data to track customer behavior through online activity, purchase history, and social media interactions. This helps them personalize product recommendations and offers based on individual preferences and purchase patterns. For instance, Amazon uses big data to suggest products based on previous purchases or browsing history.</a:t>
            </a:r>
          </a:p>
          <a:p>
            <a:pPr>
              <a:buFont typeface="Arial" panose="020B0604020202020204" pitchFamily="34" charset="0"/>
              <a:buChar char="•"/>
            </a:pPr>
            <a:r>
              <a:rPr lang="en-US" b="1" dirty="0"/>
              <a:t>Inventory Management</a:t>
            </a:r>
            <a:r>
              <a:rPr lang="en-US" dirty="0"/>
              <a:t>: Big data helps retailers manage inventory by analyzing sales trends, predicting demand, and reducing overstocking or understocking. This ensures that popular products are always in stock while minimizing unnecessary inventory costs.</a:t>
            </a:r>
          </a:p>
          <a:p>
            <a:pPr>
              <a:buFont typeface="Arial" panose="020B0604020202020204" pitchFamily="34" charset="0"/>
              <a:buChar char="•"/>
            </a:pPr>
            <a:r>
              <a:rPr lang="en-US" b="1" dirty="0"/>
              <a:t>Pricing Strategies</a:t>
            </a:r>
            <a:r>
              <a:rPr lang="en-US" dirty="0"/>
              <a:t>: Retailers can use dynamic pricing strategies, adjusting prices in real-time based on market conditions, competition, and customer demand. For example, companies like Walmart and Target use big data to offer discounts at optimal times to drive sales while maintaining profitability.</a:t>
            </a:r>
          </a:p>
        </p:txBody>
      </p:sp>
      <p:sp>
        <p:nvSpPr>
          <p:cNvPr id="4" name="Slide Number Placeholder 3">
            <a:extLst>
              <a:ext uri="{FF2B5EF4-FFF2-40B4-BE49-F238E27FC236}">
                <a16:creationId xmlns:a16="http://schemas.microsoft.com/office/drawing/2014/main" id="{565903F9-D3B4-F8AF-13FE-073E2C118E7A}"/>
              </a:ext>
            </a:extLst>
          </p:cNvPr>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933573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87B8B-5045-A4CF-0157-AF33D5AA8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2984B-0272-C083-BA9E-B7935D856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A42FC-69AE-CEDD-75D0-B21806552CE8}"/>
              </a:ext>
            </a:extLst>
          </p:cNvPr>
          <p:cNvSpPr>
            <a:spLocks noGrp="1"/>
          </p:cNvSpPr>
          <p:nvPr>
            <p:ph type="body" idx="1"/>
          </p:nvPr>
        </p:nvSpPr>
        <p:spPr/>
        <p:txBody>
          <a:bodyPr/>
          <a:lstStyle/>
          <a:p>
            <a:pPr>
              <a:buNone/>
            </a:pPr>
            <a:r>
              <a:rPr lang="en-US" b="1" dirty="0"/>
              <a:t>3. Finance and Banking</a:t>
            </a:r>
          </a:p>
          <a:p>
            <a:pPr>
              <a:buNone/>
            </a:pPr>
            <a:r>
              <a:rPr lang="en-US" dirty="0"/>
              <a:t>The finance and banking sector uses big data for a variety of purposes, including fraud detection, risk management, customer relationship management, and investment strategies.</a:t>
            </a:r>
          </a:p>
          <a:p>
            <a:pPr>
              <a:buFont typeface="Arial" panose="020B0604020202020204" pitchFamily="34" charset="0"/>
              <a:buChar char="•"/>
            </a:pPr>
            <a:r>
              <a:rPr lang="en-US" b="1" dirty="0"/>
              <a:t>Fraud Detection and Prevention</a:t>
            </a:r>
            <a:r>
              <a:rPr lang="en-US" dirty="0"/>
              <a:t>: Banks and financial institutions utilize big data to monitor transactions and detect fraudulent activities. Machine learning models analyze historical data and flag suspicious activities in real-time, preventing financial crimes like identity theft and credit card fraud.</a:t>
            </a:r>
          </a:p>
          <a:p>
            <a:pPr>
              <a:buFont typeface="Arial" panose="020B0604020202020204" pitchFamily="34" charset="0"/>
              <a:buChar char="•"/>
            </a:pPr>
            <a:r>
              <a:rPr lang="en-US" b="1" dirty="0"/>
              <a:t>Risk Management</a:t>
            </a:r>
            <a:r>
              <a:rPr lang="en-US" dirty="0"/>
              <a:t>: Financial institutions use big data to assess credit risk, market risk, and operational risk. By analyzing data from various sources, such as market conditions, economic indicators, and customer behavior, companies can make more informed investment decisions and mitigate risks.</a:t>
            </a:r>
          </a:p>
          <a:p>
            <a:pPr>
              <a:buFont typeface="Arial" panose="020B0604020202020204" pitchFamily="34" charset="0"/>
              <a:buChar char="•"/>
            </a:pPr>
            <a:r>
              <a:rPr lang="en-US" b="1" dirty="0"/>
              <a:t>Customer Insights</a:t>
            </a:r>
            <a:r>
              <a:rPr lang="en-US" dirty="0"/>
              <a:t>: Banks and financial services companies analyze customer data to understand their needs and offer tailored products, such as personalized loans, credit cards, and insurance plans. Big data helps companies improve customer engagement by offering relevant services and predicting customer behavior.</a:t>
            </a:r>
          </a:p>
        </p:txBody>
      </p:sp>
      <p:sp>
        <p:nvSpPr>
          <p:cNvPr id="4" name="Slide Number Placeholder 3">
            <a:extLst>
              <a:ext uri="{FF2B5EF4-FFF2-40B4-BE49-F238E27FC236}">
                <a16:creationId xmlns:a16="http://schemas.microsoft.com/office/drawing/2014/main" id="{4A3AFDD9-76D9-F773-C14F-FA46A9FE3C6C}"/>
              </a:ext>
            </a:extLst>
          </p:cNvPr>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3643942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4951E-26A9-478C-8835-7FD98B2EF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0CA54-9B3A-59F6-7C8C-C4D3166FE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F7623B-7B7E-5AAB-254F-3CB982B4C23C}"/>
              </a:ext>
            </a:extLst>
          </p:cNvPr>
          <p:cNvSpPr>
            <a:spLocks noGrp="1"/>
          </p:cNvSpPr>
          <p:nvPr>
            <p:ph type="body" idx="1"/>
          </p:nvPr>
        </p:nvSpPr>
        <p:spPr/>
        <p:txBody>
          <a:bodyPr/>
          <a:lstStyle/>
          <a:p>
            <a:pPr>
              <a:buNone/>
            </a:pPr>
            <a:r>
              <a:rPr lang="en-US" b="1" dirty="0"/>
              <a:t>4. Manufacturing and Supply Chain</a:t>
            </a:r>
          </a:p>
          <a:p>
            <a:pPr>
              <a:buNone/>
            </a:pPr>
            <a:r>
              <a:rPr lang="en-US" dirty="0"/>
              <a:t>In manufacturing, big data is used to optimize production processes, manage supply chains, and improve product quality. Companies in this sector leverage data analytics to reduce waste, increase efficiency, and innovate new products.</a:t>
            </a:r>
          </a:p>
          <a:p>
            <a:pPr>
              <a:buFont typeface="Arial" panose="020B0604020202020204" pitchFamily="34" charset="0"/>
              <a:buChar char="•"/>
            </a:pPr>
            <a:r>
              <a:rPr lang="en-US" b="1" dirty="0"/>
              <a:t>Predictive Maintenance</a:t>
            </a:r>
            <a:r>
              <a:rPr lang="en-US" dirty="0"/>
              <a:t>: Manufacturers use big data to monitor equipment and machinery performance in real-time. By collecting data from sensors on the shop floor, companies can predict when a machine will fail and schedule maintenance before costly breakdowns occur, reducing downtime and maintenance costs.</a:t>
            </a:r>
          </a:p>
          <a:p>
            <a:pPr>
              <a:buFont typeface="Arial" panose="020B0604020202020204" pitchFamily="34" charset="0"/>
              <a:buChar char="•"/>
            </a:pPr>
            <a:r>
              <a:rPr lang="en-US" b="1" dirty="0"/>
              <a:t>Supply Chain Optimization</a:t>
            </a:r>
            <a:r>
              <a:rPr lang="en-US" dirty="0"/>
              <a:t>: Big data helps manufacturers track and optimize their supply chains by analyzing data related to inventory levels, transportation, supplier performance, and customer demand. This enables companies to make faster decisions, reduce delays, and ensure that products reach customers on time.</a:t>
            </a:r>
          </a:p>
          <a:p>
            <a:pPr>
              <a:buFont typeface="Arial" panose="020B0604020202020204" pitchFamily="34" charset="0"/>
              <a:buChar char="•"/>
            </a:pPr>
            <a:r>
              <a:rPr lang="en-US" b="1" dirty="0"/>
              <a:t>Quality Control</a:t>
            </a:r>
            <a:r>
              <a:rPr lang="en-US" dirty="0"/>
              <a:t>: Data collected from production processes can be analyzed to identify patterns and anomalies that affect product quality. For example, sensors in production lines can detect defects and allow manufacturers to correct issues before they reach customers.</a:t>
            </a:r>
          </a:p>
        </p:txBody>
      </p:sp>
      <p:sp>
        <p:nvSpPr>
          <p:cNvPr id="4" name="Slide Number Placeholder 3">
            <a:extLst>
              <a:ext uri="{FF2B5EF4-FFF2-40B4-BE49-F238E27FC236}">
                <a16:creationId xmlns:a16="http://schemas.microsoft.com/office/drawing/2014/main" id="{2751075A-9582-B9B5-07EC-5D83EFFA419E}"/>
              </a:ext>
            </a:extLst>
          </p:cNvPr>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2862505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DEAE4-F466-C25E-9573-9B0A2E589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C4FAD-D93B-FF8B-3636-9D5E85693F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59E28A-F0B7-56D5-3543-6391D837EC07}"/>
              </a:ext>
            </a:extLst>
          </p:cNvPr>
          <p:cNvSpPr>
            <a:spLocks noGrp="1"/>
          </p:cNvSpPr>
          <p:nvPr>
            <p:ph type="body" idx="1"/>
          </p:nvPr>
        </p:nvSpPr>
        <p:spPr/>
        <p:txBody>
          <a:bodyPr/>
          <a:lstStyle/>
          <a:p>
            <a:pPr>
              <a:buNone/>
            </a:pPr>
            <a:r>
              <a:rPr lang="en-US" b="1" dirty="0"/>
              <a:t>5. Transportation and Logistics</a:t>
            </a:r>
          </a:p>
          <a:p>
            <a:pPr>
              <a:buNone/>
            </a:pPr>
            <a:r>
              <a:rPr lang="en-US" dirty="0"/>
              <a:t>Big data has transformed the transportation and logistics sector, enabling more efficient route planning, real-time monitoring, and customer service improvements.</a:t>
            </a:r>
          </a:p>
          <a:p>
            <a:pPr>
              <a:buFont typeface="Arial" panose="020B0604020202020204" pitchFamily="34" charset="0"/>
              <a:buChar char="•"/>
            </a:pPr>
            <a:r>
              <a:rPr lang="en-US" b="1" dirty="0"/>
              <a:t>Route Optimization</a:t>
            </a:r>
            <a:r>
              <a:rPr lang="en-US" dirty="0"/>
              <a:t>: Companies in logistics, such as shipping and delivery services, use big data to optimize delivery routes in real time. By analyzing traffic patterns, weather conditions, and historical data, businesses can reduce fuel costs, improve delivery times, and enhance customer satisfaction. For instance, delivery services like UPS and FedEx use big data for route optimization to ensure timely deliveries.</a:t>
            </a:r>
          </a:p>
          <a:p>
            <a:pPr>
              <a:buFont typeface="Arial" panose="020B0604020202020204" pitchFamily="34" charset="0"/>
              <a:buChar char="•"/>
            </a:pPr>
            <a:r>
              <a:rPr lang="en-US" b="1" dirty="0"/>
              <a:t>Fleet Management</a:t>
            </a:r>
            <a:r>
              <a:rPr lang="en-US" dirty="0"/>
              <a:t>: Transportation companies use big data to track vehicles, manage fuel consumption, and monitor driver performance. Real-time data from vehicles, including GPS location and speed, helps companies improve fleet efficiency and reduce costs.</a:t>
            </a:r>
          </a:p>
          <a:p>
            <a:pPr>
              <a:buFont typeface="Arial" panose="020B0604020202020204" pitchFamily="34" charset="0"/>
              <a:buChar char="•"/>
            </a:pPr>
            <a:r>
              <a:rPr lang="en-US" b="1" dirty="0"/>
              <a:t>Predictive Maintenance</a:t>
            </a:r>
            <a:r>
              <a:rPr lang="en-US" dirty="0"/>
              <a:t>: Similar to the manufacturing sector, logistics companies use data from sensors to predict when vehicles or machinery need maintenance, preventing breakdowns and improving operational efficiency.</a:t>
            </a:r>
          </a:p>
        </p:txBody>
      </p:sp>
      <p:sp>
        <p:nvSpPr>
          <p:cNvPr id="4" name="Slide Number Placeholder 3">
            <a:extLst>
              <a:ext uri="{FF2B5EF4-FFF2-40B4-BE49-F238E27FC236}">
                <a16:creationId xmlns:a16="http://schemas.microsoft.com/office/drawing/2014/main" id="{43CD1C13-B645-C1A4-5AC7-C05275C77104}"/>
              </a:ext>
            </a:extLst>
          </p:cNvPr>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3223664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Understanding Big Data</a:t>
            </a:r>
            <a:br>
              <a:rPr lang="en-US" dirty="0"/>
            </a:br>
            <a:r>
              <a:rPr lang="en-US" dirty="0"/>
              <a:t>Big data refers to massive and complex datasets that are beyond the capacity of traditional data systems to process due to their sheer size, speed, and variety. These datasets often come from a wide range of sources and require specialized tools and techniques for management and analysis.</a:t>
            </a:r>
          </a:p>
          <a:p>
            <a:pPr>
              <a:buNone/>
            </a:pPr>
            <a:r>
              <a:rPr lang="en-US" b="1" dirty="0"/>
              <a:t>Key Characteristics of Big Data</a:t>
            </a:r>
            <a:br>
              <a:rPr lang="en-US" dirty="0"/>
            </a:br>
            <a:r>
              <a:rPr lang="en-US" dirty="0"/>
              <a:t>The five key characteristics of big data are:</a:t>
            </a:r>
          </a:p>
          <a:p>
            <a:pPr>
              <a:buFont typeface="Arial" panose="020B0604020202020204" pitchFamily="34" charset="0"/>
              <a:buChar char="•"/>
            </a:pPr>
            <a:r>
              <a:rPr lang="en-US" b="1" dirty="0"/>
              <a:t>Volume</a:t>
            </a:r>
            <a:r>
              <a:rPr lang="en-US" dirty="0"/>
              <a:t>: Refers to the huge amount of data being generated.</a:t>
            </a:r>
          </a:p>
          <a:p>
            <a:pPr>
              <a:buFont typeface="Arial" panose="020B0604020202020204" pitchFamily="34" charset="0"/>
              <a:buChar char="•"/>
            </a:pPr>
            <a:r>
              <a:rPr lang="en-US" b="1" dirty="0"/>
              <a:t>Velocity</a:t>
            </a:r>
            <a:r>
              <a:rPr lang="en-US" dirty="0"/>
              <a:t>: The speed at which data is generated and needs to be processed.</a:t>
            </a:r>
          </a:p>
          <a:p>
            <a:pPr>
              <a:buFont typeface="Arial" panose="020B0604020202020204" pitchFamily="34" charset="0"/>
              <a:buChar char="•"/>
            </a:pPr>
            <a:r>
              <a:rPr lang="en-US" b="1" dirty="0"/>
              <a:t>Variety</a:t>
            </a:r>
            <a:r>
              <a:rPr lang="en-US" dirty="0"/>
              <a:t>: The different types of data, including structured, semi-structured, and unstructured.</a:t>
            </a:r>
          </a:p>
          <a:p>
            <a:pPr>
              <a:buFont typeface="Arial" panose="020B0604020202020204" pitchFamily="34" charset="0"/>
              <a:buChar char="•"/>
            </a:pPr>
            <a:r>
              <a:rPr lang="en-US" b="1" dirty="0"/>
              <a:t>Veracity</a:t>
            </a:r>
            <a:r>
              <a:rPr lang="en-US" dirty="0"/>
              <a:t>: The quality and reliability of the data.</a:t>
            </a:r>
          </a:p>
          <a:p>
            <a:pPr>
              <a:buFont typeface="Arial" panose="020B0604020202020204" pitchFamily="34" charset="0"/>
              <a:buChar char="•"/>
            </a:pPr>
            <a:r>
              <a:rPr lang="en-US" b="1" dirty="0"/>
              <a:t>Value</a:t>
            </a:r>
            <a:r>
              <a:rPr lang="en-US" dirty="0"/>
              <a:t>: The ability to extract meaningful insights from the data.</a:t>
            </a:r>
          </a:p>
          <a:p>
            <a:pPr>
              <a:buNone/>
            </a:pPr>
            <a:r>
              <a:rPr lang="en-US" b="1" dirty="0"/>
              <a:t>Types of Big Data</a:t>
            </a:r>
            <a:br>
              <a:rPr lang="en-US" dirty="0"/>
            </a:br>
            <a:r>
              <a:rPr lang="en-US" dirty="0"/>
              <a:t>Big data comes in three main types:</a:t>
            </a:r>
          </a:p>
          <a:p>
            <a:pPr>
              <a:buFont typeface="Arial" panose="020B0604020202020204" pitchFamily="34" charset="0"/>
              <a:buChar char="•"/>
            </a:pPr>
            <a:r>
              <a:rPr lang="en-US" b="1" dirty="0"/>
              <a:t>Structured Data</a:t>
            </a:r>
            <a:r>
              <a:rPr lang="en-US" dirty="0"/>
              <a:t>: Organized in predefined formats, easy to process.</a:t>
            </a:r>
          </a:p>
          <a:p>
            <a:pPr>
              <a:buFont typeface="Arial" panose="020B0604020202020204" pitchFamily="34" charset="0"/>
              <a:buChar char="•"/>
            </a:pPr>
            <a:r>
              <a:rPr lang="en-US" b="1" dirty="0"/>
              <a:t>Semi-structured Data</a:t>
            </a:r>
            <a:r>
              <a:rPr lang="en-US" dirty="0"/>
              <a:t>: Data with some structure but not as rigid, often including tags or markers.</a:t>
            </a:r>
          </a:p>
          <a:p>
            <a:pPr>
              <a:buFont typeface="Arial" panose="020B0604020202020204" pitchFamily="34" charset="0"/>
              <a:buChar char="•"/>
            </a:pPr>
            <a:r>
              <a:rPr lang="en-US" b="1" dirty="0"/>
              <a:t>Unstructured Data</a:t>
            </a:r>
            <a:r>
              <a:rPr lang="en-US" dirty="0"/>
              <a:t>: Raw, unorganized data such as images, videos, and social media posts that need processing to become useful.</a:t>
            </a:r>
          </a:p>
          <a:p>
            <a:pPr>
              <a:buNone/>
            </a:pPr>
            <a:r>
              <a:rPr lang="en-US" b="1" dirty="0"/>
              <a:t>Tools for Big Data</a:t>
            </a:r>
            <a:br>
              <a:rPr lang="en-US" dirty="0"/>
            </a:br>
            <a:r>
              <a:rPr lang="en-US" dirty="0"/>
              <a:t>Handling and analyzing big data requires specialized tools. These include:</a:t>
            </a:r>
          </a:p>
          <a:p>
            <a:pPr>
              <a:buFont typeface="Arial" panose="020B0604020202020204" pitchFamily="34" charset="0"/>
              <a:buChar char="•"/>
            </a:pPr>
            <a:r>
              <a:rPr lang="en-US" b="1" dirty="0"/>
              <a:t>Hadoop</a:t>
            </a:r>
            <a:r>
              <a:rPr lang="en-US" dirty="0"/>
              <a:t>: A framework for distributed storage and processing of large datasets.</a:t>
            </a:r>
          </a:p>
          <a:p>
            <a:pPr>
              <a:buFont typeface="Arial" panose="020B0604020202020204" pitchFamily="34" charset="0"/>
              <a:buChar char="•"/>
            </a:pPr>
            <a:r>
              <a:rPr lang="en-US" b="1" dirty="0"/>
              <a:t>Apache Spark</a:t>
            </a:r>
            <a:r>
              <a:rPr lang="en-US" dirty="0"/>
              <a:t>: A fast data processing engine, especially suited for real-time processing.</a:t>
            </a:r>
          </a:p>
          <a:p>
            <a:pPr>
              <a:buFont typeface="Arial" panose="020B0604020202020204" pitchFamily="34" charset="0"/>
              <a:buChar char="•"/>
            </a:pPr>
            <a:r>
              <a:rPr lang="en-US" b="1" dirty="0"/>
              <a:t>NoSQL Databases</a:t>
            </a:r>
            <a:r>
              <a:rPr lang="en-US" dirty="0"/>
              <a:t>: Flexible databases like MongoDB and Cassandra, designed for handling unstructured and semi-structured data.</a:t>
            </a:r>
          </a:p>
          <a:p>
            <a:pPr>
              <a:buFont typeface="Arial" panose="020B0604020202020204" pitchFamily="34" charset="0"/>
              <a:buChar char="•"/>
            </a:pPr>
            <a:r>
              <a:rPr lang="en-US" b="1"/>
              <a:t>Data Lakes</a:t>
            </a:r>
            <a:r>
              <a:rPr lang="en-US"/>
              <a:t>: Large repositories that store raw data in its native format, offering flexibility for future analysis.</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Big Data in</a:t>
            </a:r>
          </a:p>
          <a:p>
            <a:pPr algn="ctr"/>
            <a:r>
              <a:rPr lang="en-US" sz="4400" b="1" dirty="0">
                <a:ln w="0"/>
                <a:solidFill>
                  <a:schemeClr val="accent1"/>
                </a:solidFill>
                <a:effectLst>
                  <a:outerShdw blurRad="38100" dist="25400" dir="5400000" algn="ctr" rotWithShape="0">
                    <a:srgbClr val="6E747A">
                      <a:alpha val="43000"/>
                    </a:srgbClr>
                  </a:outerShdw>
                </a:effectLst>
              </a:rPr>
              <a:t>Real - Life</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Use of Big Data in Healthcare</a:t>
            </a:r>
          </a:p>
        </p:txBody>
      </p:sp>
      <p:sp>
        <p:nvSpPr>
          <p:cNvPr id="3" name="TextBox 2">
            <a:extLst>
              <a:ext uri="{FF2B5EF4-FFF2-40B4-BE49-F238E27FC236}">
                <a16:creationId xmlns:a16="http://schemas.microsoft.com/office/drawing/2014/main" id="{B60E1C23-960A-31EC-6AAD-2AD005EF6949}"/>
              </a:ext>
            </a:extLst>
          </p:cNvPr>
          <p:cNvSpPr txBox="1"/>
          <p:nvPr/>
        </p:nvSpPr>
        <p:spPr>
          <a:xfrm>
            <a:off x="350241" y="2136338"/>
            <a:ext cx="4943212" cy="2585323"/>
          </a:xfrm>
          <a:prstGeom prst="rect">
            <a:avLst/>
          </a:prstGeom>
          <a:noFill/>
        </p:spPr>
        <p:txBody>
          <a:bodyPr wrap="square">
            <a:spAutoFit/>
          </a:bodyPr>
          <a:lstStyle/>
          <a:p>
            <a:pPr algn="ctr"/>
            <a:r>
              <a:rPr lang="en-US" dirty="0"/>
              <a:t>In the healthcare industry, big data is used </a:t>
            </a:r>
            <a:r>
              <a:rPr lang="en-US" b="1" dirty="0"/>
              <a:t>to improve patient care, optimize operations, and enhance research capabilities.</a:t>
            </a:r>
            <a:r>
              <a:rPr lang="en-US" dirty="0"/>
              <a:t> </a:t>
            </a:r>
          </a:p>
          <a:p>
            <a:pPr algn="ctr"/>
            <a:endParaRPr lang="en-US" dirty="0"/>
          </a:p>
          <a:p>
            <a:pPr algn="ctr"/>
            <a:r>
              <a:rPr lang="en-US" dirty="0"/>
              <a:t>Medical institutions, pharmaceutical companies, and health insurers are adopting big data technologies to </a:t>
            </a:r>
            <a:r>
              <a:rPr lang="en-US" b="1" dirty="0"/>
              <a:t>leverage vast amounts of healthcare data to improve outcomes and reduce costs</a:t>
            </a:r>
            <a:r>
              <a:rPr lang="en-US" dirty="0"/>
              <a:t>.</a:t>
            </a:r>
          </a:p>
        </p:txBody>
      </p:sp>
      <p:pic>
        <p:nvPicPr>
          <p:cNvPr id="4" name="Picture 2">
            <a:extLst>
              <a:ext uri="{FF2B5EF4-FFF2-40B4-BE49-F238E27FC236}">
                <a16:creationId xmlns:a16="http://schemas.microsoft.com/office/drawing/2014/main" id="{C1AAA60F-8B58-1ED7-4387-B76BC08359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683"/>
          <a:stretch/>
        </p:blipFill>
        <p:spPr bwMode="auto">
          <a:xfrm>
            <a:off x="5293453" y="973124"/>
            <a:ext cx="6558532" cy="5663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7C438-3EAB-F09E-AFF9-8343D8E0C7F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48EBDB4-2144-5CB0-E7EC-6AA74179E3B7}"/>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Use of Big Data in E-commerce</a:t>
            </a:r>
          </a:p>
        </p:txBody>
      </p:sp>
      <p:sp>
        <p:nvSpPr>
          <p:cNvPr id="3" name="TextBox 2">
            <a:extLst>
              <a:ext uri="{FF2B5EF4-FFF2-40B4-BE49-F238E27FC236}">
                <a16:creationId xmlns:a16="http://schemas.microsoft.com/office/drawing/2014/main" id="{E4E4BEFF-C48F-8F12-AC18-92694E6D5296}"/>
              </a:ext>
            </a:extLst>
          </p:cNvPr>
          <p:cNvSpPr txBox="1"/>
          <p:nvPr/>
        </p:nvSpPr>
        <p:spPr>
          <a:xfrm>
            <a:off x="340015" y="2690336"/>
            <a:ext cx="4943212" cy="1477328"/>
          </a:xfrm>
          <a:prstGeom prst="rect">
            <a:avLst/>
          </a:prstGeom>
          <a:noFill/>
        </p:spPr>
        <p:txBody>
          <a:bodyPr wrap="square">
            <a:spAutoFit/>
          </a:bodyPr>
          <a:lstStyle/>
          <a:p>
            <a:pPr algn="ctr"/>
            <a:r>
              <a:rPr lang="en-US" dirty="0"/>
              <a:t>Big data has revolutionized the retail and e-commerce sectors by allowing businesses to better </a:t>
            </a:r>
            <a:r>
              <a:rPr lang="en-US" b="1" dirty="0"/>
              <a:t>understand their customers, personalize marketing efforts, and optimize inventory management.</a:t>
            </a:r>
          </a:p>
        </p:txBody>
      </p:sp>
      <p:pic>
        <p:nvPicPr>
          <p:cNvPr id="2050" name="Picture 2">
            <a:extLst>
              <a:ext uri="{FF2B5EF4-FFF2-40B4-BE49-F238E27FC236}">
                <a16:creationId xmlns:a16="http://schemas.microsoft.com/office/drawing/2014/main" id="{998AB6E2-EB8F-94B2-9022-2AD8C609BD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844"/>
          <a:stretch/>
        </p:blipFill>
        <p:spPr bwMode="auto">
          <a:xfrm>
            <a:off x="5015452" y="880844"/>
            <a:ext cx="6959600" cy="597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787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3D4C4-2DA1-8D48-5B67-8258DF36733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DA22E86-5D42-DDCD-E978-A85AB08A0E2B}"/>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Use of Big Data in Banking</a:t>
            </a:r>
          </a:p>
        </p:txBody>
      </p:sp>
      <p:sp>
        <p:nvSpPr>
          <p:cNvPr id="3" name="TextBox 2">
            <a:extLst>
              <a:ext uri="{FF2B5EF4-FFF2-40B4-BE49-F238E27FC236}">
                <a16:creationId xmlns:a16="http://schemas.microsoft.com/office/drawing/2014/main" id="{EA2AAE55-EBFC-7134-AB87-2DEE64790906}"/>
              </a:ext>
            </a:extLst>
          </p:cNvPr>
          <p:cNvSpPr txBox="1"/>
          <p:nvPr/>
        </p:nvSpPr>
        <p:spPr>
          <a:xfrm>
            <a:off x="340015" y="2690336"/>
            <a:ext cx="4943212" cy="1200329"/>
          </a:xfrm>
          <a:prstGeom prst="rect">
            <a:avLst/>
          </a:prstGeom>
          <a:noFill/>
        </p:spPr>
        <p:txBody>
          <a:bodyPr wrap="square">
            <a:spAutoFit/>
          </a:bodyPr>
          <a:lstStyle/>
          <a:p>
            <a:pPr algn="ctr"/>
            <a:r>
              <a:rPr lang="en-US" dirty="0"/>
              <a:t>The finance and banking sector uses big data for a variety of purposes, including </a:t>
            </a:r>
            <a:r>
              <a:rPr lang="en-US" b="1" dirty="0"/>
              <a:t>fraud detection, risk management, customer relationship management, and investment strategies.</a:t>
            </a:r>
          </a:p>
        </p:txBody>
      </p:sp>
      <p:pic>
        <p:nvPicPr>
          <p:cNvPr id="3074" name="Picture 2">
            <a:extLst>
              <a:ext uri="{FF2B5EF4-FFF2-40B4-BE49-F238E27FC236}">
                <a16:creationId xmlns:a16="http://schemas.microsoft.com/office/drawing/2014/main" id="{C92E2967-A58F-3E43-1562-94D0158D06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009"/>
          <a:stretch/>
        </p:blipFill>
        <p:spPr bwMode="auto">
          <a:xfrm>
            <a:off x="5200999" y="755008"/>
            <a:ext cx="6845591" cy="6029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65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FD031-6FA1-0E7D-9AC4-2C6132AD6E8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88A30BF-90B1-F749-11ED-16E00FAD812B}"/>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Use of Big Data in Supply Chain</a:t>
            </a:r>
          </a:p>
        </p:txBody>
      </p:sp>
      <p:sp>
        <p:nvSpPr>
          <p:cNvPr id="3" name="TextBox 2">
            <a:extLst>
              <a:ext uri="{FF2B5EF4-FFF2-40B4-BE49-F238E27FC236}">
                <a16:creationId xmlns:a16="http://schemas.microsoft.com/office/drawing/2014/main" id="{296EC4BE-A8F3-974C-B11A-B71EE3BD5249}"/>
              </a:ext>
            </a:extLst>
          </p:cNvPr>
          <p:cNvSpPr txBox="1"/>
          <p:nvPr/>
        </p:nvSpPr>
        <p:spPr>
          <a:xfrm>
            <a:off x="340015" y="2690336"/>
            <a:ext cx="4943212" cy="1754326"/>
          </a:xfrm>
          <a:prstGeom prst="rect">
            <a:avLst/>
          </a:prstGeom>
          <a:noFill/>
        </p:spPr>
        <p:txBody>
          <a:bodyPr wrap="square">
            <a:spAutoFit/>
          </a:bodyPr>
          <a:lstStyle/>
          <a:p>
            <a:pPr algn="ctr"/>
            <a:r>
              <a:rPr lang="en-US" dirty="0"/>
              <a:t>In manufacturing, big data is used to </a:t>
            </a:r>
            <a:r>
              <a:rPr lang="en-US" b="1" dirty="0"/>
              <a:t>optimize production processes, manage supply chains, and improve product quality. </a:t>
            </a:r>
            <a:r>
              <a:rPr lang="en-US" dirty="0"/>
              <a:t>Companies in this sector leverage data analytics </a:t>
            </a:r>
            <a:r>
              <a:rPr lang="en-US" b="1" dirty="0"/>
              <a:t>to reduce waste, increase efficiency, and innovate new products.</a:t>
            </a:r>
          </a:p>
        </p:txBody>
      </p:sp>
      <p:pic>
        <p:nvPicPr>
          <p:cNvPr id="4098" name="Picture 2">
            <a:extLst>
              <a:ext uri="{FF2B5EF4-FFF2-40B4-BE49-F238E27FC236}">
                <a16:creationId xmlns:a16="http://schemas.microsoft.com/office/drawing/2014/main" id="{4E7190C3-7B07-821A-C3F3-1FA2FFDA45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114"/>
          <a:stretch/>
        </p:blipFill>
        <p:spPr bwMode="auto">
          <a:xfrm>
            <a:off x="5797666" y="906010"/>
            <a:ext cx="5821086" cy="6139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5323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69F6F-044E-734F-54D5-647BBE4F0EA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7CBAD2E-3DE1-C1B7-58AD-BD6BC28D65A5}"/>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Use of Big Data </a:t>
            </a:r>
            <a:r>
              <a:rPr lang="en-US" b="1"/>
              <a:t>in Transportation</a:t>
            </a:r>
            <a:endParaRPr lang="en-US" b="1" dirty="0"/>
          </a:p>
        </p:txBody>
      </p:sp>
      <p:sp>
        <p:nvSpPr>
          <p:cNvPr id="3" name="TextBox 2">
            <a:extLst>
              <a:ext uri="{FF2B5EF4-FFF2-40B4-BE49-F238E27FC236}">
                <a16:creationId xmlns:a16="http://schemas.microsoft.com/office/drawing/2014/main" id="{BE32F16E-886A-7095-6062-74930954DEED}"/>
              </a:ext>
            </a:extLst>
          </p:cNvPr>
          <p:cNvSpPr txBox="1"/>
          <p:nvPr/>
        </p:nvSpPr>
        <p:spPr>
          <a:xfrm>
            <a:off x="340015" y="2690336"/>
            <a:ext cx="4943212" cy="1200329"/>
          </a:xfrm>
          <a:prstGeom prst="rect">
            <a:avLst/>
          </a:prstGeom>
          <a:noFill/>
        </p:spPr>
        <p:txBody>
          <a:bodyPr wrap="square">
            <a:spAutoFit/>
          </a:bodyPr>
          <a:lstStyle/>
          <a:p>
            <a:pPr algn="ctr"/>
            <a:r>
              <a:rPr lang="en-US" dirty="0"/>
              <a:t>Big data has transformed the transportation and logistics sector, enabling </a:t>
            </a:r>
            <a:r>
              <a:rPr lang="en-US" b="1" dirty="0"/>
              <a:t>more efficient route planning, real-time monitoring, and customer service improvements.</a:t>
            </a:r>
          </a:p>
        </p:txBody>
      </p:sp>
      <p:pic>
        <p:nvPicPr>
          <p:cNvPr id="4100" name="Picture 4">
            <a:extLst>
              <a:ext uri="{FF2B5EF4-FFF2-40B4-BE49-F238E27FC236}">
                <a16:creationId xmlns:a16="http://schemas.microsoft.com/office/drawing/2014/main" id="{BEA8BFC4-AE14-F6B5-0361-759BA56EDC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588"/>
          <a:stretch/>
        </p:blipFill>
        <p:spPr bwMode="auto">
          <a:xfrm>
            <a:off x="5169541" y="780175"/>
            <a:ext cx="6682444" cy="6567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39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4 Key Learning Points of this Lesson</a:t>
            </a:r>
          </a:p>
        </p:txBody>
      </p:sp>
      <p:pic>
        <p:nvPicPr>
          <p:cNvPr id="6146" name="Picture 2">
            <a:extLst>
              <a:ext uri="{FF2B5EF4-FFF2-40B4-BE49-F238E27FC236}">
                <a16:creationId xmlns:a16="http://schemas.microsoft.com/office/drawing/2014/main" id="{225FFC71-BAA1-50AF-48E2-62EAC29653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014"/>
          <a:stretch/>
        </p:blipFill>
        <p:spPr bwMode="auto">
          <a:xfrm>
            <a:off x="1391043" y="803080"/>
            <a:ext cx="9409913" cy="6417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1240</TotalTime>
  <Words>1418</Words>
  <Application>Microsoft Office PowerPoint</Application>
  <PresentationFormat>Widescreen</PresentationFormat>
  <Paragraphs>64</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19</cp:revision>
  <dcterms:created xsi:type="dcterms:W3CDTF">2025-03-28T13:19:12Z</dcterms:created>
  <dcterms:modified xsi:type="dcterms:W3CDTF">2025-03-29T17:48:29Z</dcterms:modified>
</cp:coreProperties>
</file>