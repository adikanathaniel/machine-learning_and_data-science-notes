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849" autoAdjust="0"/>
  </p:normalViewPr>
  <p:slideViewPr>
    <p:cSldViewPr snapToGrid="0">
      <p:cViewPr>
        <p:scale>
          <a:sx n="78" d="100"/>
          <a:sy n="78" d="100"/>
        </p:scale>
        <p:origin x="18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Science is a field that blends knowledge from different areas like statistics, computer science, machine learning, and specific industries to understand and use data effectively. It focuses on analyzing both organized and disorganized data, looking for patterns, and creating models that can predict future outcomes. This helps in making smart decisions based on data-driven insights. For example, a retail company can use data science to analyze customer buying behavior, predict which products are likely to sell well, and plan their inventory accordingly.</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Imagine you are a business analyst working at a retail company. Your goal is to understand what products customers are likely to buy in the upcoming season. To achieve this, you can apply data science, which is all about using data to make better decisions. The first step is to gather historical sales data, which gives you a record of how products have sold in the past. You also need to look at customer reviews, which can provide insights into how satisfied customers were with different products and why they liked or disliked them. Social media trends are another key piece of information—by analyzing what people are talking about and which products they are sharing or commenting on, you can get a sense of what is gaining popularity.</a:t>
            </a:r>
          </a:p>
          <a:p>
            <a:pPr>
              <a:buNone/>
            </a:pPr>
            <a:r>
              <a:rPr lang="en-US" dirty="0"/>
              <a:t>With all this data, you can now apply data science techniques such as predictive analytics and machine learning. Predictive analytics helps you to forecast future outcomes by analyzing patterns in the data. For instance, by recognizing trends in the past sales data, you can predict which products will likely see an increase in demand. Machine learning algorithms can further refine these predictions by learning from new data over time, improving the accuracy of future forecasts. These techniques help you identify what customers want before they even start buying, based on patterns in their previous behaviors.</a:t>
            </a:r>
          </a:p>
          <a:p>
            <a:r>
              <a:rPr lang="en-US" dirty="0"/>
              <a:t>The outcome of applying data science in this scenario is significant for the company. First, the company can use these insights to adjust its marketing strategy, ensuring they target customers with the right products at the right time. It can also optimize its inventory by stocking up on popular products, while avoiding excess stock of products that are predicted to sell less.</a:t>
            </a:r>
          </a:p>
          <a:p>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3668923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science plays a crucial role in helping organizations make better decisions and stay ahead in the market. First, it supports </a:t>
            </a:r>
            <a:r>
              <a:rPr lang="en-US" b="1" dirty="0"/>
              <a:t>informed decision-making</a:t>
            </a:r>
            <a:r>
              <a:rPr lang="en-US" dirty="0"/>
              <a:t> by allowing businesses to base their choices on data rather than relying on intuition or guesses. This ensures that decisions are grounded in facts, leading to more accurate and reliable outcomes. Additionally, data science provides a </a:t>
            </a:r>
            <a:r>
              <a:rPr lang="en-US" b="1" dirty="0"/>
              <a:t>competitive advantage</a:t>
            </a:r>
            <a:r>
              <a:rPr lang="en-US" dirty="0"/>
              <a:t> for companies. By analyzing data, organizations can gain valuable insights about customer preferences, market trends, and industry developments, helping them stay one step ahead of their competitors. It also improves </a:t>
            </a:r>
            <a:r>
              <a:rPr lang="en-US" b="1" dirty="0"/>
              <a:t>cost efficiency</a:t>
            </a:r>
            <a:r>
              <a:rPr lang="en-US" dirty="0"/>
              <a:t>. Through predictive models and data analysis, businesses can forecast trends, optimize inventory, and streamline operations, which helps them reduce waste, save money, and increase profits. Finally, data science drives </a:t>
            </a:r>
            <a:r>
              <a:rPr lang="en-US" b="1" dirty="0"/>
              <a:t>innovation</a:t>
            </a:r>
            <a:r>
              <a:rPr lang="en-US" dirty="0"/>
              <a:t> by uncovering new opportunities. By understanding market behavior and customer needs, businesses can develop new products, services, or business models that cater to emerging demands, leading to growth and long-term success.</a:t>
            </a:r>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science has numerous applications across various industries, helping improve efficiency, accuracy, and innovation. In </a:t>
            </a:r>
            <a:r>
              <a:rPr lang="en-US" b="1" dirty="0"/>
              <a:t>healthcare</a:t>
            </a:r>
            <a:r>
              <a:rPr lang="en-US" dirty="0"/>
              <a:t>, predictive analytics can be used to forecast patient outcomes, such as predicting the likelihood of recovery or complications. Image recognition is also employed to detect medical conditions like tumors in X-rays, helping doctors make quicker and more accurate diagnoses. In the </a:t>
            </a:r>
            <a:r>
              <a:rPr lang="en-US" b="1" dirty="0"/>
              <a:t>finance</a:t>
            </a:r>
            <a:r>
              <a:rPr lang="en-US" dirty="0"/>
              <a:t> industry, machine learning algorithms help detect fraud by identifying unusual patterns in transactions, preventing financial losses. Additionally, risk assessment models are used to evaluate the likelihood of loan defaults, aiding in better decision-making for lenders. In </a:t>
            </a:r>
            <a:r>
              <a:rPr lang="en-US" b="1" dirty="0"/>
              <a:t>retail</a:t>
            </a:r>
            <a:r>
              <a:rPr lang="en-US" dirty="0"/>
              <a:t>, data science enables companies like Amazon to offer personalized recommendations based on customer behavior and preferences. It is also used for inventory management by forecasting demand, helping businesses maintain optimal stock levels. </a:t>
            </a:r>
            <a:r>
              <a:rPr lang="en-US" b="1" dirty="0"/>
              <a:t>Manufacturing</a:t>
            </a:r>
            <a:r>
              <a:rPr lang="en-US" dirty="0"/>
              <a:t> industries use data science for predictive maintenance, which helps identify potential machine failures before they occur, minimizing downtime. It also aids in supply chain optimization by predicting demand and planning efficient routes for delivery. In </a:t>
            </a:r>
            <a:r>
              <a:rPr lang="en-US" b="1" dirty="0"/>
              <a:t>transportation</a:t>
            </a:r>
            <a:r>
              <a:rPr lang="en-US" dirty="0"/>
              <a:t>, data science is used to optimize traffic flow by analyzing data from smart sensors and GPS, reducing congestion. Ride-sharing services, like Uber, use data science to predict rider demand and optimize routes for drivers, improving service efficiency and customer satisfaction.</a:t>
            </a:r>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Data science involves a variety of tasks that help organizations make sense of data and extract valuable insights.</a:t>
            </a:r>
          </a:p>
          <a:p>
            <a:pPr>
              <a:buNone/>
            </a:pPr>
            <a:r>
              <a:rPr lang="en-US" b="1" dirty="0"/>
              <a:t>Data Cleaning and Preprocessing</a:t>
            </a:r>
            <a:r>
              <a:rPr lang="en-US" dirty="0"/>
              <a:t> is one of the foundational tasks. It involves removing duplicates, handling missing values, and formatting data so that it's ready for analysis. For example, when preparing a large dataset of customer reviews for sentiment analysis, data cleaning ensures that the dataset is accurate, consistent, and free of errors, making it reliable for further analysis.</a:t>
            </a:r>
          </a:p>
          <a:p>
            <a:pPr>
              <a:buNone/>
            </a:pPr>
            <a:r>
              <a:rPr lang="en-US" b="1" dirty="0"/>
              <a:t>Data Analysis and Visualization</a:t>
            </a:r>
            <a:r>
              <a:rPr lang="en-US" dirty="0"/>
              <a:t> involves identifying trends in data and presenting the results in an easily understandable way through graphs and charts. For instance, by analyzing sales data over the past year, you can identify seasonal trends that can guide marketing strategies and inventory management decisions. Visualization tools help in presenting these findings to stakeholders.</a:t>
            </a:r>
          </a:p>
          <a:p>
            <a:pPr>
              <a:buNone/>
            </a:pPr>
            <a:r>
              <a:rPr lang="en-US" b="1" dirty="0"/>
              <a:t>Model Building</a:t>
            </a:r>
            <a:r>
              <a:rPr lang="en-US" dirty="0"/>
              <a:t> is where predictive models are created using machine learning algorithms like regression or classification. A common use case is predicting customer churn using historical customer data. This helps businesses understand which customers are likely to leave and take action to retain them, improving customer retention rates.</a:t>
            </a:r>
          </a:p>
          <a:p>
            <a:pPr>
              <a:buNone/>
            </a:pPr>
            <a:r>
              <a:rPr lang="en-US" b="1" dirty="0"/>
              <a:t>Optimization</a:t>
            </a:r>
            <a:r>
              <a:rPr lang="en-US" dirty="0"/>
              <a:t> involves using mathematical models to find the best possible solution to a problem. A logistics company might use optimization techniques to determine the most efficient delivery routes, minimizing costs and delivery times, and improving customer satisfaction.</a:t>
            </a:r>
          </a:p>
          <a:p>
            <a:r>
              <a:rPr lang="en-US" b="1" dirty="0"/>
              <a:t>Natural Language Processing (NLP)</a:t>
            </a:r>
            <a:r>
              <a:rPr lang="en-US" dirty="0"/>
              <a:t> is used to analyze text data and extract meaningful insights. For example, analyzing customer feedback can help identify common complaints, which can be used to improve products or services. By processing and understanding text data, businesses can address customer concerns more effectively.</a:t>
            </a:r>
          </a:p>
          <a:p>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3106220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Large companies across various industries leverage data science to enhance their operations, improve customer experiences, and stay ahead of the competition.</a:t>
            </a:r>
          </a:p>
          <a:p>
            <a:pPr>
              <a:buNone/>
            </a:pPr>
            <a:r>
              <a:rPr lang="en-US" b="1" dirty="0"/>
              <a:t>Amazon</a:t>
            </a:r>
            <a:r>
              <a:rPr lang="en-US" dirty="0"/>
              <a:t> uses data science for </a:t>
            </a:r>
            <a:r>
              <a:rPr lang="en-US" b="1" dirty="0"/>
              <a:t>personalized recommendations</a:t>
            </a:r>
            <a:r>
              <a:rPr lang="en-US" dirty="0"/>
              <a:t> by analyzing customer behavior and purchase history. It also applies dynamic pricing, adjusting prices in real-time based on market conditions, demand, and customer preferences. Additionally, Amazon uses data science to optimize its </a:t>
            </a:r>
            <a:r>
              <a:rPr lang="en-US" b="1" dirty="0"/>
              <a:t>supply chain</a:t>
            </a:r>
            <a:r>
              <a:rPr lang="en-US" dirty="0"/>
              <a:t>, ensuring that products are delivered efficiently and on time based on customer demand.</a:t>
            </a:r>
          </a:p>
          <a:p>
            <a:pPr>
              <a:buNone/>
            </a:pPr>
            <a:r>
              <a:rPr lang="en-US" b="1" dirty="0"/>
              <a:t>Netflix</a:t>
            </a:r>
            <a:r>
              <a:rPr lang="en-US" dirty="0"/>
              <a:t> relies on data science for its </a:t>
            </a:r>
            <a:r>
              <a:rPr lang="en-US" b="1" dirty="0"/>
              <a:t>recommendation system</a:t>
            </a:r>
            <a:r>
              <a:rPr lang="en-US" dirty="0"/>
              <a:t>, which suggests movies and TV shows tailored to a user's viewing history and preferences. By analyzing patterns in how users interact with content, Netflix can personalize its suggestions and keep viewers engaged.</a:t>
            </a:r>
          </a:p>
          <a:p>
            <a:pPr>
              <a:buNone/>
            </a:pPr>
            <a:r>
              <a:rPr lang="en-US" b="1" dirty="0"/>
              <a:t>Google</a:t>
            </a:r>
            <a:r>
              <a:rPr lang="en-US" dirty="0"/>
              <a:t> uses data science in various ways, including </a:t>
            </a:r>
            <a:r>
              <a:rPr lang="en-US" b="1" dirty="0"/>
              <a:t>search ranking algorithms</a:t>
            </a:r>
            <a:r>
              <a:rPr lang="en-US" dirty="0"/>
              <a:t> that determine the most relevant results for user queries. It also optimizes its </a:t>
            </a:r>
            <a:r>
              <a:rPr lang="en-US" b="1" dirty="0"/>
              <a:t>advertising</a:t>
            </a:r>
            <a:r>
              <a:rPr lang="en-US" dirty="0"/>
              <a:t> through machine learning, ensuring ads reach the right audience at the right time. Google Maps uses data science to predict </a:t>
            </a:r>
            <a:r>
              <a:rPr lang="en-US" b="1" dirty="0"/>
              <a:t>traffic patterns</a:t>
            </a:r>
            <a:r>
              <a:rPr lang="en-US" dirty="0"/>
              <a:t>, helping users avoid delays and find the quickest routes.</a:t>
            </a:r>
          </a:p>
          <a:p>
            <a:pPr>
              <a:buNone/>
            </a:pPr>
            <a:r>
              <a:rPr lang="en-US" b="1" dirty="0"/>
              <a:t>Walmart</a:t>
            </a:r>
            <a:r>
              <a:rPr lang="en-US" dirty="0"/>
              <a:t> applies data science for </a:t>
            </a:r>
            <a:r>
              <a:rPr lang="en-US" b="1" dirty="0"/>
              <a:t>supply chain optimization</a:t>
            </a:r>
            <a:r>
              <a:rPr lang="en-US" dirty="0"/>
              <a:t>, ensuring that products are stocked in the right locations and quantities based on demand forecasting. It also uses historical sales data for </a:t>
            </a:r>
            <a:r>
              <a:rPr lang="en-US" b="1" dirty="0"/>
              <a:t>inventory management</a:t>
            </a:r>
            <a:r>
              <a:rPr lang="en-US" dirty="0"/>
              <a:t>, helping the company reduce waste and avoid stockouts.</a:t>
            </a:r>
          </a:p>
          <a:p>
            <a:r>
              <a:rPr lang="en-US" b="1" dirty="0"/>
              <a:t>Tesla</a:t>
            </a:r>
            <a:r>
              <a:rPr lang="en-US" dirty="0"/>
              <a:t> employs data science in several areas, such as developing </a:t>
            </a:r>
            <a:r>
              <a:rPr lang="en-US" b="1" dirty="0"/>
              <a:t>self-driving technology</a:t>
            </a:r>
            <a:r>
              <a:rPr lang="en-US" dirty="0"/>
              <a:t> by analyzing data from its sensors to improve the vehicle's performance and safety. It also uses </a:t>
            </a:r>
            <a:r>
              <a:rPr lang="en-US" b="1" dirty="0"/>
              <a:t>predictive maintenance</a:t>
            </a:r>
            <a:r>
              <a:rPr lang="en-US" dirty="0"/>
              <a:t>, identifying potential issues before they happen, and optimizes </a:t>
            </a:r>
            <a:r>
              <a:rPr lang="en-US" b="1" dirty="0"/>
              <a:t>energy consumption</a:t>
            </a:r>
            <a:r>
              <a:rPr lang="en-US" dirty="0"/>
              <a:t> to ensure efficient use of the vehicle's power.</a:t>
            </a:r>
          </a:p>
          <a:p>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7</a:t>
            </a:fld>
            <a:endParaRPr lang="en-US"/>
          </a:p>
        </p:txBody>
      </p:sp>
    </p:spTree>
    <p:extLst>
      <p:ext uri="{BB962C8B-B14F-4D97-AF65-F5344CB8AC3E}">
        <p14:creationId xmlns:p14="http://schemas.microsoft.com/office/powerpoint/2010/main" val="2141075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In this lesson the key things we have learnt that Data science is an interdisciplinary field that integrates statistics, computer science, machine learning, and domain expertise to extract valuable insights from data. This allows for better decision-making, predictions, and optimizations in a wide variety of fields, improving overall performance.</a:t>
            </a:r>
          </a:p>
          <a:p>
            <a:pPr>
              <a:buNone/>
            </a:pPr>
            <a:r>
              <a:rPr lang="en-US" dirty="0"/>
              <a:t>Data science is revolutionizing industries by enabling businesses to make informed decisions based on data. It drives innovation by uncovering new opportunities, and improves operational efficiency in sectors like healthcare, finance, retail, and transportation, ultimately transforming how companies operate.</a:t>
            </a:r>
          </a:p>
          <a:p>
            <a:pPr>
              <a:buNone/>
            </a:pPr>
            <a:r>
              <a:rPr lang="en-US" dirty="0"/>
              <a:t>Data science is applied in different industries to solve specific problems. For example, in healthcare, predictive analytics is used to forecast patient outcomes; in finance, machine learning detects fraud; in retail, personalized recommendations enhance the customer experience; and in manufacturing, predictive maintenance ensures machine reliability.</a:t>
            </a:r>
          </a:p>
          <a:p>
            <a:pPr>
              <a:buNone/>
            </a:pPr>
            <a:r>
              <a:rPr lang="en-US" dirty="0"/>
              <a:t>Data science involves various tasks such as data cleaning (removing errors), data analysis (identifying trends), model building (creating predictive models), and optimization (finding the best solutions). Each of these tasks plays an important role in enabling businesses to make data-driven decisions and improve processes.</a:t>
            </a:r>
          </a:p>
          <a:p>
            <a:r>
              <a:rPr lang="en-US" dirty="0"/>
              <a:t>Data science enhances business decision-making by providing actionable insights into customer behavior, market trends, and operational performance. By analyzing data, businesses can refine their marketing strategies, optimize inventory management, and develop products that align with customer needs, leading to improved overall outcomes.</a:t>
            </a:r>
          </a:p>
          <a:p>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8</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What is Data Science?</a:t>
            </a:r>
          </a:p>
        </p:txBody>
      </p:sp>
      <p:sp>
        <p:nvSpPr>
          <p:cNvPr id="7" name="TextBox 6">
            <a:extLst>
              <a:ext uri="{FF2B5EF4-FFF2-40B4-BE49-F238E27FC236}">
                <a16:creationId xmlns:a16="http://schemas.microsoft.com/office/drawing/2014/main" id="{4762BF6F-6CEA-5E18-D886-19C6FCE8C811}"/>
              </a:ext>
            </a:extLst>
          </p:cNvPr>
          <p:cNvSpPr txBox="1"/>
          <p:nvPr/>
        </p:nvSpPr>
        <p:spPr>
          <a:xfrm>
            <a:off x="4169328" y="3429000"/>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593871" y="1012431"/>
            <a:ext cx="11004258" cy="1200329"/>
          </a:xfrm>
          <a:prstGeom prst="rect">
            <a:avLst/>
          </a:prstGeom>
          <a:noFill/>
        </p:spPr>
        <p:txBody>
          <a:bodyPr wrap="square">
            <a:spAutoFit/>
          </a:bodyPr>
          <a:lstStyle/>
          <a:p>
            <a:pPr algn="just"/>
            <a:r>
              <a:rPr lang="en-US" dirty="0"/>
              <a:t>Data Science is an interdisciplinary field that </a:t>
            </a:r>
            <a:r>
              <a:rPr lang="en-US" b="1" dirty="0"/>
              <a:t>combines techniques from statistics, computer science, machine learning</a:t>
            </a:r>
            <a:r>
              <a:rPr lang="en-US" dirty="0"/>
              <a:t>, </a:t>
            </a:r>
            <a:r>
              <a:rPr lang="en-US" b="1" dirty="0"/>
              <a:t>and domain expertise </a:t>
            </a:r>
            <a:r>
              <a:rPr lang="en-US" dirty="0"/>
              <a:t>to extract meaningful insights from structured and unstructured data. It involves </a:t>
            </a:r>
            <a:r>
              <a:rPr lang="en-US" b="1" dirty="0"/>
              <a:t>analyzing large volumes of data, identifying patterns, and using predictive models </a:t>
            </a:r>
            <a:r>
              <a:rPr lang="en-US" dirty="0"/>
              <a:t>to make informed decisions.</a:t>
            </a:r>
          </a:p>
        </p:txBody>
      </p:sp>
      <p:pic>
        <p:nvPicPr>
          <p:cNvPr id="1026" name="Picture 2">
            <a:extLst>
              <a:ext uri="{FF2B5EF4-FFF2-40B4-BE49-F238E27FC236}">
                <a16:creationId xmlns:a16="http://schemas.microsoft.com/office/drawing/2014/main" id="{D98BD2C7-A2D8-F661-B28C-F71E028D67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7742" y="2147853"/>
            <a:ext cx="8752601" cy="468815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732D0D1-22EC-B84D-3981-51AA3524ECC1}"/>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None/>
            </a:pPr>
            <a:r>
              <a:rPr lang="en-US" b="1" dirty="0">
                <a:solidFill>
                  <a:schemeClr val="bg1"/>
                </a:solidFill>
              </a:rPr>
              <a:t>Definition of Data Science</a:t>
            </a:r>
          </a:p>
        </p:txBody>
      </p:sp>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9146710-89A8-7215-0DA4-7CC867398B09}"/>
              </a:ext>
            </a:extLst>
          </p:cNvPr>
          <p:cNvSpPr txBox="1"/>
          <p:nvPr/>
        </p:nvSpPr>
        <p:spPr>
          <a:xfrm>
            <a:off x="4086970" y="424605"/>
            <a:ext cx="7632449" cy="1200329"/>
          </a:xfrm>
          <a:prstGeom prst="rect">
            <a:avLst/>
          </a:prstGeom>
          <a:noFill/>
        </p:spPr>
        <p:txBody>
          <a:bodyPr wrap="square">
            <a:spAutoFit/>
          </a:bodyPr>
          <a:lstStyle/>
          <a:p>
            <a:pPr algn="just"/>
            <a:r>
              <a:rPr lang="en-US" b="1" u="sng" dirty="0">
                <a:solidFill>
                  <a:schemeClr val="tx2">
                    <a:lumMod val="75000"/>
                    <a:lumOff val="25000"/>
                  </a:schemeClr>
                </a:solidFill>
              </a:rPr>
              <a:t>Scenario</a:t>
            </a:r>
          </a:p>
          <a:p>
            <a:pPr algn="just"/>
            <a:r>
              <a:rPr lang="en-US" dirty="0"/>
              <a:t>Imagine you are a business analyst at a retail company. You want to understand customer preferences and predict which products will be in demand during the upcoming season.</a:t>
            </a:r>
          </a:p>
        </p:txBody>
      </p:sp>
      <p:pic>
        <p:nvPicPr>
          <p:cNvPr id="2050" name="Picture 2">
            <a:extLst>
              <a:ext uri="{FF2B5EF4-FFF2-40B4-BE49-F238E27FC236}">
                <a16:creationId xmlns:a16="http://schemas.microsoft.com/office/drawing/2014/main" id="{FFCD14E6-EB31-7E9F-134B-CA67FB661C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003"/>
          <a:stretch/>
        </p:blipFill>
        <p:spPr bwMode="auto">
          <a:xfrm>
            <a:off x="3707934" y="1979875"/>
            <a:ext cx="8224414" cy="474692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6A83E90-CAF2-4D18-C9C5-CA46A79B2DC5}"/>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dirty="0">
                <a:solidFill>
                  <a:schemeClr val="bg1"/>
                </a:solidFill>
              </a:rPr>
              <a:t>Example to understand </a:t>
            </a:r>
          </a:p>
          <a:p>
            <a:pPr algn="ctr">
              <a:buNone/>
            </a:pPr>
            <a:r>
              <a:rPr lang="en-US" b="1" dirty="0">
                <a:solidFill>
                  <a:schemeClr val="bg1"/>
                </a:solidFill>
              </a:rPr>
              <a:t>Data Science</a:t>
            </a:r>
          </a:p>
        </p:txBody>
      </p:sp>
    </p:spTree>
    <p:extLst>
      <p:ext uri="{BB962C8B-B14F-4D97-AF65-F5344CB8AC3E}">
        <p14:creationId xmlns:p14="http://schemas.microsoft.com/office/powerpoint/2010/main" val="4251556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137CFC9A-7466-0E52-2A0E-CCA7EA67E3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737"/>
          <a:stretch/>
        </p:blipFill>
        <p:spPr bwMode="auto">
          <a:xfrm>
            <a:off x="498882" y="746728"/>
            <a:ext cx="11321206" cy="642786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3128EB13-F858-E955-90D3-0C389FB47FF5}"/>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None/>
            </a:pPr>
            <a:r>
              <a:rPr lang="en-US" b="1" dirty="0">
                <a:solidFill>
                  <a:schemeClr val="bg1"/>
                </a:solidFill>
              </a:rPr>
              <a:t>Importance of Data Science</a:t>
            </a:r>
          </a:p>
        </p:txBody>
      </p:sp>
    </p:spTree>
    <p:extLst>
      <p:ext uri="{BB962C8B-B14F-4D97-AF65-F5344CB8AC3E}">
        <p14:creationId xmlns:p14="http://schemas.microsoft.com/office/powerpoint/2010/main" val="1354303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extLst>
              <a:ext uri="{FF2B5EF4-FFF2-40B4-BE49-F238E27FC236}">
                <a16:creationId xmlns:a16="http://schemas.microsoft.com/office/drawing/2014/main" id="{16010585-FD7D-91F1-84CB-63763E0011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772" b="14862"/>
          <a:stretch/>
        </p:blipFill>
        <p:spPr bwMode="auto">
          <a:xfrm>
            <a:off x="789097" y="804480"/>
            <a:ext cx="10477318" cy="595769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BC48466-9D7B-45D0-C681-84B8B921969E}"/>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None/>
            </a:pPr>
            <a:r>
              <a:rPr lang="en-US" b="1" dirty="0">
                <a:solidFill>
                  <a:schemeClr val="bg1"/>
                </a:solidFill>
              </a:rPr>
              <a:t>Application of Data Science</a:t>
            </a:r>
          </a:p>
        </p:txBody>
      </p:sp>
    </p:spTree>
    <p:extLst>
      <p:ext uri="{BB962C8B-B14F-4D97-AF65-F5344CB8AC3E}">
        <p14:creationId xmlns:p14="http://schemas.microsoft.com/office/powerpoint/2010/main" val="4214576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a:extLst>
              <a:ext uri="{FF2B5EF4-FFF2-40B4-BE49-F238E27FC236}">
                <a16:creationId xmlns:a16="http://schemas.microsoft.com/office/drawing/2014/main" id="{91524E8F-12D1-EC1D-E008-0F19EDFFDF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836"/>
          <a:stretch/>
        </p:blipFill>
        <p:spPr bwMode="auto">
          <a:xfrm>
            <a:off x="989113" y="1132514"/>
            <a:ext cx="10344413" cy="543237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95B99FE-6039-F290-3BEA-2913F02DFC83}"/>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rPr>
              <a:t>Examples of Task-Based Use Cases</a:t>
            </a:r>
          </a:p>
        </p:txBody>
      </p:sp>
    </p:spTree>
    <p:extLst>
      <p:ext uri="{BB962C8B-B14F-4D97-AF65-F5344CB8AC3E}">
        <p14:creationId xmlns:p14="http://schemas.microsoft.com/office/powerpoint/2010/main" val="682694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4CB52D7-4C8F-225F-32E3-F3776EE82E72}"/>
              </a:ext>
            </a:extLst>
          </p:cNvPr>
          <p:cNvGrpSpPr/>
          <p:nvPr/>
        </p:nvGrpSpPr>
        <p:grpSpPr>
          <a:xfrm>
            <a:off x="1008601" y="1048625"/>
            <a:ext cx="10022921" cy="5989738"/>
            <a:chOff x="1813945" y="1174459"/>
            <a:chExt cx="8564110" cy="5569778"/>
          </a:xfrm>
        </p:grpSpPr>
        <p:pic>
          <p:nvPicPr>
            <p:cNvPr id="6154" name="Picture 10">
              <a:extLst>
                <a:ext uri="{FF2B5EF4-FFF2-40B4-BE49-F238E27FC236}">
                  <a16:creationId xmlns:a16="http://schemas.microsoft.com/office/drawing/2014/main" id="{ADA733FA-A183-21E8-EA74-153E2B01B3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753"/>
            <a:stretch/>
          </p:blipFill>
          <p:spPr bwMode="auto">
            <a:xfrm>
              <a:off x="1813945" y="1174459"/>
              <a:ext cx="8564110" cy="5569778"/>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Logo, google, g icon - Free download on Iconfinder">
              <a:extLst>
                <a:ext uri="{FF2B5EF4-FFF2-40B4-BE49-F238E27FC236}">
                  <a16:creationId xmlns:a16="http://schemas.microsoft.com/office/drawing/2014/main" id="{F8A86D73-451C-F4B2-CABD-EC3A3FC227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5701" y="3743936"/>
              <a:ext cx="953899" cy="953899"/>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descr="Netflix transparent png, Netflix free png 19956195 PNG">
              <a:extLst>
                <a:ext uri="{FF2B5EF4-FFF2-40B4-BE49-F238E27FC236}">
                  <a16:creationId xmlns:a16="http://schemas.microsoft.com/office/drawing/2014/main" id="{6F902C9C-2057-DF35-95E0-604B116DA5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2714" y="3216922"/>
              <a:ext cx="650403" cy="650403"/>
            </a:xfrm>
            <a:prstGeom prst="rect">
              <a:avLst/>
            </a:prstGeom>
            <a:noFill/>
            <a:extLst>
              <a:ext uri="{909E8E84-426E-40DD-AFC4-6F175D3DCCD1}">
                <a14:hiddenFill xmlns:a14="http://schemas.microsoft.com/office/drawing/2010/main">
                  <a:solidFill>
                    <a:srgbClr val="FFFFFF"/>
                  </a:solidFill>
                </a14:hiddenFill>
              </a:ext>
            </a:extLst>
          </p:spPr>
        </p:pic>
        <p:pic>
          <p:nvPicPr>
            <p:cNvPr id="6158" name="Picture 14" descr="Amazon icon logo PNG, vector files free download - Brandlogos.net">
              <a:extLst>
                <a:ext uri="{FF2B5EF4-FFF2-40B4-BE49-F238E27FC236}">
                  <a16:creationId xmlns:a16="http://schemas.microsoft.com/office/drawing/2014/main" id="{B80BF326-CC58-1743-B404-6C2814AD7E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6411" y="2096724"/>
              <a:ext cx="785068" cy="785068"/>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a:extLst>
                <a:ext uri="{FF2B5EF4-FFF2-40B4-BE49-F238E27FC236}">
                  <a16:creationId xmlns:a16="http://schemas.microsoft.com/office/drawing/2014/main" id="{CA778E38-6163-5F67-4C7F-51BAFE5D507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5082120" y="2119344"/>
              <a:ext cx="679708" cy="679708"/>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New Walmart Logo (FREE DOWNLOAD)">
              <a:extLst>
                <a:ext uri="{FF2B5EF4-FFF2-40B4-BE49-F238E27FC236}">
                  <a16:creationId xmlns:a16="http://schemas.microsoft.com/office/drawing/2014/main" id="{62D8A7A0-0265-3EB7-8C4D-E1149898A87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4365" y="3216922"/>
              <a:ext cx="595509" cy="595509"/>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Rectangle 1">
            <a:extLst>
              <a:ext uri="{FF2B5EF4-FFF2-40B4-BE49-F238E27FC236}">
                <a16:creationId xmlns:a16="http://schemas.microsoft.com/office/drawing/2014/main" id="{C88C05A4-5493-42CF-E818-CCDCA954593F}"/>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chemeClr val="bg1"/>
                </a:solidFill>
              </a:rPr>
              <a:t>Examples of Large Companies Using Data Science</a:t>
            </a:r>
          </a:p>
        </p:txBody>
      </p:sp>
    </p:spTree>
    <p:extLst>
      <p:ext uri="{BB962C8B-B14F-4D97-AF65-F5344CB8AC3E}">
        <p14:creationId xmlns:p14="http://schemas.microsoft.com/office/powerpoint/2010/main" val="2048300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CF55E8F5-E908-C4F5-A82E-841D2A8C80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775"/>
          <a:stretch/>
        </p:blipFill>
        <p:spPr bwMode="auto">
          <a:xfrm>
            <a:off x="273472" y="939566"/>
            <a:ext cx="11645055" cy="591843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A7F4860-DEF7-37E7-3123-26BDD5F2E231}"/>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None/>
            </a:pPr>
            <a:r>
              <a:rPr lang="en-US" b="1" dirty="0">
                <a:solidFill>
                  <a:schemeClr val="bg1"/>
                </a:solidFill>
              </a:rPr>
              <a:t>5 key learning points of this lesson</a:t>
            </a:r>
          </a:p>
        </p:txBody>
      </p:sp>
    </p:spTree>
    <p:extLst>
      <p:ext uri="{BB962C8B-B14F-4D97-AF65-F5344CB8AC3E}">
        <p14:creationId xmlns:p14="http://schemas.microsoft.com/office/powerpoint/2010/main" val="565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1808</Words>
  <Application>Microsoft Office PowerPoint</Application>
  <PresentationFormat>Widescreen</PresentationFormat>
  <Paragraphs>45</Paragraphs>
  <Slides>9</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4</cp:revision>
  <dcterms:created xsi:type="dcterms:W3CDTF">2025-03-28T13:19:12Z</dcterms:created>
  <dcterms:modified xsi:type="dcterms:W3CDTF">2025-03-29T10:26:49Z</dcterms:modified>
</cp:coreProperties>
</file>